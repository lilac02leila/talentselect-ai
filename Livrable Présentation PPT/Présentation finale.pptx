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1"/>
  </p:notesMasterIdLst>
  <p:sldIdLst>
    <p:sldId id="256" r:id="rId2"/>
    <p:sldId id="259" r:id="rId3"/>
    <p:sldId id="267" r:id="rId4"/>
    <p:sldId id="261" r:id="rId5"/>
    <p:sldId id="291" r:id="rId6"/>
    <p:sldId id="292" r:id="rId7"/>
    <p:sldId id="293" r:id="rId8"/>
    <p:sldId id="264" r:id="rId9"/>
    <p:sldId id="294" r:id="rId10"/>
    <p:sldId id="270" r:id="rId11"/>
    <p:sldId id="278" r:id="rId12"/>
    <p:sldId id="257" r:id="rId13"/>
    <p:sldId id="296" r:id="rId14"/>
    <p:sldId id="302" r:id="rId15"/>
    <p:sldId id="297" r:id="rId16"/>
    <p:sldId id="298" r:id="rId17"/>
    <p:sldId id="301" r:id="rId18"/>
    <p:sldId id="268" r:id="rId19"/>
    <p:sldId id="300" r:id="rId20"/>
  </p:sldIdLst>
  <p:sldSz cx="9144000" cy="5143500" type="screen16x9"/>
  <p:notesSz cx="6858000" cy="9144000"/>
  <p:embeddedFontLst>
    <p:embeddedFont>
      <p:font typeface="Arial Black" panose="020B0A04020102020204" pitchFamily="34" charset="0"/>
      <p:bold r:id="rId22"/>
    </p:embeddedFont>
    <p:embeddedFont>
      <p:font typeface="Fira Sans Extra Condensed" panose="020B0503050000020004" pitchFamily="34" charset="0"/>
      <p:regular r:id="rId23"/>
      <p:bold r:id="rId24"/>
      <p:italic r:id="rId25"/>
      <p:boldItalic r:id="rId26"/>
    </p:embeddedFont>
    <p:embeddedFont>
      <p:font typeface="Fira Sans Extra Condensed SemiBold" panose="020B0604020202020204" charset="0"/>
      <p:regular r:id="rId27"/>
      <p:bold r:id="rId28"/>
      <p:italic r:id="rId29"/>
      <p:boldItalic r:id="rId30"/>
    </p:embeddedFont>
    <p:embeddedFont>
      <p:font typeface="Palatino Linotype" panose="02040502050505030304" pitchFamily="18" charset="0"/>
      <p:regular r:id="rId31"/>
      <p:bold r:id="rId32"/>
      <p:italic r:id="rId33"/>
      <p:boldItalic r:id="rId34"/>
    </p:embeddedFont>
    <p:embeddedFont>
      <p:font typeface="Roboto" panose="02000000000000000000" pitchFamily="2" charset="0"/>
      <p:regular r:id="rId35"/>
      <p:bold r:id="rId36"/>
      <p:italic r:id="rId37"/>
      <p:boldItalic r:id="rId38"/>
    </p:embeddedFont>
    <p:embeddedFont>
      <p:font typeface="Tomorrow" panose="020B0604020202020204" charset="0"/>
      <p:regular r:id="rId39"/>
    </p:embeddedFont>
    <p:embeddedFont>
      <p:font typeface="Tomorrow Semi Bold" panose="020B0604020202020204"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203846-04D8-418D-8244-1A3DEFA2816E}">
  <a:tblStyle styleId="{08203846-04D8-418D-8244-1A3DEFA2816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4" autoAdjust="0"/>
    <p:restoredTop sz="94660"/>
  </p:normalViewPr>
  <p:slideViewPr>
    <p:cSldViewPr snapToGrid="0">
      <p:cViewPr varScale="1">
        <p:scale>
          <a:sx n="103" d="100"/>
          <a:sy n="103" d="100"/>
        </p:scale>
        <p:origin x="117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dcb566e1d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dcb566e1d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e9566a474a_0_1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9566a474a_0_1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e96fd5876e_0_1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4" name="Google Shape;934;ge96fd5876e_0_1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e96fd5876e_0_4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e96fd5876e_0_4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a:extLst>
            <a:ext uri="{FF2B5EF4-FFF2-40B4-BE49-F238E27FC236}">
              <a16:creationId xmlns:a16="http://schemas.microsoft.com/office/drawing/2014/main" id="{2CAF74FB-C627-94A8-3B0A-4D18785D4E1E}"/>
            </a:ext>
          </a:extLst>
        </p:cNvPr>
        <p:cNvGrpSpPr/>
        <p:nvPr/>
      </p:nvGrpSpPr>
      <p:grpSpPr>
        <a:xfrm>
          <a:off x="0" y="0"/>
          <a:ext cx="0" cy="0"/>
          <a:chOff x="0" y="0"/>
          <a:chExt cx="0" cy="0"/>
        </a:xfrm>
      </p:grpSpPr>
      <p:sp>
        <p:nvSpPr>
          <p:cNvPr id="2309" name="Google Shape;2309;ge96fd5876e_0_4759:notes">
            <a:extLst>
              <a:ext uri="{FF2B5EF4-FFF2-40B4-BE49-F238E27FC236}">
                <a16:creationId xmlns:a16="http://schemas.microsoft.com/office/drawing/2014/main" id="{2266BE50-52FB-671B-DF78-7EB45A4FE9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e96fd5876e_0_4759:notes">
            <a:extLst>
              <a:ext uri="{FF2B5EF4-FFF2-40B4-BE49-F238E27FC236}">
                <a16:creationId xmlns:a16="http://schemas.microsoft.com/office/drawing/2014/main" id="{A03ABE0A-5230-EC21-0506-F34FE46D64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2747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a:extLst>
            <a:ext uri="{FF2B5EF4-FFF2-40B4-BE49-F238E27FC236}">
              <a16:creationId xmlns:a16="http://schemas.microsoft.com/office/drawing/2014/main" id="{6782BE1C-5480-6594-9D6B-54D994C065B5}"/>
            </a:ext>
          </a:extLst>
        </p:cNvPr>
        <p:cNvGrpSpPr/>
        <p:nvPr/>
      </p:nvGrpSpPr>
      <p:grpSpPr>
        <a:xfrm>
          <a:off x="0" y="0"/>
          <a:ext cx="0" cy="0"/>
          <a:chOff x="0" y="0"/>
          <a:chExt cx="0" cy="0"/>
        </a:xfrm>
      </p:grpSpPr>
      <p:sp>
        <p:nvSpPr>
          <p:cNvPr id="2309" name="Google Shape;2309;ge96fd5876e_0_4759:notes">
            <a:extLst>
              <a:ext uri="{FF2B5EF4-FFF2-40B4-BE49-F238E27FC236}">
                <a16:creationId xmlns:a16="http://schemas.microsoft.com/office/drawing/2014/main" id="{39C795D6-B0C8-B695-A000-DB4FDD48AF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e96fd5876e_0_4759:notes">
            <a:extLst>
              <a:ext uri="{FF2B5EF4-FFF2-40B4-BE49-F238E27FC236}">
                <a16:creationId xmlns:a16="http://schemas.microsoft.com/office/drawing/2014/main" id="{B1BC849F-70E8-DBE5-8B7A-195C950BE5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6312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a:extLst>
            <a:ext uri="{FF2B5EF4-FFF2-40B4-BE49-F238E27FC236}">
              <a16:creationId xmlns:a16="http://schemas.microsoft.com/office/drawing/2014/main" id="{C2CB2AE8-3606-C063-FB07-5DA0C8435F41}"/>
            </a:ext>
          </a:extLst>
        </p:cNvPr>
        <p:cNvGrpSpPr/>
        <p:nvPr/>
      </p:nvGrpSpPr>
      <p:grpSpPr>
        <a:xfrm>
          <a:off x="0" y="0"/>
          <a:ext cx="0" cy="0"/>
          <a:chOff x="0" y="0"/>
          <a:chExt cx="0" cy="0"/>
        </a:xfrm>
      </p:grpSpPr>
      <p:sp>
        <p:nvSpPr>
          <p:cNvPr id="2309" name="Google Shape;2309;ge96fd5876e_0_4759:notes">
            <a:extLst>
              <a:ext uri="{FF2B5EF4-FFF2-40B4-BE49-F238E27FC236}">
                <a16:creationId xmlns:a16="http://schemas.microsoft.com/office/drawing/2014/main" id="{781E64DF-5DB7-B77E-DC5B-9889FD94A1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e96fd5876e_0_4759:notes">
            <a:extLst>
              <a:ext uri="{FF2B5EF4-FFF2-40B4-BE49-F238E27FC236}">
                <a16:creationId xmlns:a16="http://schemas.microsoft.com/office/drawing/2014/main" id="{26C28059-FC39-D768-5B3F-849E14C575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7092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e96fd5876e_0_8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e96fd5876e_0_8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8">
          <a:extLst>
            <a:ext uri="{FF2B5EF4-FFF2-40B4-BE49-F238E27FC236}">
              <a16:creationId xmlns:a16="http://schemas.microsoft.com/office/drawing/2014/main" id="{E9BD00DD-A8DA-A3DE-0290-6B3403A7D765}"/>
            </a:ext>
          </a:extLst>
        </p:cNvPr>
        <p:cNvGrpSpPr/>
        <p:nvPr/>
      </p:nvGrpSpPr>
      <p:grpSpPr>
        <a:xfrm>
          <a:off x="0" y="0"/>
          <a:ext cx="0" cy="0"/>
          <a:chOff x="0" y="0"/>
          <a:chExt cx="0" cy="0"/>
        </a:xfrm>
      </p:grpSpPr>
      <p:sp>
        <p:nvSpPr>
          <p:cNvPr id="2309" name="Google Shape;2309;ge96fd5876e_0_4759:notes">
            <a:extLst>
              <a:ext uri="{FF2B5EF4-FFF2-40B4-BE49-F238E27FC236}">
                <a16:creationId xmlns:a16="http://schemas.microsoft.com/office/drawing/2014/main" id="{0D26400C-870D-50D7-69A4-DC2F81F284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0" name="Google Shape;2310;ge96fd5876e_0_4759:notes">
            <a:extLst>
              <a:ext uri="{FF2B5EF4-FFF2-40B4-BE49-F238E27FC236}">
                <a16:creationId xmlns:a16="http://schemas.microsoft.com/office/drawing/2014/main" id="{E8EC42C3-03FE-0D1C-B5FE-651B7824A0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4961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p:cNvGrpSpPr/>
        <p:nvPr/>
      </p:nvGrpSpPr>
      <p:grpSpPr>
        <a:xfrm>
          <a:off x="0" y="0"/>
          <a:ext cx="0" cy="0"/>
          <a:chOff x="0" y="0"/>
          <a:chExt cx="0" cy="0"/>
        </a:xfrm>
      </p:grpSpPr>
      <p:sp>
        <p:nvSpPr>
          <p:cNvPr id="1181" name="Google Shape;1181;ge96fd5876e_0_16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e96fd5876e_0_1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1"/>
        <p:cNvGrpSpPr/>
        <p:nvPr/>
      </p:nvGrpSpPr>
      <p:grpSpPr>
        <a:xfrm>
          <a:off x="0" y="0"/>
          <a:ext cx="0" cy="0"/>
          <a:chOff x="0" y="0"/>
          <a:chExt cx="0" cy="0"/>
        </a:xfrm>
      </p:grpSpPr>
      <p:sp>
        <p:nvSpPr>
          <p:cNvPr id="1852" name="Google Shape;1852;ge96fd5876e_0_35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3" name="Google Shape;1853;ge96fd5876e_0_3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e77f93ad0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e77f93ad0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996DACE9-BE5C-44B3-971A-5721307660FF}"/>
            </a:ext>
          </a:extLst>
        </p:cNvPr>
        <p:cNvGrpSpPr/>
        <p:nvPr/>
      </p:nvGrpSpPr>
      <p:grpSpPr>
        <a:xfrm>
          <a:off x="0" y="0"/>
          <a:ext cx="0" cy="0"/>
          <a:chOff x="0" y="0"/>
          <a:chExt cx="0" cy="0"/>
        </a:xfrm>
      </p:grpSpPr>
      <p:sp>
        <p:nvSpPr>
          <p:cNvPr id="232" name="Google Shape;232;ge77f93ad05_0_60:notes">
            <a:extLst>
              <a:ext uri="{FF2B5EF4-FFF2-40B4-BE49-F238E27FC236}">
                <a16:creationId xmlns:a16="http://schemas.microsoft.com/office/drawing/2014/main" id="{AAABBC80-73C1-B341-18CD-5740B1007E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e77f93ad05_0_60:notes">
            <a:extLst>
              <a:ext uri="{FF2B5EF4-FFF2-40B4-BE49-F238E27FC236}">
                <a16:creationId xmlns:a16="http://schemas.microsoft.com/office/drawing/2014/main" id="{F466087A-DA47-E9A3-52F4-3085CBB54E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31103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59014D1E-6C4E-0C55-9A5A-E59ACE2CFDA8}"/>
            </a:ext>
          </a:extLst>
        </p:cNvPr>
        <p:cNvGrpSpPr/>
        <p:nvPr/>
      </p:nvGrpSpPr>
      <p:grpSpPr>
        <a:xfrm>
          <a:off x="0" y="0"/>
          <a:ext cx="0" cy="0"/>
          <a:chOff x="0" y="0"/>
          <a:chExt cx="0" cy="0"/>
        </a:xfrm>
      </p:grpSpPr>
      <p:sp>
        <p:nvSpPr>
          <p:cNvPr id="232" name="Google Shape;232;ge77f93ad05_0_60:notes">
            <a:extLst>
              <a:ext uri="{FF2B5EF4-FFF2-40B4-BE49-F238E27FC236}">
                <a16:creationId xmlns:a16="http://schemas.microsoft.com/office/drawing/2014/main" id="{999ADF15-F37C-06EA-61B3-D492B29E09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e77f93ad05_0_60:notes">
            <a:extLst>
              <a:ext uri="{FF2B5EF4-FFF2-40B4-BE49-F238E27FC236}">
                <a16:creationId xmlns:a16="http://schemas.microsoft.com/office/drawing/2014/main" id="{923F8C2D-E306-15E8-96A5-B486CB8CB2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9166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839626B4-18B1-9757-7E5C-2C5F1356419E}"/>
            </a:ext>
          </a:extLst>
        </p:cNvPr>
        <p:cNvGrpSpPr/>
        <p:nvPr/>
      </p:nvGrpSpPr>
      <p:grpSpPr>
        <a:xfrm>
          <a:off x="0" y="0"/>
          <a:ext cx="0" cy="0"/>
          <a:chOff x="0" y="0"/>
          <a:chExt cx="0" cy="0"/>
        </a:xfrm>
      </p:grpSpPr>
      <p:sp>
        <p:nvSpPr>
          <p:cNvPr id="232" name="Google Shape;232;ge77f93ad05_0_60:notes">
            <a:extLst>
              <a:ext uri="{FF2B5EF4-FFF2-40B4-BE49-F238E27FC236}">
                <a16:creationId xmlns:a16="http://schemas.microsoft.com/office/drawing/2014/main" id="{1385E805-561F-1524-F834-1E32048AF4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e77f93ad05_0_60:notes">
            <a:extLst>
              <a:ext uri="{FF2B5EF4-FFF2-40B4-BE49-F238E27FC236}">
                <a16:creationId xmlns:a16="http://schemas.microsoft.com/office/drawing/2014/main" id="{FFA01F71-117E-F429-062D-56FE063ABB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106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e96fd5876e_0_1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2" name="Google Shape;1002;ge96fd5876e_0_1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140950" y="1074150"/>
            <a:ext cx="3545700" cy="2488800"/>
          </a:xfrm>
          <a:prstGeom prst="rect">
            <a:avLst/>
          </a:prstGeom>
        </p:spPr>
        <p:txBody>
          <a:bodyPr spcFirstLastPara="1" wrap="square" lIns="91425" tIns="91425" rIns="91425" bIns="91425" anchor="t" anchorCtr="0">
            <a:normAutofit/>
          </a:bodyPr>
          <a:lstStyle>
            <a:lvl1pPr lvl="0" algn="r">
              <a:spcBef>
                <a:spcPts val="0"/>
              </a:spcBef>
              <a:spcAft>
                <a:spcPts val="0"/>
              </a:spcAft>
              <a:buSzPts val="5200"/>
              <a:buNone/>
              <a:defRPr sz="5000" b="0">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6105525" y="3562950"/>
            <a:ext cx="2581200" cy="711000"/>
          </a:xfrm>
          <a:prstGeom prst="rect">
            <a:avLst/>
          </a:prstGeom>
        </p:spPr>
        <p:txBody>
          <a:bodyPr spcFirstLastPara="1" wrap="square" lIns="91425" tIns="91425" rIns="91425" bIns="91425" anchor="t" anchorCtr="0">
            <a:normAutofit/>
          </a:bodyPr>
          <a:lstStyle>
            <a:lvl1pPr lvl="0" algn="r">
              <a:lnSpc>
                <a:spcPct val="100000"/>
              </a:lnSpc>
              <a:spcBef>
                <a:spcPts val="0"/>
              </a:spcBef>
              <a:spcAft>
                <a:spcPts val="0"/>
              </a:spcAft>
              <a:buSzPts val="2800"/>
              <a:buNone/>
              <a:defRPr sz="1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a:endParaRPr/>
          </a:p>
        </p:txBody>
      </p:sp>
      <p:sp>
        <p:nvSpPr>
          <p:cNvPr id="15" name="Google Shape;15;p4"/>
          <p:cNvSpPr txBox="1">
            <a:spLocks noGrp="1"/>
          </p:cNvSpPr>
          <p:nvPr>
            <p:ph type="body" idx="1"/>
          </p:nvPr>
        </p:nvSpPr>
        <p:spPr>
          <a:xfrm>
            <a:off x="457200" y="1247950"/>
            <a:ext cx="8229600" cy="3029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 name="Google Shape;19;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0" name="Google Shape;3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1" name="Google Shape;3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2"/>
        <p:cNvGrpSpPr/>
        <p:nvPr/>
      </p:nvGrpSpPr>
      <p:grpSpPr>
        <a:xfrm>
          <a:off x="0" y="0"/>
          <a:ext cx="0" cy="0"/>
          <a:chOff x="0" y="0"/>
          <a:chExt cx="0" cy="0"/>
        </a:xfrm>
      </p:grpSpPr>
      <p:sp>
        <p:nvSpPr>
          <p:cNvPr id="33" name="Google Shape;3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4"/>
        <p:cNvGrpSpPr/>
        <p:nvPr/>
      </p:nvGrpSpPr>
      <p:grpSpPr>
        <a:xfrm>
          <a:off x="0" y="0"/>
          <a:ext cx="0" cy="0"/>
          <a:chOff x="0" y="0"/>
          <a:chExt cx="0" cy="0"/>
        </a:xfrm>
      </p:grpSpPr>
      <p:sp>
        <p:nvSpPr>
          <p:cNvPr id="35" name="Google Shape;3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11475"/>
            <a:ext cx="8229600" cy="371400"/>
          </a:xfrm>
          <a:prstGeom prst="rect">
            <a:avLst/>
          </a:prstGeom>
          <a:noFill/>
          <a:ln>
            <a:noFill/>
          </a:ln>
        </p:spPr>
        <p:txBody>
          <a:bodyPr spcFirstLastPara="1" wrap="square" lIns="91425" tIns="91425" rIns="91425" bIns="91425" anchor="ctr" anchorCtr="0">
            <a:normAutofit/>
          </a:bodyPr>
          <a:lstStyle>
            <a:lvl1pPr lvl="0"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9pPr>
          </a:lstStyle>
          <a:p>
            <a:endParaRPr/>
          </a:p>
        </p:txBody>
      </p:sp>
      <p:sp>
        <p:nvSpPr>
          <p:cNvPr id="7" name="Google Shape;7;p1"/>
          <p:cNvSpPr txBox="1">
            <a:spLocks noGrp="1"/>
          </p:cNvSpPr>
          <p:nvPr>
            <p:ph type="body" idx="1"/>
          </p:nvPr>
        </p:nvSpPr>
        <p:spPr>
          <a:xfrm>
            <a:off x="457200" y="1152475"/>
            <a:ext cx="8229600" cy="35796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5"/>
          <p:cNvSpPr txBox="1">
            <a:spLocks noGrp="1"/>
          </p:cNvSpPr>
          <p:nvPr>
            <p:ph type="ctrTitle"/>
          </p:nvPr>
        </p:nvSpPr>
        <p:spPr>
          <a:xfrm>
            <a:off x="555378" y="175013"/>
            <a:ext cx="7388024" cy="1896014"/>
          </a:xfrm>
          <a:prstGeom prst="rect">
            <a:avLst/>
          </a:prstGeom>
        </p:spPr>
        <p:txBody>
          <a:bodyPr spcFirstLastPara="1" wrap="square" lIns="91425" tIns="91425" rIns="91425" bIns="91425" anchor="t" anchorCtr="0">
            <a:noAutofit/>
          </a:bodyPr>
          <a:lstStyle/>
          <a:p>
            <a:pPr algn="l">
              <a:lnSpc>
                <a:spcPct val="150000"/>
              </a:lnSpc>
            </a:pPr>
            <a:r>
              <a:rPr lang="en-US" sz="2400" b="1" dirty="0">
                <a:solidFill>
                  <a:srgbClr val="1D1D1B"/>
                </a:solidFill>
                <a:latin typeface="Arial Black" panose="020B0A04020102020204" pitchFamily="34" charset="0"/>
                <a:ea typeface="Tomorrow Semi Bold" pitchFamily="34" charset="-122"/>
                <a:cs typeface="Tomorrow Semi Bold" pitchFamily="34" charset="-120"/>
              </a:rPr>
              <a:t>Système Multi-Agents Intelligent pour la </a:t>
            </a:r>
            <a:r>
              <a:rPr lang="en-US" sz="2400" b="1" dirty="0" err="1">
                <a:solidFill>
                  <a:srgbClr val="1D1D1B"/>
                </a:solidFill>
                <a:latin typeface="Arial Black" panose="020B0A04020102020204" pitchFamily="34" charset="0"/>
                <a:ea typeface="Tomorrow Semi Bold" pitchFamily="34" charset="-122"/>
                <a:cs typeface="Tomorrow Semi Bold" pitchFamily="34" charset="-120"/>
              </a:rPr>
              <a:t>Sélection</a:t>
            </a:r>
            <a:r>
              <a:rPr lang="en-US" sz="2400" b="1" dirty="0">
                <a:solidFill>
                  <a:srgbClr val="1D1D1B"/>
                </a:solidFill>
                <a:latin typeface="Arial Black" panose="020B0A04020102020204" pitchFamily="34" charset="0"/>
                <a:ea typeface="Tomorrow Semi Bold" pitchFamily="34" charset="-122"/>
                <a:cs typeface="Tomorrow Semi Bold" pitchFamily="34" charset="-120"/>
              </a:rPr>
              <a:t> </a:t>
            </a:r>
            <a:r>
              <a:rPr lang="en-US" sz="2400" b="1" dirty="0" err="1">
                <a:solidFill>
                  <a:srgbClr val="1D1D1B"/>
                </a:solidFill>
                <a:latin typeface="Arial Black" panose="020B0A04020102020204" pitchFamily="34" charset="0"/>
                <a:ea typeface="Tomorrow Semi Bold" pitchFamily="34" charset="-122"/>
                <a:cs typeface="Tomorrow Semi Bold" pitchFamily="34" charset="-120"/>
              </a:rPr>
              <a:t>Automatisée</a:t>
            </a:r>
            <a:r>
              <a:rPr lang="en-US" sz="2400" b="1" dirty="0">
                <a:solidFill>
                  <a:srgbClr val="1D1D1B"/>
                </a:solidFill>
                <a:latin typeface="Arial Black" panose="020B0A04020102020204" pitchFamily="34" charset="0"/>
                <a:ea typeface="Tomorrow Semi Bold" pitchFamily="34" charset="-122"/>
                <a:cs typeface="Tomorrow Semi Bold" pitchFamily="34" charset="-120"/>
              </a:rPr>
              <a:t> des </a:t>
            </a:r>
            <a:r>
              <a:rPr lang="en-US" sz="2400" b="1" dirty="0" err="1">
                <a:solidFill>
                  <a:srgbClr val="1D1D1B"/>
                </a:solidFill>
                <a:latin typeface="Arial Black" panose="020B0A04020102020204" pitchFamily="34" charset="0"/>
                <a:ea typeface="Tomorrow Semi Bold" pitchFamily="34" charset="-122"/>
                <a:cs typeface="Tomorrow Semi Bold" pitchFamily="34" charset="-120"/>
              </a:rPr>
              <a:t>Candidats</a:t>
            </a:r>
            <a:endParaRPr lang="en-US" sz="2400" b="1" dirty="0">
              <a:latin typeface="Arial Black" panose="020B0A04020102020204" pitchFamily="34" charset="0"/>
            </a:endParaRPr>
          </a:p>
        </p:txBody>
      </p:sp>
      <p:sp>
        <p:nvSpPr>
          <p:cNvPr id="5" name="ZoneTexte 4">
            <a:extLst>
              <a:ext uri="{FF2B5EF4-FFF2-40B4-BE49-F238E27FC236}">
                <a16:creationId xmlns:a16="http://schemas.microsoft.com/office/drawing/2014/main" id="{7EF8B2F6-96AE-E57C-D7E8-A8E71919975D}"/>
              </a:ext>
            </a:extLst>
          </p:cNvPr>
          <p:cNvSpPr txBox="1"/>
          <p:nvPr/>
        </p:nvSpPr>
        <p:spPr>
          <a:xfrm>
            <a:off x="5396433" y="2329200"/>
            <a:ext cx="2546969" cy="1534203"/>
          </a:xfrm>
          <a:prstGeom prst="rect">
            <a:avLst/>
          </a:prstGeom>
          <a:noFill/>
        </p:spPr>
        <p:txBody>
          <a:bodyPr wrap="square">
            <a:spAutoFit/>
          </a:bodyPr>
          <a:lstStyle/>
          <a:p>
            <a:pPr marL="0" indent="0" algn="l">
              <a:lnSpc>
                <a:spcPts val="2250"/>
              </a:lnSpc>
              <a:buNone/>
            </a:pPr>
            <a:r>
              <a:rPr lang="en-US" sz="1200" dirty="0" err="1">
                <a:solidFill>
                  <a:srgbClr val="61615C"/>
                </a:solidFill>
                <a:latin typeface="Tomorrow" pitchFamily="34" charset="0"/>
                <a:ea typeface="Tomorrow" pitchFamily="34" charset="-122"/>
                <a:cs typeface="Tomorrow" pitchFamily="34" charset="-120"/>
              </a:rPr>
              <a:t>Membres</a:t>
            </a:r>
            <a:r>
              <a:rPr lang="en-US" sz="1200" dirty="0">
                <a:solidFill>
                  <a:srgbClr val="61615C"/>
                </a:solidFill>
                <a:latin typeface="Tomorrow" pitchFamily="34" charset="0"/>
                <a:ea typeface="Tomorrow" pitchFamily="34" charset="-122"/>
                <a:cs typeface="Tomorrow" pitchFamily="34" charset="-120"/>
              </a:rPr>
              <a:t> du </a:t>
            </a:r>
            <a:r>
              <a:rPr lang="en-US" sz="1200" dirty="0" err="1">
                <a:solidFill>
                  <a:srgbClr val="61615C"/>
                </a:solidFill>
                <a:latin typeface="Tomorrow" pitchFamily="34" charset="0"/>
                <a:ea typeface="Tomorrow" pitchFamily="34" charset="-122"/>
                <a:cs typeface="Tomorrow" pitchFamily="34" charset="-120"/>
              </a:rPr>
              <a:t>groupe</a:t>
            </a:r>
            <a:r>
              <a:rPr lang="en-US" sz="1200" dirty="0">
                <a:solidFill>
                  <a:srgbClr val="61615C"/>
                </a:solidFill>
                <a:latin typeface="Tomorrow" pitchFamily="34" charset="0"/>
                <a:ea typeface="Tomorrow" pitchFamily="34" charset="-122"/>
                <a:cs typeface="Tomorrow" pitchFamily="34" charset="-120"/>
              </a:rPr>
              <a:t>: </a:t>
            </a:r>
          </a:p>
          <a:p>
            <a:pPr marL="0" indent="0" algn="l">
              <a:lnSpc>
                <a:spcPts val="2250"/>
              </a:lnSpc>
              <a:buNone/>
            </a:pPr>
            <a:r>
              <a:rPr lang="en-US" sz="1200" dirty="0">
                <a:solidFill>
                  <a:srgbClr val="61615C"/>
                </a:solidFill>
                <a:latin typeface="Tomorrow" pitchFamily="34" charset="0"/>
                <a:ea typeface="Tomorrow" pitchFamily="34" charset="-122"/>
                <a:cs typeface="Tomorrow" pitchFamily="34" charset="-120"/>
              </a:rPr>
              <a:t>AIT BIHI Laila</a:t>
            </a:r>
          </a:p>
          <a:p>
            <a:pPr marL="0" indent="0" algn="l">
              <a:lnSpc>
                <a:spcPts val="2250"/>
              </a:lnSpc>
              <a:buNone/>
            </a:pPr>
            <a:r>
              <a:rPr lang="en-US" sz="1200" dirty="0">
                <a:solidFill>
                  <a:srgbClr val="61615C"/>
                </a:solidFill>
                <a:latin typeface="Tomorrow" pitchFamily="34" charset="0"/>
                <a:ea typeface="Tomorrow" pitchFamily="34" charset="-122"/>
                <a:cs typeface="Tomorrow" pitchFamily="34" charset="-120"/>
              </a:rPr>
              <a:t>AL AYACHI Chaima </a:t>
            </a:r>
          </a:p>
          <a:p>
            <a:pPr marL="0" indent="0" algn="l">
              <a:lnSpc>
                <a:spcPts val="2250"/>
              </a:lnSpc>
              <a:buNone/>
            </a:pPr>
            <a:r>
              <a:rPr lang="en-US" sz="1200" dirty="0">
                <a:solidFill>
                  <a:srgbClr val="61615C"/>
                </a:solidFill>
                <a:latin typeface="Tomorrow" pitchFamily="34" charset="0"/>
                <a:ea typeface="Tomorrow" pitchFamily="34" charset="-122"/>
                <a:cs typeface="Tomorrow" pitchFamily="34" charset="-120"/>
              </a:rPr>
              <a:t>BOUCHAMA Salma </a:t>
            </a:r>
          </a:p>
          <a:p>
            <a:pPr marL="0" indent="0" algn="l">
              <a:lnSpc>
                <a:spcPts val="2250"/>
              </a:lnSpc>
              <a:buNone/>
            </a:pPr>
            <a:r>
              <a:rPr lang="en-US" sz="1200" dirty="0">
                <a:solidFill>
                  <a:srgbClr val="61615C"/>
                </a:solidFill>
                <a:latin typeface="Tomorrow" pitchFamily="34" charset="0"/>
                <a:ea typeface="Tomorrow" pitchFamily="34" charset="-122"/>
                <a:cs typeface="Tomorrow" pitchFamily="34" charset="-120"/>
              </a:rPr>
              <a:t>DAHHASSI </a:t>
            </a:r>
            <a:r>
              <a:rPr lang="en-US" sz="1200" dirty="0" err="1">
                <a:solidFill>
                  <a:srgbClr val="61615C"/>
                </a:solidFill>
                <a:latin typeface="Tomorrow" pitchFamily="34" charset="0"/>
                <a:ea typeface="Tomorrow" pitchFamily="34" charset="-122"/>
                <a:cs typeface="Tomorrow" pitchFamily="34" charset="-120"/>
              </a:rPr>
              <a:t>Chaymae</a:t>
            </a:r>
            <a:endParaRPr lang="en-US" sz="1200" dirty="0">
              <a:solidFill>
                <a:srgbClr val="61615C"/>
              </a:solidFill>
              <a:latin typeface="Tomorrow" pitchFamily="34" charset="0"/>
              <a:ea typeface="Tomorrow" pitchFamily="34" charset="-122"/>
              <a:cs typeface="Tomorrow" pitchFamily="34" charset="-120"/>
            </a:endParaRPr>
          </a:p>
        </p:txBody>
      </p:sp>
      <p:pic>
        <p:nvPicPr>
          <p:cNvPr id="1030" name="Picture 6" descr="Présentation - LC BUILDING">
            <a:extLst>
              <a:ext uri="{FF2B5EF4-FFF2-40B4-BE49-F238E27FC236}">
                <a16:creationId xmlns:a16="http://schemas.microsoft.com/office/drawing/2014/main" id="{87BD980E-95B1-3C97-9BFA-D76FC46E0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0984" y="65442"/>
            <a:ext cx="1099789" cy="1099789"/>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 9">
            <a:extLst>
              <a:ext uri="{FF2B5EF4-FFF2-40B4-BE49-F238E27FC236}">
                <a16:creationId xmlns:a16="http://schemas.microsoft.com/office/drawing/2014/main" id="{755EC654-3E11-5F49-033D-E2E3AADE96B0}"/>
              </a:ext>
            </a:extLst>
          </p:cNvPr>
          <p:cNvPicPr>
            <a:picLocks noChangeAspect="1"/>
          </p:cNvPicPr>
          <p:nvPr/>
        </p:nvPicPr>
        <p:blipFill>
          <a:blip r:embed="rId4"/>
          <a:stretch>
            <a:fillRect/>
          </a:stretch>
        </p:blipFill>
        <p:spPr>
          <a:xfrm>
            <a:off x="237893" y="1826379"/>
            <a:ext cx="4943606" cy="2775358"/>
          </a:xfrm>
          <a:prstGeom prst="rect">
            <a:avLst/>
          </a:prstGeom>
        </p:spPr>
      </p:pic>
      <p:sp>
        <p:nvSpPr>
          <p:cNvPr id="11" name="ZoneTexte 10">
            <a:extLst>
              <a:ext uri="{FF2B5EF4-FFF2-40B4-BE49-F238E27FC236}">
                <a16:creationId xmlns:a16="http://schemas.microsoft.com/office/drawing/2014/main" id="{4D72F56D-47BB-083A-9630-13BD2DCBC947}"/>
              </a:ext>
            </a:extLst>
          </p:cNvPr>
          <p:cNvSpPr txBox="1"/>
          <p:nvPr/>
        </p:nvSpPr>
        <p:spPr>
          <a:xfrm>
            <a:off x="7262404" y="4121576"/>
            <a:ext cx="2546969" cy="649345"/>
          </a:xfrm>
          <a:prstGeom prst="rect">
            <a:avLst/>
          </a:prstGeom>
          <a:noFill/>
        </p:spPr>
        <p:txBody>
          <a:bodyPr wrap="square">
            <a:spAutoFit/>
          </a:bodyPr>
          <a:lstStyle/>
          <a:p>
            <a:pPr marL="0" indent="0" algn="l">
              <a:lnSpc>
                <a:spcPts val="2250"/>
              </a:lnSpc>
              <a:buNone/>
            </a:pPr>
            <a:r>
              <a:rPr lang="en-US" sz="1200" dirty="0" err="1">
                <a:solidFill>
                  <a:srgbClr val="61615C"/>
                </a:solidFill>
                <a:latin typeface="Tomorrow" pitchFamily="34" charset="0"/>
                <a:ea typeface="Tomorrow" pitchFamily="34" charset="-122"/>
                <a:cs typeface="Tomorrow" pitchFamily="34" charset="-120"/>
              </a:rPr>
              <a:t>Encadrant</a:t>
            </a:r>
            <a:r>
              <a:rPr lang="en-US" sz="1200" dirty="0">
                <a:solidFill>
                  <a:srgbClr val="61615C"/>
                </a:solidFill>
                <a:latin typeface="Tomorrow" pitchFamily="34" charset="0"/>
                <a:ea typeface="Tomorrow" pitchFamily="34" charset="-122"/>
                <a:cs typeface="Tomorrow" pitchFamily="34" charset="-120"/>
              </a:rPr>
              <a:t> : </a:t>
            </a:r>
          </a:p>
          <a:p>
            <a:pPr marL="0" indent="0" algn="l">
              <a:lnSpc>
                <a:spcPts val="2250"/>
              </a:lnSpc>
              <a:buNone/>
            </a:pPr>
            <a:r>
              <a:rPr lang="en-US" sz="1200" dirty="0">
                <a:solidFill>
                  <a:srgbClr val="61615C"/>
                </a:solidFill>
                <a:latin typeface="Tomorrow" pitchFamily="34" charset="0"/>
                <a:ea typeface="Tomorrow" pitchFamily="34" charset="-122"/>
                <a:cs typeface="Tomorrow" pitchFamily="34" charset="-120"/>
              </a:rPr>
              <a:t>M. LAMRANI Youssef</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1026" name="Picture 2" descr="9 bonnes raisons d'éviter les RH pour tes candidatures spontanées">
            <a:extLst>
              <a:ext uri="{FF2B5EF4-FFF2-40B4-BE49-F238E27FC236}">
                <a16:creationId xmlns:a16="http://schemas.microsoft.com/office/drawing/2014/main" id="{718AB440-AD77-6902-D02E-55BF0708F4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35" y="1336778"/>
            <a:ext cx="3079821" cy="253601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60" name="Google Shape;360;p18"/>
          <p:cNvSpPr/>
          <p:nvPr/>
        </p:nvSpPr>
        <p:spPr>
          <a:xfrm>
            <a:off x="389927" y="1324325"/>
            <a:ext cx="2889300" cy="3407700"/>
          </a:xfrm>
          <a:prstGeom prst="roundRect">
            <a:avLst>
              <a:gd name="adj" fmla="val 14082"/>
            </a:avLst>
          </a:prstGeom>
          <a:solidFill>
            <a:srgbClr val="E4EA27">
              <a:alpha val="25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362;p18"/>
          <p:cNvGrpSpPr/>
          <p:nvPr/>
        </p:nvGrpSpPr>
        <p:grpSpPr>
          <a:xfrm>
            <a:off x="822827" y="3254857"/>
            <a:ext cx="2133450" cy="1431550"/>
            <a:chOff x="851113" y="2915825"/>
            <a:chExt cx="2133450" cy="1431550"/>
          </a:xfrm>
        </p:grpSpPr>
        <p:sp>
          <p:nvSpPr>
            <p:cNvPr id="363" name="Google Shape;363;p18"/>
            <p:cNvSpPr/>
            <p:nvPr/>
          </p:nvSpPr>
          <p:spPr>
            <a:xfrm>
              <a:off x="863938" y="3086225"/>
              <a:ext cx="2076150" cy="1071900"/>
            </a:xfrm>
            <a:custGeom>
              <a:avLst/>
              <a:gdLst/>
              <a:ahLst/>
              <a:cxnLst/>
              <a:rect l="l" t="t" r="r" b="b"/>
              <a:pathLst>
                <a:path w="83046" h="42876" extrusionOk="0">
                  <a:moveTo>
                    <a:pt x="40299" y="1"/>
                  </a:moveTo>
                  <a:lnTo>
                    <a:pt x="39445" y="15"/>
                  </a:lnTo>
                  <a:lnTo>
                    <a:pt x="38592" y="44"/>
                  </a:lnTo>
                  <a:lnTo>
                    <a:pt x="37752" y="100"/>
                  </a:lnTo>
                  <a:lnTo>
                    <a:pt x="36912" y="157"/>
                  </a:lnTo>
                  <a:lnTo>
                    <a:pt x="36087" y="243"/>
                  </a:lnTo>
                  <a:lnTo>
                    <a:pt x="35262" y="328"/>
                  </a:lnTo>
                  <a:lnTo>
                    <a:pt x="34436" y="442"/>
                  </a:lnTo>
                  <a:lnTo>
                    <a:pt x="33640" y="570"/>
                  </a:lnTo>
                  <a:lnTo>
                    <a:pt x="32843" y="698"/>
                  </a:lnTo>
                  <a:lnTo>
                    <a:pt x="32046" y="855"/>
                  </a:lnTo>
                  <a:lnTo>
                    <a:pt x="31263" y="1025"/>
                  </a:lnTo>
                  <a:lnTo>
                    <a:pt x="30481" y="1196"/>
                  </a:lnTo>
                  <a:lnTo>
                    <a:pt x="29712" y="1395"/>
                  </a:lnTo>
                  <a:lnTo>
                    <a:pt x="28958" y="1595"/>
                  </a:lnTo>
                  <a:lnTo>
                    <a:pt x="28204" y="1808"/>
                  </a:lnTo>
                  <a:lnTo>
                    <a:pt x="27464" y="2036"/>
                  </a:lnTo>
                  <a:lnTo>
                    <a:pt x="26724" y="2263"/>
                  </a:lnTo>
                  <a:lnTo>
                    <a:pt x="25998" y="2520"/>
                  </a:lnTo>
                  <a:lnTo>
                    <a:pt x="25272" y="2776"/>
                  </a:lnTo>
                  <a:lnTo>
                    <a:pt x="24575" y="3032"/>
                  </a:lnTo>
                  <a:lnTo>
                    <a:pt x="23864" y="3316"/>
                  </a:lnTo>
                  <a:lnTo>
                    <a:pt x="23181" y="3601"/>
                  </a:lnTo>
                  <a:lnTo>
                    <a:pt x="22483" y="3886"/>
                  </a:lnTo>
                  <a:lnTo>
                    <a:pt x="21815" y="4184"/>
                  </a:lnTo>
                  <a:lnTo>
                    <a:pt x="21146" y="4497"/>
                  </a:lnTo>
                  <a:lnTo>
                    <a:pt x="20491" y="4811"/>
                  </a:lnTo>
                  <a:lnTo>
                    <a:pt x="19837" y="5138"/>
                  </a:lnTo>
                  <a:lnTo>
                    <a:pt x="19196" y="5465"/>
                  </a:lnTo>
                  <a:lnTo>
                    <a:pt x="18570" y="5792"/>
                  </a:lnTo>
                  <a:lnTo>
                    <a:pt x="17944" y="6134"/>
                  </a:lnTo>
                  <a:lnTo>
                    <a:pt x="17332" y="6475"/>
                  </a:lnTo>
                  <a:lnTo>
                    <a:pt x="16137" y="7187"/>
                  </a:lnTo>
                  <a:lnTo>
                    <a:pt x="14984" y="7898"/>
                  </a:lnTo>
                  <a:lnTo>
                    <a:pt x="13860" y="8624"/>
                  </a:lnTo>
                  <a:lnTo>
                    <a:pt x="12779" y="9364"/>
                  </a:lnTo>
                  <a:lnTo>
                    <a:pt x="11740" y="10104"/>
                  </a:lnTo>
                  <a:lnTo>
                    <a:pt x="10729" y="10858"/>
                  </a:lnTo>
                  <a:lnTo>
                    <a:pt x="9776" y="11598"/>
                  </a:lnTo>
                  <a:lnTo>
                    <a:pt x="8851" y="12338"/>
                  </a:lnTo>
                  <a:lnTo>
                    <a:pt x="7983" y="13078"/>
                  </a:lnTo>
                  <a:lnTo>
                    <a:pt x="7143" y="13790"/>
                  </a:lnTo>
                  <a:lnTo>
                    <a:pt x="6347" y="14501"/>
                  </a:lnTo>
                  <a:lnTo>
                    <a:pt x="5607" y="15184"/>
                  </a:lnTo>
                  <a:lnTo>
                    <a:pt x="4895" y="15853"/>
                  </a:lnTo>
                  <a:lnTo>
                    <a:pt x="4241" y="16508"/>
                  </a:lnTo>
                  <a:lnTo>
                    <a:pt x="3629" y="17119"/>
                  </a:lnTo>
                  <a:lnTo>
                    <a:pt x="3060" y="17717"/>
                  </a:lnTo>
                  <a:lnTo>
                    <a:pt x="2533" y="18258"/>
                  </a:lnTo>
                  <a:lnTo>
                    <a:pt x="2063" y="18784"/>
                  </a:lnTo>
                  <a:lnTo>
                    <a:pt x="1637" y="19254"/>
                  </a:lnTo>
                  <a:lnTo>
                    <a:pt x="925" y="20079"/>
                  </a:lnTo>
                  <a:lnTo>
                    <a:pt x="413" y="20691"/>
                  </a:lnTo>
                  <a:lnTo>
                    <a:pt x="0" y="21218"/>
                  </a:lnTo>
                  <a:lnTo>
                    <a:pt x="1039" y="22342"/>
                  </a:lnTo>
                  <a:lnTo>
                    <a:pt x="2078" y="23423"/>
                  </a:lnTo>
                  <a:lnTo>
                    <a:pt x="3102" y="24476"/>
                  </a:lnTo>
                  <a:lnTo>
                    <a:pt x="4141" y="25501"/>
                  </a:lnTo>
                  <a:lnTo>
                    <a:pt x="5166" y="26483"/>
                  </a:lnTo>
                  <a:lnTo>
                    <a:pt x="6204" y="27436"/>
                  </a:lnTo>
                  <a:lnTo>
                    <a:pt x="7229" y="28361"/>
                  </a:lnTo>
                  <a:lnTo>
                    <a:pt x="8253" y="29243"/>
                  </a:lnTo>
                  <a:lnTo>
                    <a:pt x="9264" y="30097"/>
                  </a:lnTo>
                  <a:lnTo>
                    <a:pt x="10288" y="30922"/>
                  </a:lnTo>
                  <a:lnTo>
                    <a:pt x="11299" y="31719"/>
                  </a:lnTo>
                  <a:lnTo>
                    <a:pt x="12309" y="32474"/>
                  </a:lnTo>
                  <a:lnTo>
                    <a:pt x="13319" y="33199"/>
                  </a:lnTo>
                  <a:lnTo>
                    <a:pt x="14315" y="33897"/>
                  </a:lnTo>
                  <a:lnTo>
                    <a:pt x="15326" y="34565"/>
                  </a:lnTo>
                  <a:lnTo>
                    <a:pt x="16322" y="35206"/>
                  </a:lnTo>
                  <a:lnTo>
                    <a:pt x="17304" y="35818"/>
                  </a:lnTo>
                  <a:lnTo>
                    <a:pt x="18300" y="36401"/>
                  </a:lnTo>
                  <a:lnTo>
                    <a:pt x="19282" y="36956"/>
                  </a:lnTo>
                  <a:lnTo>
                    <a:pt x="20263" y="37482"/>
                  </a:lnTo>
                  <a:lnTo>
                    <a:pt x="21245" y="37981"/>
                  </a:lnTo>
                  <a:lnTo>
                    <a:pt x="22213" y="38450"/>
                  </a:lnTo>
                  <a:lnTo>
                    <a:pt x="23195" y="38891"/>
                  </a:lnTo>
                  <a:lnTo>
                    <a:pt x="24148" y="39318"/>
                  </a:lnTo>
                  <a:lnTo>
                    <a:pt x="25116" y="39702"/>
                  </a:lnTo>
                  <a:lnTo>
                    <a:pt x="26069" y="40072"/>
                  </a:lnTo>
                  <a:lnTo>
                    <a:pt x="27023" y="40414"/>
                  </a:lnTo>
                  <a:lnTo>
                    <a:pt x="27976" y="40741"/>
                  </a:lnTo>
                  <a:lnTo>
                    <a:pt x="28915" y="41040"/>
                  </a:lnTo>
                  <a:lnTo>
                    <a:pt x="29854" y="41310"/>
                  </a:lnTo>
                  <a:lnTo>
                    <a:pt x="30779" y="41552"/>
                  </a:lnTo>
                  <a:lnTo>
                    <a:pt x="31704" y="41780"/>
                  </a:lnTo>
                  <a:lnTo>
                    <a:pt x="32629" y="41979"/>
                  </a:lnTo>
                  <a:lnTo>
                    <a:pt x="33554" y="42164"/>
                  </a:lnTo>
                  <a:lnTo>
                    <a:pt x="34465" y="42321"/>
                  </a:lnTo>
                  <a:lnTo>
                    <a:pt x="35376" y="42463"/>
                  </a:lnTo>
                  <a:lnTo>
                    <a:pt x="36272" y="42577"/>
                  </a:lnTo>
                  <a:lnTo>
                    <a:pt x="37169" y="42676"/>
                  </a:lnTo>
                  <a:lnTo>
                    <a:pt x="38051" y="42762"/>
                  </a:lnTo>
                  <a:lnTo>
                    <a:pt x="38933" y="42819"/>
                  </a:lnTo>
                  <a:lnTo>
                    <a:pt x="39815" y="42847"/>
                  </a:lnTo>
                  <a:lnTo>
                    <a:pt x="40683" y="42876"/>
                  </a:lnTo>
                  <a:lnTo>
                    <a:pt x="41551" y="42876"/>
                  </a:lnTo>
                  <a:lnTo>
                    <a:pt x="42419" y="42861"/>
                  </a:lnTo>
                  <a:lnTo>
                    <a:pt x="43273" y="42833"/>
                  </a:lnTo>
                  <a:lnTo>
                    <a:pt x="44113" y="42776"/>
                  </a:lnTo>
                  <a:lnTo>
                    <a:pt x="44952" y="42719"/>
                  </a:lnTo>
                  <a:lnTo>
                    <a:pt x="45792" y="42634"/>
                  </a:lnTo>
                  <a:lnTo>
                    <a:pt x="46617" y="42534"/>
                  </a:lnTo>
                  <a:lnTo>
                    <a:pt x="47443" y="42420"/>
                  </a:lnTo>
                  <a:lnTo>
                    <a:pt x="48254" y="42306"/>
                  </a:lnTo>
                  <a:lnTo>
                    <a:pt x="49065" y="42164"/>
                  </a:lnTo>
                  <a:lnTo>
                    <a:pt x="49862" y="42008"/>
                  </a:lnTo>
                  <a:lnTo>
                    <a:pt x="50659" y="41837"/>
                  </a:lnTo>
                  <a:lnTo>
                    <a:pt x="51441" y="41652"/>
                  </a:lnTo>
                  <a:lnTo>
                    <a:pt x="52224" y="41453"/>
                  </a:lnTo>
                  <a:lnTo>
                    <a:pt x="52992" y="41253"/>
                  </a:lnTo>
                  <a:lnTo>
                    <a:pt x="53761" y="41026"/>
                  </a:lnTo>
                  <a:lnTo>
                    <a:pt x="54515" y="40798"/>
                  </a:lnTo>
                  <a:lnTo>
                    <a:pt x="55255" y="40556"/>
                  </a:lnTo>
                  <a:lnTo>
                    <a:pt x="55995" y="40314"/>
                  </a:lnTo>
                  <a:lnTo>
                    <a:pt x="56735" y="40044"/>
                  </a:lnTo>
                  <a:lnTo>
                    <a:pt x="57460" y="39773"/>
                  </a:lnTo>
                  <a:lnTo>
                    <a:pt x="58172" y="39489"/>
                  </a:lnTo>
                  <a:lnTo>
                    <a:pt x="58883" y="39204"/>
                  </a:lnTo>
                  <a:lnTo>
                    <a:pt x="59581" y="38905"/>
                  </a:lnTo>
                  <a:lnTo>
                    <a:pt x="60278" y="38592"/>
                  </a:lnTo>
                  <a:lnTo>
                    <a:pt x="60961" y="38279"/>
                  </a:lnTo>
                  <a:lnTo>
                    <a:pt x="61644" y="37966"/>
                  </a:lnTo>
                  <a:lnTo>
                    <a:pt x="62299" y="37639"/>
                  </a:lnTo>
                  <a:lnTo>
                    <a:pt x="62967" y="37297"/>
                  </a:lnTo>
                  <a:lnTo>
                    <a:pt x="63608" y="36956"/>
                  </a:lnTo>
                  <a:lnTo>
                    <a:pt x="64248" y="36614"/>
                  </a:lnTo>
                  <a:lnTo>
                    <a:pt x="64888" y="36259"/>
                  </a:lnTo>
                  <a:lnTo>
                    <a:pt x="66112" y="35547"/>
                  </a:lnTo>
                  <a:lnTo>
                    <a:pt x="67322" y="34807"/>
                  </a:lnTo>
                  <a:lnTo>
                    <a:pt x="68474" y="34067"/>
                  </a:lnTo>
                  <a:lnTo>
                    <a:pt x="69599" y="33313"/>
                  </a:lnTo>
                  <a:lnTo>
                    <a:pt x="70680" y="32559"/>
                  </a:lnTo>
                  <a:lnTo>
                    <a:pt x="71719" y="31790"/>
                  </a:lnTo>
                  <a:lnTo>
                    <a:pt x="72729" y="31036"/>
                  </a:lnTo>
                  <a:lnTo>
                    <a:pt x="73682" y="30282"/>
                  </a:lnTo>
                  <a:lnTo>
                    <a:pt x="74607" y="29528"/>
                  </a:lnTo>
                  <a:lnTo>
                    <a:pt x="75475" y="28788"/>
                  </a:lnTo>
                  <a:lnTo>
                    <a:pt x="76315" y="28062"/>
                  </a:lnTo>
                  <a:lnTo>
                    <a:pt x="77098" y="27365"/>
                  </a:lnTo>
                  <a:lnTo>
                    <a:pt x="77838" y="26682"/>
                  </a:lnTo>
                  <a:lnTo>
                    <a:pt x="78535" y="26027"/>
                  </a:lnTo>
                  <a:lnTo>
                    <a:pt x="79189" y="25387"/>
                  </a:lnTo>
                  <a:lnTo>
                    <a:pt x="79787" y="24789"/>
                  </a:lnTo>
                  <a:lnTo>
                    <a:pt x="80342" y="24220"/>
                  </a:lnTo>
                  <a:lnTo>
                    <a:pt x="81295" y="23210"/>
                  </a:lnTo>
                  <a:lnTo>
                    <a:pt x="82050" y="22385"/>
                  </a:lnTo>
                  <a:lnTo>
                    <a:pt x="82590" y="21744"/>
                  </a:lnTo>
                  <a:lnTo>
                    <a:pt x="83046" y="21218"/>
                  </a:lnTo>
                  <a:lnTo>
                    <a:pt x="81936" y="20108"/>
                  </a:lnTo>
                  <a:lnTo>
                    <a:pt x="80840" y="19040"/>
                  </a:lnTo>
                  <a:lnTo>
                    <a:pt x="79744" y="18016"/>
                  </a:lnTo>
                  <a:lnTo>
                    <a:pt x="78663" y="17020"/>
                  </a:lnTo>
                  <a:lnTo>
                    <a:pt x="77581" y="16052"/>
                  </a:lnTo>
                  <a:lnTo>
                    <a:pt x="76500" y="15113"/>
                  </a:lnTo>
                  <a:lnTo>
                    <a:pt x="75419" y="14217"/>
                  </a:lnTo>
                  <a:lnTo>
                    <a:pt x="74351" y="13348"/>
                  </a:lnTo>
                  <a:lnTo>
                    <a:pt x="73284" y="12509"/>
                  </a:lnTo>
                  <a:lnTo>
                    <a:pt x="72231" y="11712"/>
                  </a:lnTo>
                  <a:lnTo>
                    <a:pt x="71164" y="10929"/>
                  </a:lnTo>
                  <a:lnTo>
                    <a:pt x="70111" y="10189"/>
                  </a:lnTo>
                  <a:lnTo>
                    <a:pt x="69072" y="9478"/>
                  </a:lnTo>
                  <a:lnTo>
                    <a:pt x="68033" y="8795"/>
                  </a:lnTo>
                  <a:lnTo>
                    <a:pt x="66994" y="8140"/>
                  </a:lnTo>
                  <a:lnTo>
                    <a:pt x="65956" y="7514"/>
                  </a:lnTo>
                  <a:lnTo>
                    <a:pt x="64931" y="6917"/>
                  </a:lnTo>
                  <a:lnTo>
                    <a:pt x="63907" y="6347"/>
                  </a:lnTo>
                  <a:lnTo>
                    <a:pt x="62896" y="5807"/>
                  </a:lnTo>
                  <a:lnTo>
                    <a:pt x="61886" y="5280"/>
                  </a:lnTo>
                  <a:lnTo>
                    <a:pt x="60876" y="4796"/>
                  </a:lnTo>
                  <a:lnTo>
                    <a:pt x="59879" y="4341"/>
                  </a:lnTo>
                  <a:lnTo>
                    <a:pt x="58883" y="3900"/>
                  </a:lnTo>
                  <a:lnTo>
                    <a:pt x="57902" y="3487"/>
                  </a:lnTo>
                  <a:lnTo>
                    <a:pt x="56920" y="3103"/>
                  </a:lnTo>
                  <a:lnTo>
                    <a:pt x="55938" y="2747"/>
                  </a:lnTo>
                  <a:lnTo>
                    <a:pt x="54970" y="2406"/>
                  </a:lnTo>
                  <a:lnTo>
                    <a:pt x="54003" y="2093"/>
                  </a:lnTo>
                  <a:lnTo>
                    <a:pt x="53049" y="1808"/>
                  </a:lnTo>
                  <a:lnTo>
                    <a:pt x="52096" y="1538"/>
                  </a:lnTo>
                  <a:lnTo>
                    <a:pt x="51142" y="1296"/>
                  </a:lnTo>
                  <a:lnTo>
                    <a:pt x="50203" y="1082"/>
                  </a:lnTo>
                  <a:lnTo>
                    <a:pt x="49278" y="883"/>
                  </a:lnTo>
                  <a:lnTo>
                    <a:pt x="48353" y="698"/>
                  </a:lnTo>
                  <a:lnTo>
                    <a:pt x="47428" y="542"/>
                  </a:lnTo>
                  <a:lnTo>
                    <a:pt x="46518" y="413"/>
                  </a:lnTo>
                  <a:lnTo>
                    <a:pt x="45607" y="285"/>
                  </a:lnTo>
                  <a:lnTo>
                    <a:pt x="44710" y="200"/>
                  </a:lnTo>
                  <a:lnTo>
                    <a:pt x="43814" y="115"/>
                  </a:lnTo>
                  <a:lnTo>
                    <a:pt x="42917" y="58"/>
                  </a:lnTo>
                  <a:lnTo>
                    <a:pt x="42049" y="29"/>
                  </a:lnTo>
                  <a:lnTo>
                    <a:pt x="411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p:cNvSpPr/>
            <p:nvPr/>
          </p:nvSpPr>
          <p:spPr>
            <a:xfrm>
              <a:off x="863938" y="3086225"/>
              <a:ext cx="2076150" cy="1071900"/>
            </a:xfrm>
            <a:custGeom>
              <a:avLst/>
              <a:gdLst/>
              <a:ahLst/>
              <a:cxnLst/>
              <a:rect l="l" t="t" r="r" b="b"/>
              <a:pathLst>
                <a:path w="83046" h="42876" fill="none" extrusionOk="0">
                  <a:moveTo>
                    <a:pt x="0" y="21218"/>
                  </a:moveTo>
                  <a:lnTo>
                    <a:pt x="0" y="21218"/>
                  </a:lnTo>
                  <a:lnTo>
                    <a:pt x="413" y="20691"/>
                  </a:lnTo>
                  <a:lnTo>
                    <a:pt x="925" y="20079"/>
                  </a:lnTo>
                  <a:lnTo>
                    <a:pt x="1637" y="19254"/>
                  </a:lnTo>
                  <a:lnTo>
                    <a:pt x="2063" y="18784"/>
                  </a:lnTo>
                  <a:lnTo>
                    <a:pt x="2533" y="18258"/>
                  </a:lnTo>
                  <a:lnTo>
                    <a:pt x="3060" y="17717"/>
                  </a:lnTo>
                  <a:lnTo>
                    <a:pt x="3629" y="17119"/>
                  </a:lnTo>
                  <a:lnTo>
                    <a:pt x="4241" y="16508"/>
                  </a:lnTo>
                  <a:lnTo>
                    <a:pt x="4895" y="15853"/>
                  </a:lnTo>
                  <a:lnTo>
                    <a:pt x="5607" y="15184"/>
                  </a:lnTo>
                  <a:lnTo>
                    <a:pt x="6347" y="14501"/>
                  </a:lnTo>
                  <a:lnTo>
                    <a:pt x="7143" y="13790"/>
                  </a:lnTo>
                  <a:lnTo>
                    <a:pt x="7983" y="13078"/>
                  </a:lnTo>
                  <a:lnTo>
                    <a:pt x="8851" y="12338"/>
                  </a:lnTo>
                  <a:lnTo>
                    <a:pt x="9776" y="11598"/>
                  </a:lnTo>
                  <a:lnTo>
                    <a:pt x="10729" y="10858"/>
                  </a:lnTo>
                  <a:lnTo>
                    <a:pt x="11740" y="10104"/>
                  </a:lnTo>
                  <a:lnTo>
                    <a:pt x="12779" y="9364"/>
                  </a:lnTo>
                  <a:lnTo>
                    <a:pt x="13860" y="8624"/>
                  </a:lnTo>
                  <a:lnTo>
                    <a:pt x="14984" y="7898"/>
                  </a:lnTo>
                  <a:lnTo>
                    <a:pt x="16137" y="7187"/>
                  </a:lnTo>
                  <a:lnTo>
                    <a:pt x="17332" y="6475"/>
                  </a:lnTo>
                  <a:lnTo>
                    <a:pt x="17944" y="6134"/>
                  </a:lnTo>
                  <a:lnTo>
                    <a:pt x="18570" y="5792"/>
                  </a:lnTo>
                  <a:lnTo>
                    <a:pt x="19196" y="5465"/>
                  </a:lnTo>
                  <a:lnTo>
                    <a:pt x="19837" y="5138"/>
                  </a:lnTo>
                  <a:lnTo>
                    <a:pt x="20491" y="4811"/>
                  </a:lnTo>
                  <a:lnTo>
                    <a:pt x="21146" y="4497"/>
                  </a:lnTo>
                  <a:lnTo>
                    <a:pt x="21815" y="4184"/>
                  </a:lnTo>
                  <a:lnTo>
                    <a:pt x="22483" y="3886"/>
                  </a:lnTo>
                  <a:lnTo>
                    <a:pt x="23181" y="3601"/>
                  </a:lnTo>
                  <a:lnTo>
                    <a:pt x="23864" y="3316"/>
                  </a:lnTo>
                  <a:lnTo>
                    <a:pt x="24575" y="3032"/>
                  </a:lnTo>
                  <a:lnTo>
                    <a:pt x="25272" y="2776"/>
                  </a:lnTo>
                  <a:lnTo>
                    <a:pt x="25998" y="2520"/>
                  </a:lnTo>
                  <a:lnTo>
                    <a:pt x="26724" y="2263"/>
                  </a:lnTo>
                  <a:lnTo>
                    <a:pt x="27464" y="2036"/>
                  </a:lnTo>
                  <a:lnTo>
                    <a:pt x="28204" y="1808"/>
                  </a:lnTo>
                  <a:lnTo>
                    <a:pt x="28958" y="1595"/>
                  </a:lnTo>
                  <a:lnTo>
                    <a:pt x="29712" y="1395"/>
                  </a:lnTo>
                  <a:lnTo>
                    <a:pt x="30481" y="1196"/>
                  </a:lnTo>
                  <a:lnTo>
                    <a:pt x="31263" y="1025"/>
                  </a:lnTo>
                  <a:lnTo>
                    <a:pt x="32046" y="855"/>
                  </a:lnTo>
                  <a:lnTo>
                    <a:pt x="32843" y="698"/>
                  </a:lnTo>
                  <a:lnTo>
                    <a:pt x="33640" y="570"/>
                  </a:lnTo>
                  <a:lnTo>
                    <a:pt x="34436" y="442"/>
                  </a:lnTo>
                  <a:lnTo>
                    <a:pt x="35262" y="328"/>
                  </a:lnTo>
                  <a:lnTo>
                    <a:pt x="36087" y="243"/>
                  </a:lnTo>
                  <a:lnTo>
                    <a:pt x="36912" y="157"/>
                  </a:lnTo>
                  <a:lnTo>
                    <a:pt x="37752" y="100"/>
                  </a:lnTo>
                  <a:lnTo>
                    <a:pt x="38592" y="44"/>
                  </a:lnTo>
                  <a:lnTo>
                    <a:pt x="39445" y="15"/>
                  </a:lnTo>
                  <a:lnTo>
                    <a:pt x="40299" y="1"/>
                  </a:lnTo>
                  <a:lnTo>
                    <a:pt x="41167" y="1"/>
                  </a:lnTo>
                  <a:lnTo>
                    <a:pt x="42049" y="29"/>
                  </a:lnTo>
                  <a:lnTo>
                    <a:pt x="42917" y="58"/>
                  </a:lnTo>
                  <a:lnTo>
                    <a:pt x="43814" y="115"/>
                  </a:lnTo>
                  <a:lnTo>
                    <a:pt x="44710" y="200"/>
                  </a:lnTo>
                  <a:lnTo>
                    <a:pt x="45607" y="285"/>
                  </a:lnTo>
                  <a:lnTo>
                    <a:pt x="46518" y="413"/>
                  </a:lnTo>
                  <a:lnTo>
                    <a:pt x="47428" y="542"/>
                  </a:lnTo>
                  <a:lnTo>
                    <a:pt x="48353" y="698"/>
                  </a:lnTo>
                  <a:lnTo>
                    <a:pt x="49278" y="883"/>
                  </a:lnTo>
                  <a:lnTo>
                    <a:pt x="50203" y="1082"/>
                  </a:lnTo>
                  <a:lnTo>
                    <a:pt x="51142" y="1296"/>
                  </a:lnTo>
                  <a:lnTo>
                    <a:pt x="52096" y="1538"/>
                  </a:lnTo>
                  <a:lnTo>
                    <a:pt x="53049" y="1808"/>
                  </a:lnTo>
                  <a:lnTo>
                    <a:pt x="54003" y="2093"/>
                  </a:lnTo>
                  <a:lnTo>
                    <a:pt x="54970" y="2406"/>
                  </a:lnTo>
                  <a:lnTo>
                    <a:pt x="55938" y="2747"/>
                  </a:lnTo>
                  <a:lnTo>
                    <a:pt x="56920" y="3103"/>
                  </a:lnTo>
                  <a:lnTo>
                    <a:pt x="57902" y="3487"/>
                  </a:lnTo>
                  <a:lnTo>
                    <a:pt x="58883" y="3900"/>
                  </a:lnTo>
                  <a:lnTo>
                    <a:pt x="59879" y="4341"/>
                  </a:lnTo>
                  <a:lnTo>
                    <a:pt x="60876" y="4796"/>
                  </a:lnTo>
                  <a:lnTo>
                    <a:pt x="61886" y="5280"/>
                  </a:lnTo>
                  <a:lnTo>
                    <a:pt x="62896" y="5807"/>
                  </a:lnTo>
                  <a:lnTo>
                    <a:pt x="63907" y="6347"/>
                  </a:lnTo>
                  <a:lnTo>
                    <a:pt x="64931" y="6917"/>
                  </a:lnTo>
                  <a:lnTo>
                    <a:pt x="65956" y="7514"/>
                  </a:lnTo>
                  <a:lnTo>
                    <a:pt x="66994" y="8140"/>
                  </a:lnTo>
                  <a:lnTo>
                    <a:pt x="68033" y="8795"/>
                  </a:lnTo>
                  <a:lnTo>
                    <a:pt x="69072" y="9478"/>
                  </a:lnTo>
                  <a:lnTo>
                    <a:pt x="70111" y="10189"/>
                  </a:lnTo>
                  <a:lnTo>
                    <a:pt x="71164" y="10929"/>
                  </a:lnTo>
                  <a:lnTo>
                    <a:pt x="72231" y="11712"/>
                  </a:lnTo>
                  <a:lnTo>
                    <a:pt x="73284" y="12509"/>
                  </a:lnTo>
                  <a:lnTo>
                    <a:pt x="74351" y="13348"/>
                  </a:lnTo>
                  <a:lnTo>
                    <a:pt x="75419" y="14217"/>
                  </a:lnTo>
                  <a:lnTo>
                    <a:pt x="76500" y="15113"/>
                  </a:lnTo>
                  <a:lnTo>
                    <a:pt x="77581" y="16052"/>
                  </a:lnTo>
                  <a:lnTo>
                    <a:pt x="78663" y="17020"/>
                  </a:lnTo>
                  <a:lnTo>
                    <a:pt x="79744" y="18016"/>
                  </a:lnTo>
                  <a:lnTo>
                    <a:pt x="80840" y="19040"/>
                  </a:lnTo>
                  <a:lnTo>
                    <a:pt x="81936" y="20108"/>
                  </a:lnTo>
                  <a:lnTo>
                    <a:pt x="83046" y="21218"/>
                  </a:lnTo>
                  <a:lnTo>
                    <a:pt x="83046" y="21218"/>
                  </a:lnTo>
                  <a:lnTo>
                    <a:pt x="82590" y="21744"/>
                  </a:lnTo>
                  <a:lnTo>
                    <a:pt x="82050" y="22385"/>
                  </a:lnTo>
                  <a:lnTo>
                    <a:pt x="81295" y="23210"/>
                  </a:lnTo>
                  <a:lnTo>
                    <a:pt x="80342" y="24220"/>
                  </a:lnTo>
                  <a:lnTo>
                    <a:pt x="79787" y="24789"/>
                  </a:lnTo>
                  <a:lnTo>
                    <a:pt x="79189" y="25387"/>
                  </a:lnTo>
                  <a:lnTo>
                    <a:pt x="78535" y="26027"/>
                  </a:lnTo>
                  <a:lnTo>
                    <a:pt x="77838" y="26682"/>
                  </a:lnTo>
                  <a:lnTo>
                    <a:pt x="77098" y="27365"/>
                  </a:lnTo>
                  <a:lnTo>
                    <a:pt x="76315" y="28062"/>
                  </a:lnTo>
                  <a:lnTo>
                    <a:pt x="75475" y="28788"/>
                  </a:lnTo>
                  <a:lnTo>
                    <a:pt x="74607" y="29528"/>
                  </a:lnTo>
                  <a:lnTo>
                    <a:pt x="73682" y="30282"/>
                  </a:lnTo>
                  <a:lnTo>
                    <a:pt x="72729" y="31036"/>
                  </a:lnTo>
                  <a:lnTo>
                    <a:pt x="71719" y="31790"/>
                  </a:lnTo>
                  <a:lnTo>
                    <a:pt x="70680" y="32559"/>
                  </a:lnTo>
                  <a:lnTo>
                    <a:pt x="69599" y="33313"/>
                  </a:lnTo>
                  <a:lnTo>
                    <a:pt x="68474" y="34067"/>
                  </a:lnTo>
                  <a:lnTo>
                    <a:pt x="67322" y="34807"/>
                  </a:lnTo>
                  <a:lnTo>
                    <a:pt x="66112" y="35547"/>
                  </a:lnTo>
                  <a:lnTo>
                    <a:pt x="64888" y="36259"/>
                  </a:lnTo>
                  <a:lnTo>
                    <a:pt x="64248" y="36614"/>
                  </a:lnTo>
                  <a:lnTo>
                    <a:pt x="63608" y="36956"/>
                  </a:lnTo>
                  <a:lnTo>
                    <a:pt x="62967" y="37297"/>
                  </a:lnTo>
                  <a:lnTo>
                    <a:pt x="62299" y="37639"/>
                  </a:lnTo>
                  <a:lnTo>
                    <a:pt x="61644" y="37966"/>
                  </a:lnTo>
                  <a:lnTo>
                    <a:pt x="60961" y="38279"/>
                  </a:lnTo>
                  <a:lnTo>
                    <a:pt x="60278" y="38592"/>
                  </a:lnTo>
                  <a:lnTo>
                    <a:pt x="59581" y="38905"/>
                  </a:lnTo>
                  <a:lnTo>
                    <a:pt x="58883" y="39204"/>
                  </a:lnTo>
                  <a:lnTo>
                    <a:pt x="58172" y="39489"/>
                  </a:lnTo>
                  <a:lnTo>
                    <a:pt x="57460" y="39773"/>
                  </a:lnTo>
                  <a:lnTo>
                    <a:pt x="56735" y="40044"/>
                  </a:lnTo>
                  <a:lnTo>
                    <a:pt x="55995" y="40314"/>
                  </a:lnTo>
                  <a:lnTo>
                    <a:pt x="55255" y="40556"/>
                  </a:lnTo>
                  <a:lnTo>
                    <a:pt x="54515" y="40798"/>
                  </a:lnTo>
                  <a:lnTo>
                    <a:pt x="53761" y="41026"/>
                  </a:lnTo>
                  <a:lnTo>
                    <a:pt x="52992" y="41253"/>
                  </a:lnTo>
                  <a:lnTo>
                    <a:pt x="52224" y="41453"/>
                  </a:lnTo>
                  <a:lnTo>
                    <a:pt x="51441" y="41652"/>
                  </a:lnTo>
                  <a:lnTo>
                    <a:pt x="50659" y="41837"/>
                  </a:lnTo>
                  <a:lnTo>
                    <a:pt x="49862" y="42008"/>
                  </a:lnTo>
                  <a:lnTo>
                    <a:pt x="49065" y="42164"/>
                  </a:lnTo>
                  <a:lnTo>
                    <a:pt x="48254" y="42306"/>
                  </a:lnTo>
                  <a:lnTo>
                    <a:pt x="47443" y="42420"/>
                  </a:lnTo>
                  <a:lnTo>
                    <a:pt x="46617" y="42534"/>
                  </a:lnTo>
                  <a:lnTo>
                    <a:pt x="45792" y="42634"/>
                  </a:lnTo>
                  <a:lnTo>
                    <a:pt x="44952" y="42719"/>
                  </a:lnTo>
                  <a:lnTo>
                    <a:pt x="44113" y="42776"/>
                  </a:lnTo>
                  <a:lnTo>
                    <a:pt x="43273" y="42833"/>
                  </a:lnTo>
                  <a:lnTo>
                    <a:pt x="42419" y="42861"/>
                  </a:lnTo>
                  <a:lnTo>
                    <a:pt x="41551" y="42876"/>
                  </a:lnTo>
                  <a:lnTo>
                    <a:pt x="40683" y="42876"/>
                  </a:lnTo>
                  <a:lnTo>
                    <a:pt x="39815" y="42847"/>
                  </a:lnTo>
                  <a:lnTo>
                    <a:pt x="38933" y="42819"/>
                  </a:lnTo>
                  <a:lnTo>
                    <a:pt x="38051" y="42762"/>
                  </a:lnTo>
                  <a:lnTo>
                    <a:pt x="37169" y="42676"/>
                  </a:lnTo>
                  <a:lnTo>
                    <a:pt x="36272" y="42577"/>
                  </a:lnTo>
                  <a:lnTo>
                    <a:pt x="35376" y="42463"/>
                  </a:lnTo>
                  <a:lnTo>
                    <a:pt x="34465" y="42321"/>
                  </a:lnTo>
                  <a:lnTo>
                    <a:pt x="33554" y="42164"/>
                  </a:lnTo>
                  <a:lnTo>
                    <a:pt x="32629" y="41979"/>
                  </a:lnTo>
                  <a:lnTo>
                    <a:pt x="31704" y="41780"/>
                  </a:lnTo>
                  <a:lnTo>
                    <a:pt x="30779" y="41552"/>
                  </a:lnTo>
                  <a:lnTo>
                    <a:pt x="29854" y="41310"/>
                  </a:lnTo>
                  <a:lnTo>
                    <a:pt x="28915" y="41040"/>
                  </a:lnTo>
                  <a:lnTo>
                    <a:pt x="27976" y="40741"/>
                  </a:lnTo>
                  <a:lnTo>
                    <a:pt x="27023" y="40414"/>
                  </a:lnTo>
                  <a:lnTo>
                    <a:pt x="26069" y="40072"/>
                  </a:lnTo>
                  <a:lnTo>
                    <a:pt x="25116" y="39702"/>
                  </a:lnTo>
                  <a:lnTo>
                    <a:pt x="24148" y="39318"/>
                  </a:lnTo>
                  <a:lnTo>
                    <a:pt x="23195" y="38891"/>
                  </a:lnTo>
                  <a:lnTo>
                    <a:pt x="22213" y="38450"/>
                  </a:lnTo>
                  <a:lnTo>
                    <a:pt x="21245" y="37981"/>
                  </a:lnTo>
                  <a:lnTo>
                    <a:pt x="20263" y="37482"/>
                  </a:lnTo>
                  <a:lnTo>
                    <a:pt x="19282" y="36956"/>
                  </a:lnTo>
                  <a:lnTo>
                    <a:pt x="18300" y="36401"/>
                  </a:lnTo>
                  <a:lnTo>
                    <a:pt x="17304" y="35818"/>
                  </a:lnTo>
                  <a:lnTo>
                    <a:pt x="16322" y="35206"/>
                  </a:lnTo>
                  <a:lnTo>
                    <a:pt x="15326" y="34565"/>
                  </a:lnTo>
                  <a:lnTo>
                    <a:pt x="14315" y="33897"/>
                  </a:lnTo>
                  <a:lnTo>
                    <a:pt x="13319" y="33199"/>
                  </a:lnTo>
                  <a:lnTo>
                    <a:pt x="12309" y="32474"/>
                  </a:lnTo>
                  <a:lnTo>
                    <a:pt x="11299" y="31719"/>
                  </a:lnTo>
                  <a:lnTo>
                    <a:pt x="10288" y="30922"/>
                  </a:lnTo>
                  <a:lnTo>
                    <a:pt x="9264" y="30097"/>
                  </a:lnTo>
                  <a:lnTo>
                    <a:pt x="8253" y="29243"/>
                  </a:lnTo>
                  <a:lnTo>
                    <a:pt x="7229" y="28361"/>
                  </a:lnTo>
                  <a:lnTo>
                    <a:pt x="6204" y="27436"/>
                  </a:lnTo>
                  <a:lnTo>
                    <a:pt x="5166" y="26483"/>
                  </a:lnTo>
                  <a:lnTo>
                    <a:pt x="4141" y="25501"/>
                  </a:lnTo>
                  <a:lnTo>
                    <a:pt x="3102" y="24476"/>
                  </a:lnTo>
                  <a:lnTo>
                    <a:pt x="2078" y="23423"/>
                  </a:lnTo>
                  <a:lnTo>
                    <a:pt x="1039" y="22342"/>
                  </a:lnTo>
                  <a:lnTo>
                    <a:pt x="0" y="2121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p:cNvSpPr/>
            <p:nvPr/>
          </p:nvSpPr>
          <p:spPr>
            <a:xfrm>
              <a:off x="1438463" y="3160225"/>
              <a:ext cx="926750" cy="926750"/>
            </a:xfrm>
            <a:custGeom>
              <a:avLst/>
              <a:gdLst/>
              <a:ahLst/>
              <a:cxnLst/>
              <a:rect l="l" t="t" r="r" b="b"/>
              <a:pathLst>
                <a:path w="37070" h="37070" extrusionOk="0">
                  <a:moveTo>
                    <a:pt x="18542" y="1"/>
                  </a:moveTo>
                  <a:lnTo>
                    <a:pt x="18058" y="15"/>
                  </a:lnTo>
                  <a:lnTo>
                    <a:pt x="17589" y="29"/>
                  </a:lnTo>
                  <a:lnTo>
                    <a:pt x="17105" y="58"/>
                  </a:lnTo>
                  <a:lnTo>
                    <a:pt x="16635" y="100"/>
                  </a:lnTo>
                  <a:lnTo>
                    <a:pt x="16180" y="157"/>
                  </a:lnTo>
                  <a:lnTo>
                    <a:pt x="15710" y="214"/>
                  </a:lnTo>
                  <a:lnTo>
                    <a:pt x="15255" y="299"/>
                  </a:lnTo>
                  <a:lnTo>
                    <a:pt x="14799" y="385"/>
                  </a:lnTo>
                  <a:lnTo>
                    <a:pt x="14344" y="484"/>
                  </a:lnTo>
                  <a:lnTo>
                    <a:pt x="13903" y="584"/>
                  </a:lnTo>
                  <a:lnTo>
                    <a:pt x="13462" y="712"/>
                  </a:lnTo>
                  <a:lnTo>
                    <a:pt x="13021" y="840"/>
                  </a:lnTo>
                  <a:lnTo>
                    <a:pt x="12594" y="983"/>
                  </a:lnTo>
                  <a:lnTo>
                    <a:pt x="12167" y="1125"/>
                  </a:lnTo>
                  <a:lnTo>
                    <a:pt x="11740" y="1296"/>
                  </a:lnTo>
                  <a:lnTo>
                    <a:pt x="11327" y="1466"/>
                  </a:lnTo>
                  <a:lnTo>
                    <a:pt x="10915" y="1637"/>
                  </a:lnTo>
                  <a:lnTo>
                    <a:pt x="10502" y="1836"/>
                  </a:lnTo>
                  <a:lnTo>
                    <a:pt x="10104" y="2036"/>
                  </a:lnTo>
                  <a:lnTo>
                    <a:pt x="9705" y="2249"/>
                  </a:lnTo>
                  <a:lnTo>
                    <a:pt x="9307" y="2462"/>
                  </a:lnTo>
                  <a:lnTo>
                    <a:pt x="8923" y="2690"/>
                  </a:lnTo>
                  <a:lnTo>
                    <a:pt x="8553" y="2932"/>
                  </a:lnTo>
                  <a:lnTo>
                    <a:pt x="8168" y="3174"/>
                  </a:lnTo>
                  <a:lnTo>
                    <a:pt x="7813" y="3430"/>
                  </a:lnTo>
                  <a:lnTo>
                    <a:pt x="7443" y="3686"/>
                  </a:lnTo>
                  <a:lnTo>
                    <a:pt x="7101" y="3957"/>
                  </a:lnTo>
                  <a:lnTo>
                    <a:pt x="6745" y="4241"/>
                  </a:lnTo>
                  <a:lnTo>
                    <a:pt x="6404" y="4526"/>
                  </a:lnTo>
                  <a:lnTo>
                    <a:pt x="6077" y="4825"/>
                  </a:lnTo>
                  <a:lnTo>
                    <a:pt x="5749" y="5123"/>
                  </a:lnTo>
                  <a:lnTo>
                    <a:pt x="5436" y="5436"/>
                  </a:lnTo>
                  <a:lnTo>
                    <a:pt x="5123" y="5750"/>
                  </a:lnTo>
                  <a:lnTo>
                    <a:pt x="4824" y="6077"/>
                  </a:lnTo>
                  <a:lnTo>
                    <a:pt x="4525" y="6404"/>
                  </a:lnTo>
                  <a:lnTo>
                    <a:pt x="4241" y="6746"/>
                  </a:lnTo>
                  <a:lnTo>
                    <a:pt x="3956" y="7101"/>
                  </a:lnTo>
                  <a:lnTo>
                    <a:pt x="3686" y="7443"/>
                  </a:lnTo>
                  <a:lnTo>
                    <a:pt x="3430" y="7813"/>
                  </a:lnTo>
                  <a:lnTo>
                    <a:pt x="3174" y="8183"/>
                  </a:lnTo>
                  <a:lnTo>
                    <a:pt x="2918" y="8553"/>
                  </a:lnTo>
                  <a:lnTo>
                    <a:pt x="2690" y="8923"/>
                  </a:lnTo>
                  <a:lnTo>
                    <a:pt x="2462" y="9307"/>
                  </a:lnTo>
                  <a:lnTo>
                    <a:pt x="2234" y="9705"/>
                  </a:lnTo>
                  <a:lnTo>
                    <a:pt x="2035" y="10104"/>
                  </a:lnTo>
                  <a:lnTo>
                    <a:pt x="1836" y="10502"/>
                  </a:lnTo>
                  <a:lnTo>
                    <a:pt x="1637" y="10915"/>
                  </a:lnTo>
                  <a:lnTo>
                    <a:pt x="1466" y="11328"/>
                  </a:lnTo>
                  <a:lnTo>
                    <a:pt x="1295" y="11740"/>
                  </a:lnTo>
                  <a:lnTo>
                    <a:pt x="1125" y="12167"/>
                  </a:lnTo>
                  <a:lnTo>
                    <a:pt x="982" y="12594"/>
                  </a:lnTo>
                  <a:lnTo>
                    <a:pt x="840" y="13021"/>
                  </a:lnTo>
                  <a:lnTo>
                    <a:pt x="712" y="13462"/>
                  </a:lnTo>
                  <a:lnTo>
                    <a:pt x="584" y="13903"/>
                  </a:lnTo>
                  <a:lnTo>
                    <a:pt x="484" y="14359"/>
                  </a:lnTo>
                  <a:lnTo>
                    <a:pt x="385" y="14800"/>
                  </a:lnTo>
                  <a:lnTo>
                    <a:pt x="299" y="15255"/>
                  </a:lnTo>
                  <a:lnTo>
                    <a:pt x="214" y="15710"/>
                  </a:lnTo>
                  <a:lnTo>
                    <a:pt x="157" y="16180"/>
                  </a:lnTo>
                  <a:lnTo>
                    <a:pt x="100" y="16650"/>
                  </a:lnTo>
                  <a:lnTo>
                    <a:pt x="57" y="17105"/>
                  </a:lnTo>
                  <a:lnTo>
                    <a:pt x="29" y="17589"/>
                  </a:lnTo>
                  <a:lnTo>
                    <a:pt x="15" y="18058"/>
                  </a:lnTo>
                  <a:lnTo>
                    <a:pt x="0" y="18542"/>
                  </a:lnTo>
                  <a:lnTo>
                    <a:pt x="15" y="19012"/>
                  </a:lnTo>
                  <a:lnTo>
                    <a:pt x="29" y="19496"/>
                  </a:lnTo>
                  <a:lnTo>
                    <a:pt x="57" y="19965"/>
                  </a:lnTo>
                  <a:lnTo>
                    <a:pt x="100" y="20435"/>
                  </a:lnTo>
                  <a:lnTo>
                    <a:pt x="157" y="20904"/>
                  </a:lnTo>
                  <a:lnTo>
                    <a:pt x="214" y="21360"/>
                  </a:lnTo>
                  <a:lnTo>
                    <a:pt x="299" y="21815"/>
                  </a:lnTo>
                  <a:lnTo>
                    <a:pt x="385" y="22270"/>
                  </a:lnTo>
                  <a:lnTo>
                    <a:pt x="484" y="22726"/>
                  </a:lnTo>
                  <a:lnTo>
                    <a:pt x="584" y="23167"/>
                  </a:lnTo>
                  <a:lnTo>
                    <a:pt x="712" y="23608"/>
                  </a:lnTo>
                  <a:lnTo>
                    <a:pt x="840" y="24049"/>
                  </a:lnTo>
                  <a:lnTo>
                    <a:pt x="982" y="24476"/>
                  </a:lnTo>
                  <a:lnTo>
                    <a:pt x="1125" y="24903"/>
                  </a:lnTo>
                  <a:lnTo>
                    <a:pt x="1295" y="25330"/>
                  </a:lnTo>
                  <a:lnTo>
                    <a:pt x="1466" y="25757"/>
                  </a:lnTo>
                  <a:lnTo>
                    <a:pt x="1637" y="26169"/>
                  </a:lnTo>
                  <a:lnTo>
                    <a:pt x="1836" y="26568"/>
                  </a:lnTo>
                  <a:lnTo>
                    <a:pt x="2035" y="26981"/>
                  </a:lnTo>
                  <a:lnTo>
                    <a:pt x="2234" y="27365"/>
                  </a:lnTo>
                  <a:lnTo>
                    <a:pt x="2462" y="27763"/>
                  </a:lnTo>
                  <a:lnTo>
                    <a:pt x="2690" y="28147"/>
                  </a:lnTo>
                  <a:lnTo>
                    <a:pt x="2918" y="28532"/>
                  </a:lnTo>
                  <a:lnTo>
                    <a:pt x="3174" y="28902"/>
                  </a:lnTo>
                  <a:lnTo>
                    <a:pt x="3430" y="29272"/>
                  </a:lnTo>
                  <a:lnTo>
                    <a:pt x="3686" y="29627"/>
                  </a:lnTo>
                  <a:lnTo>
                    <a:pt x="3956" y="29983"/>
                  </a:lnTo>
                  <a:lnTo>
                    <a:pt x="4241" y="30325"/>
                  </a:lnTo>
                  <a:lnTo>
                    <a:pt x="4525" y="30666"/>
                  </a:lnTo>
                  <a:lnTo>
                    <a:pt x="4824" y="30993"/>
                  </a:lnTo>
                  <a:lnTo>
                    <a:pt x="5123" y="31321"/>
                  </a:lnTo>
                  <a:lnTo>
                    <a:pt x="5436" y="31648"/>
                  </a:lnTo>
                  <a:lnTo>
                    <a:pt x="5749" y="31947"/>
                  </a:lnTo>
                  <a:lnTo>
                    <a:pt x="6077" y="32260"/>
                  </a:lnTo>
                  <a:lnTo>
                    <a:pt x="6404" y="32545"/>
                  </a:lnTo>
                  <a:lnTo>
                    <a:pt x="6745" y="32843"/>
                  </a:lnTo>
                  <a:lnTo>
                    <a:pt x="7101" y="33114"/>
                  </a:lnTo>
                  <a:lnTo>
                    <a:pt x="7443" y="33384"/>
                  </a:lnTo>
                  <a:lnTo>
                    <a:pt x="7813" y="33654"/>
                  </a:lnTo>
                  <a:lnTo>
                    <a:pt x="8168" y="33911"/>
                  </a:lnTo>
                  <a:lnTo>
                    <a:pt x="8553" y="34152"/>
                  </a:lnTo>
                  <a:lnTo>
                    <a:pt x="8923" y="34380"/>
                  </a:lnTo>
                  <a:lnTo>
                    <a:pt x="9307" y="34608"/>
                  </a:lnTo>
                  <a:lnTo>
                    <a:pt x="9705" y="34836"/>
                  </a:lnTo>
                  <a:lnTo>
                    <a:pt x="10104" y="35035"/>
                  </a:lnTo>
                  <a:lnTo>
                    <a:pt x="10502" y="35248"/>
                  </a:lnTo>
                  <a:lnTo>
                    <a:pt x="10915" y="35433"/>
                  </a:lnTo>
                  <a:lnTo>
                    <a:pt x="11327" y="35618"/>
                  </a:lnTo>
                  <a:lnTo>
                    <a:pt x="11740" y="35789"/>
                  </a:lnTo>
                  <a:lnTo>
                    <a:pt x="12167" y="35945"/>
                  </a:lnTo>
                  <a:lnTo>
                    <a:pt x="12594" y="36102"/>
                  </a:lnTo>
                  <a:lnTo>
                    <a:pt x="13021" y="36230"/>
                  </a:lnTo>
                  <a:lnTo>
                    <a:pt x="13462" y="36372"/>
                  </a:lnTo>
                  <a:lnTo>
                    <a:pt x="13903" y="36486"/>
                  </a:lnTo>
                  <a:lnTo>
                    <a:pt x="14344" y="36600"/>
                  </a:lnTo>
                  <a:lnTo>
                    <a:pt x="14799" y="36700"/>
                  </a:lnTo>
                  <a:lnTo>
                    <a:pt x="15255" y="36785"/>
                  </a:lnTo>
                  <a:lnTo>
                    <a:pt x="15710" y="36856"/>
                  </a:lnTo>
                  <a:lnTo>
                    <a:pt x="16180" y="36927"/>
                  </a:lnTo>
                  <a:lnTo>
                    <a:pt x="16635" y="36970"/>
                  </a:lnTo>
                  <a:lnTo>
                    <a:pt x="17105" y="37013"/>
                  </a:lnTo>
                  <a:lnTo>
                    <a:pt x="17589" y="37041"/>
                  </a:lnTo>
                  <a:lnTo>
                    <a:pt x="18058" y="37070"/>
                  </a:lnTo>
                  <a:lnTo>
                    <a:pt x="19012" y="37070"/>
                  </a:lnTo>
                  <a:lnTo>
                    <a:pt x="19495" y="37041"/>
                  </a:lnTo>
                  <a:lnTo>
                    <a:pt x="19965" y="37013"/>
                  </a:lnTo>
                  <a:lnTo>
                    <a:pt x="20435" y="36970"/>
                  </a:lnTo>
                  <a:lnTo>
                    <a:pt x="20890" y="36927"/>
                  </a:lnTo>
                  <a:lnTo>
                    <a:pt x="21359" y="36856"/>
                  </a:lnTo>
                  <a:lnTo>
                    <a:pt x="21815" y="36785"/>
                  </a:lnTo>
                  <a:lnTo>
                    <a:pt x="22270" y="36700"/>
                  </a:lnTo>
                  <a:lnTo>
                    <a:pt x="22726" y="36600"/>
                  </a:lnTo>
                  <a:lnTo>
                    <a:pt x="23167" y="36486"/>
                  </a:lnTo>
                  <a:lnTo>
                    <a:pt x="23608" y="36372"/>
                  </a:lnTo>
                  <a:lnTo>
                    <a:pt x="24049" y="36230"/>
                  </a:lnTo>
                  <a:lnTo>
                    <a:pt x="24476" y="36102"/>
                  </a:lnTo>
                  <a:lnTo>
                    <a:pt x="24903" y="35945"/>
                  </a:lnTo>
                  <a:lnTo>
                    <a:pt x="25330" y="35789"/>
                  </a:lnTo>
                  <a:lnTo>
                    <a:pt x="25742" y="35618"/>
                  </a:lnTo>
                  <a:lnTo>
                    <a:pt x="26169" y="35433"/>
                  </a:lnTo>
                  <a:lnTo>
                    <a:pt x="26568" y="35248"/>
                  </a:lnTo>
                  <a:lnTo>
                    <a:pt x="26966" y="35035"/>
                  </a:lnTo>
                  <a:lnTo>
                    <a:pt x="27364" y="34836"/>
                  </a:lnTo>
                  <a:lnTo>
                    <a:pt x="27763" y="34608"/>
                  </a:lnTo>
                  <a:lnTo>
                    <a:pt x="28147" y="34380"/>
                  </a:lnTo>
                  <a:lnTo>
                    <a:pt x="28531" y="34152"/>
                  </a:lnTo>
                  <a:lnTo>
                    <a:pt x="28901" y="33911"/>
                  </a:lnTo>
                  <a:lnTo>
                    <a:pt x="29257" y="33654"/>
                  </a:lnTo>
                  <a:lnTo>
                    <a:pt x="29627" y="33384"/>
                  </a:lnTo>
                  <a:lnTo>
                    <a:pt x="29983" y="33114"/>
                  </a:lnTo>
                  <a:lnTo>
                    <a:pt x="30324" y="32843"/>
                  </a:lnTo>
                  <a:lnTo>
                    <a:pt x="30666" y="32545"/>
                  </a:lnTo>
                  <a:lnTo>
                    <a:pt x="30993" y="32260"/>
                  </a:lnTo>
                  <a:lnTo>
                    <a:pt x="31320" y="31947"/>
                  </a:lnTo>
                  <a:lnTo>
                    <a:pt x="31633" y="31648"/>
                  </a:lnTo>
                  <a:lnTo>
                    <a:pt x="31946" y="31321"/>
                  </a:lnTo>
                  <a:lnTo>
                    <a:pt x="32260" y="30993"/>
                  </a:lnTo>
                  <a:lnTo>
                    <a:pt x="32544" y="30666"/>
                  </a:lnTo>
                  <a:lnTo>
                    <a:pt x="32843" y="30325"/>
                  </a:lnTo>
                  <a:lnTo>
                    <a:pt x="33113" y="29983"/>
                  </a:lnTo>
                  <a:lnTo>
                    <a:pt x="33384" y="29627"/>
                  </a:lnTo>
                  <a:lnTo>
                    <a:pt x="33654" y="29272"/>
                  </a:lnTo>
                  <a:lnTo>
                    <a:pt x="33896" y="28902"/>
                  </a:lnTo>
                  <a:lnTo>
                    <a:pt x="34152" y="28532"/>
                  </a:lnTo>
                  <a:lnTo>
                    <a:pt x="34380" y="28147"/>
                  </a:lnTo>
                  <a:lnTo>
                    <a:pt x="34607" y="27763"/>
                  </a:lnTo>
                  <a:lnTo>
                    <a:pt x="34835" y="27365"/>
                  </a:lnTo>
                  <a:lnTo>
                    <a:pt x="35034" y="26981"/>
                  </a:lnTo>
                  <a:lnTo>
                    <a:pt x="35234" y="26568"/>
                  </a:lnTo>
                  <a:lnTo>
                    <a:pt x="35433" y="26169"/>
                  </a:lnTo>
                  <a:lnTo>
                    <a:pt x="35618" y="25757"/>
                  </a:lnTo>
                  <a:lnTo>
                    <a:pt x="35789" y="25330"/>
                  </a:lnTo>
                  <a:lnTo>
                    <a:pt x="35945" y="24903"/>
                  </a:lnTo>
                  <a:lnTo>
                    <a:pt x="36087" y="24476"/>
                  </a:lnTo>
                  <a:lnTo>
                    <a:pt x="36230" y="24049"/>
                  </a:lnTo>
                  <a:lnTo>
                    <a:pt x="36358" y="23608"/>
                  </a:lnTo>
                  <a:lnTo>
                    <a:pt x="36486" y="23167"/>
                  </a:lnTo>
                  <a:lnTo>
                    <a:pt x="36600" y="22726"/>
                  </a:lnTo>
                  <a:lnTo>
                    <a:pt x="36685" y="22270"/>
                  </a:lnTo>
                  <a:lnTo>
                    <a:pt x="36785" y="21815"/>
                  </a:lnTo>
                  <a:lnTo>
                    <a:pt x="36856" y="21360"/>
                  </a:lnTo>
                  <a:lnTo>
                    <a:pt x="36913" y="20904"/>
                  </a:lnTo>
                  <a:lnTo>
                    <a:pt x="36970" y="20435"/>
                  </a:lnTo>
                  <a:lnTo>
                    <a:pt x="37012" y="19965"/>
                  </a:lnTo>
                  <a:lnTo>
                    <a:pt x="37041" y="19496"/>
                  </a:lnTo>
                  <a:lnTo>
                    <a:pt x="37055" y="19012"/>
                  </a:lnTo>
                  <a:lnTo>
                    <a:pt x="37069" y="18542"/>
                  </a:lnTo>
                  <a:lnTo>
                    <a:pt x="37055" y="18058"/>
                  </a:lnTo>
                  <a:lnTo>
                    <a:pt x="37041" y="17589"/>
                  </a:lnTo>
                  <a:lnTo>
                    <a:pt x="37012" y="17105"/>
                  </a:lnTo>
                  <a:lnTo>
                    <a:pt x="36970" y="16650"/>
                  </a:lnTo>
                  <a:lnTo>
                    <a:pt x="36913" y="16180"/>
                  </a:lnTo>
                  <a:lnTo>
                    <a:pt x="36856" y="15710"/>
                  </a:lnTo>
                  <a:lnTo>
                    <a:pt x="36785" y="15255"/>
                  </a:lnTo>
                  <a:lnTo>
                    <a:pt x="36685" y="14800"/>
                  </a:lnTo>
                  <a:lnTo>
                    <a:pt x="36600" y="14359"/>
                  </a:lnTo>
                  <a:lnTo>
                    <a:pt x="36486" y="13903"/>
                  </a:lnTo>
                  <a:lnTo>
                    <a:pt x="36358" y="13462"/>
                  </a:lnTo>
                  <a:lnTo>
                    <a:pt x="36230" y="13021"/>
                  </a:lnTo>
                  <a:lnTo>
                    <a:pt x="36087" y="12594"/>
                  </a:lnTo>
                  <a:lnTo>
                    <a:pt x="35945" y="12167"/>
                  </a:lnTo>
                  <a:lnTo>
                    <a:pt x="35789" y="11740"/>
                  </a:lnTo>
                  <a:lnTo>
                    <a:pt x="35618" y="11328"/>
                  </a:lnTo>
                  <a:lnTo>
                    <a:pt x="35433" y="10915"/>
                  </a:lnTo>
                  <a:lnTo>
                    <a:pt x="35234" y="10502"/>
                  </a:lnTo>
                  <a:lnTo>
                    <a:pt x="35034" y="10104"/>
                  </a:lnTo>
                  <a:lnTo>
                    <a:pt x="34835" y="9705"/>
                  </a:lnTo>
                  <a:lnTo>
                    <a:pt x="34607" y="9307"/>
                  </a:lnTo>
                  <a:lnTo>
                    <a:pt x="34380" y="8923"/>
                  </a:lnTo>
                  <a:lnTo>
                    <a:pt x="34152" y="8553"/>
                  </a:lnTo>
                  <a:lnTo>
                    <a:pt x="33896" y="8183"/>
                  </a:lnTo>
                  <a:lnTo>
                    <a:pt x="33654" y="7813"/>
                  </a:lnTo>
                  <a:lnTo>
                    <a:pt x="33384" y="7443"/>
                  </a:lnTo>
                  <a:lnTo>
                    <a:pt x="33113" y="7101"/>
                  </a:lnTo>
                  <a:lnTo>
                    <a:pt x="32843" y="6746"/>
                  </a:lnTo>
                  <a:lnTo>
                    <a:pt x="32544" y="6404"/>
                  </a:lnTo>
                  <a:lnTo>
                    <a:pt x="32260" y="6077"/>
                  </a:lnTo>
                  <a:lnTo>
                    <a:pt x="31946" y="5750"/>
                  </a:lnTo>
                  <a:lnTo>
                    <a:pt x="31633" y="5436"/>
                  </a:lnTo>
                  <a:lnTo>
                    <a:pt x="31320" y="5123"/>
                  </a:lnTo>
                  <a:lnTo>
                    <a:pt x="30993" y="4825"/>
                  </a:lnTo>
                  <a:lnTo>
                    <a:pt x="30666" y="4526"/>
                  </a:lnTo>
                  <a:lnTo>
                    <a:pt x="30324" y="4241"/>
                  </a:lnTo>
                  <a:lnTo>
                    <a:pt x="29983" y="3957"/>
                  </a:lnTo>
                  <a:lnTo>
                    <a:pt x="29627" y="3686"/>
                  </a:lnTo>
                  <a:lnTo>
                    <a:pt x="29257" y="3430"/>
                  </a:lnTo>
                  <a:lnTo>
                    <a:pt x="28901" y="3174"/>
                  </a:lnTo>
                  <a:lnTo>
                    <a:pt x="28531" y="2932"/>
                  </a:lnTo>
                  <a:lnTo>
                    <a:pt x="28147" y="2690"/>
                  </a:lnTo>
                  <a:lnTo>
                    <a:pt x="27763" y="2462"/>
                  </a:lnTo>
                  <a:lnTo>
                    <a:pt x="27364" y="2249"/>
                  </a:lnTo>
                  <a:lnTo>
                    <a:pt x="26966" y="2036"/>
                  </a:lnTo>
                  <a:lnTo>
                    <a:pt x="26568" y="1836"/>
                  </a:lnTo>
                  <a:lnTo>
                    <a:pt x="26169" y="1637"/>
                  </a:lnTo>
                  <a:lnTo>
                    <a:pt x="25742" y="1466"/>
                  </a:lnTo>
                  <a:lnTo>
                    <a:pt x="25330" y="1296"/>
                  </a:lnTo>
                  <a:lnTo>
                    <a:pt x="24903" y="1125"/>
                  </a:lnTo>
                  <a:lnTo>
                    <a:pt x="24476" y="983"/>
                  </a:lnTo>
                  <a:lnTo>
                    <a:pt x="24049" y="840"/>
                  </a:lnTo>
                  <a:lnTo>
                    <a:pt x="23608" y="712"/>
                  </a:lnTo>
                  <a:lnTo>
                    <a:pt x="23167" y="584"/>
                  </a:lnTo>
                  <a:lnTo>
                    <a:pt x="22726" y="484"/>
                  </a:lnTo>
                  <a:lnTo>
                    <a:pt x="22270" y="385"/>
                  </a:lnTo>
                  <a:lnTo>
                    <a:pt x="21815" y="299"/>
                  </a:lnTo>
                  <a:lnTo>
                    <a:pt x="21359" y="214"/>
                  </a:lnTo>
                  <a:lnTo>
                    <a:pt x="20890" y="157"/>
                  </a:lnTo>
                  <a:lnTo>
                    <a:pt x="20435" y="100"/>
                  </a:lnTo>
                  <a:lnTo>
                    <a:pt x="19965" y="58"/>
                  </a:lnTo>
                  <a:lnTo>
                    <a:pt x="19495" y="29"/>
                  </a:lnTo>
                  <a:lnTo>
                    <a:pt x="19012" y="15"/>
                  </a:lnTo>
                  <a:lnTo>
                    <a:pt x="18542" y="1"/>
                  </a:lnTo>
                  <a:close/>
                </a:path>
              </a:pathLst>
            </a:custGeom>
            <a:solidFill>
              <a:srgbClr val="2119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8"/>
            <p:cNvSpPr/>
            <p:nvPr/>
          </p:nvSpPr>
          <p:spPr>
            <a:xfrm>
              <a:off x="1438463" y="3160225"/>
              <a:ext cx="926750" cy="926750"/>
            </a:xfrm>
            <a:custGeom>
              <a:avLst/>
              <a:gdLst/>
              <a:ahLst/>
              <a:cxnLst/>
              <a:rect l="l" t="t" r="r" b="b"/>
              <a:pathLst>
                <a:path w="37070" h="37070" fill="none" extrusionOk="0">
                  <a:moveTo>
                    <a:pt x="37069" y="18542"/>
                  </a:moveTo>
                  <a:lnTo>
                    <a:pt x="37069" y="18542"/>
                  </a:lnTo>
                  <a:lnTo>
                    <a:pt x="37055" y="19012"/>
                  </a:lnTo>
                  <a:lnTo>
                    <a:pt x="37041" y="19496"/>
                  </a:lnTo>
                  <a:lnTo>
                    <a:pt x="37012" y="19965"/>
                  </a:lnTo>
                  <a:lnTo>
                    <a:pt x="36970" y="20435"/>
                  </a:lnTo>
                  <a:lnTo>
                    <a:pt x="36913" y="20904"/>
                  </a:lnTo>
                  <a:lnTo>
                    <a:pt x="36856" y="21360"/>
                  </a:lnTo>
                  <a:lnTo>
                    <a:pt x="36785" y="21815"/>
                  </a:lnTo>
                  <a:lnTo>
                    <a:pt x="36685" y="22270"/>
                  </a:lnTo>
                  <a:lnTo>
                    <a:pt x="36600" y="22726"/>
                  </a:lnTo>
                  <a:lnTo>
                    <a:pt x="36486" y="23167"/>
                  </a:lnTo>
                  <a:lnTo>
                    <a:pt x="36358" y="23608"/>
                  </a:lnTo>
                  <a:lnTo>
                    <a:pt x="36230" y="24049"/>
                  </a:lnTo>
                  <a:lnTo>
                    <a:pt x="36087" y="24476"/>
                  </a:lnTo>
                  <a:lnTo>
                    <a:pt x="35945" y="24903"/>
                  </a:lnTo>
                  <a:lnTo>
                    <a:pt x="35789" y="25330"/>
                  </a:lnTo>
                  <a:lnTo>
                    <a:pt x="35618" y="25757"/>
                  </a:lnTo>
                  <a:lnTo>
                    <a:pt x="35433" y="26169"/>
                  </a:lnTo>
                  <a:lnTo>
                    <a:pt x="35234" y="26568"/>
                  </a:lnTo>
                  <a:lnTo>
                    <a:pt x="35034" y="26981"/>
                  </a:lnTo>
                  <a:lnTo>
                    <a:pt x="34835" y="27365"/>
                  </a:lnTo>
                  <a:lnTo>
                    <a:pt x="34607" y="27763"/>
                  </a:lnTo>
                  <a:lnTo>
                    <a:pt x="34380" y="28147"/>
                  </a:lnTo>
                  <a:lnTo>
                    <a:pt x="34152" y="28532"/>
                  </a:lnTo>
                  <a:lnTo>
                    <a:pt x="33896" y="28902"/>
                  </a:lnTo>
                  <a:lnTo>
                    <a:pt x="33654" y="29272"/>
                  </a:lnTo>
                  <a:lnTo>
                    <a:pt x="33384" y="29627"/>
                  </a:lnTo>
                  <a:lnTo>
                    <a:pt x="33113" y="29983"/>
                  </a:lnTo>
                  <a:lnTo>
                    <a:pt x="32843" y="30325"/>
                  </a:lnTo>
                  <a:lnTo>
                    <a:pt x="32544" y="30666"/>
                  </a:lnTo>
                  <a:lnTo>
                    <a:pt x="32260" y="30993"/>
                  </a:lnTo>
                  <a:lnTo>
                    <a:pt x="31946" y="31321"/>
                  </a:lnTo>
                  <a:lnTo>
                    <a:pt x="31633" y="31648"/>
                  </a:lnTo>
                  <a:lnTo>
                    <a:pt x="31320" y="31947"/>
                  </a:lnTo>
                  <a:lnTo>
                    <a:pt x="30993" y="32260"/>
                  </a:lnTo>
                  <a:lnTo>
                    <a:pt x="30666" y="32545"/>
                  </a:lnTo>
                  <a:lnTo>
                    <a:pt x="30324" y="32843"/>
                  </a:lnTo>
                  <a:lnTo>
                    <a:pt x="29983" y="33114"/>
                  </a:lnTo>
                  <a:lnTo>
                    <a:pt x="29627" y="33384"/>
                  </a:lnTo>
                  <a:lnTo>
                    <a:pt x="29257" y="33654"/>
                  </a:lnTo>
                  <a:lnTo>
                    <a:pt x="28901" y="33911"/>
                  </a:lnTo>
                  <a:lnTo>
                    <a:pt x="28531" y="34152"/>
                  </a:lnTo>
                  <a:lnTo>
                    <a:pt x="28147" y="34380"/>
                  </a:lnTo>
                  <a:lnTo>
                    <a:pt x="27763" y="34608"/>
                  </a:lnTo>
                  <a:lnTo>
                    <a:pt x="27364" y="34836"/>
                  </a:lnTo>
                  <a:lnTo>
                    <a:pt x="26966" y="35035"/>
                  </a:lnTo>
                  <a:lnTo>
                    <a:pt x="26568" y="35248"/>
                  </a:lnTo>
                  <a:lnTo>
                    <a:pt x="26169" y="35433"/>
                  </a:lnTo>
                  <a:lnTo>
                    <a:pt x="25742" y="35618"/>
                  </a:lnTo>
                  <a:lnTo>
                    <a:pt x="25330" y="35789"/>
                  </a:lnTo>
                  <a:lnTo>
                    <a:pt x="24903" y="35945"/>
                  </a:lnTo>
                  <a:lnTo>
                    <a:pt x="24476" y="36102"/>
                  </a:lnTo>
                  <a:lnTo>
                    <a:pt x="24049" y="36230"/>
                  </a:lnTo>
                  <a:lnTo>
                    <a:pt x="23608" y="36372"/>
                  </a:lnTo>
                  <a:lnTo>
                    <a:pt x="23167" y="36486"/>
                  </a:lnTo>
                  <a:lnTo>
                    <a:pt x="22726" y="36600"/>
                  </a:lnTo>
                  <a:lnTo>
                    <a:pt x="22270" y="36700"/>
                  </a:lnTo>
                  <a:lnTo>
                    <a:pt x="21815" y="36785"/>
                  </a:lnTo>
                  <a:lnTo>
                    <a:pt x="21359" y="36856"/>
                  </a:lnTo>
                  <a:lnTo>
                    <a:pt x="20890" y="36927"/>
                  </a:lnTo>
                  <a:lnTo>
                    <a:pt x="20435" y="36970"/>
                  </a:lnTo>
                  <a:lnTo>
                    <a:pt x="19965" y="37013"/>
                  </a:lnTo>
                  <a:lnTo>
                    <a:pt x="19495" y="37041"/>
                  </a:lnTo>
                  <a:lnTo>
                    <a:pt x="19012" y="37070"/>
                  </a:lnTo>
                  <a:lnTo>
                    <a:pt x="18542" y="37070"/>
                  </a:lnTo>
                  <a:lnTo>
                    <a:pt x="18542" y="37070"/>
                  </a:lnTo>
                  <a:lnTo>
                    <a:pt x="18058" y="37070"/>
                  </a:lnTo>
                  <a:lnTo>
                    <a:pt x="17589" y="37041"/>
                  </a:lnTo>
                  <a:lnTo>
                    <a:pt x="17105" y="37013"/>
                  </a:lnTo>
                  <a:lnTo>
                    <a:pt x="16635" y="36970"/>
                  </a:lnTo>
                  <a:lnTo>
                    <a:pt x="16180" y="36927"/>
                  </a:lnTo>
                  <a:lnTo>
                    <a:pt x="15710" y="36856"/>
                  </a:lnTo>
                  <a:lnTo>
                    <a:pt x="15255" y="36785"/>
                  </a:lnTo>
                  <a:lnTo>
                    <a:pt x="14799" y="36700"/>
                  </a:lnTo>
                  <a:lnTo>
                    <a:pt x="14344" y="36600"/>
                  </a:lnTo>
                  <a:lnTo>
                    <a:pt x="13903" y="36486"/>
                  </a:lnTo>
                  <a:lnTo>
                    <a:pt x="13462" y="36372"/>
                  </a:lnTo>
                  <a:lnTo>
                    <a:pt x="13021" y="36230"/>
                  </a:lnTo>
                  <a:lnTo>
                    <a:pt x="12594" y="36102"/>
                  </a:lnTo>
                  <a:lnTo>
                    <a:pt x="12167" y="35945"/>
                  </a:lnTo>
                  <a:lnTo>
                    <a:pt x="11740" y="35789"/>
                  </a:lnTo>
                  <a:lnTo>
                    <a:pt x="11327" y="35618"/>
                  </a:lnTo>
                  <a:lnTo>
                    <a:pt x="10915" y="35433"/>
                  </a:lnTo>
                  <a:lnTo>
                    <a:pt x="10502" y="35248"/>
                  </a:lnTo>
                  <a:lnTo>
                    <a:pt x="10104" y="35035"/>
                  </a:lnTo>
                  <a:lnTo>
                    <a:pt x="9705" y="34836"/>
                  </a:lnTo>
                  <a:lnTo>
                    <a:pt x="9307" y="34608"/>
                  </a:lnTo>
                  <a:lnTo>
                    <a:pt x="8923" y="34380"/>
                  </a:lnTo>
                  <a:lnTo>
                    <a:pt x="8553" y="34152"/>
                  </a:lnTo>
                  <a:lnTo>
                    <a:pt x="8168" y="33911"/>
                  </a:lnTo>
                  <a:lnTo>
                    <a:pt x="7813" y="33654"/>
                  </a:lnTo>
                  <a:lnTo>
                    <a:pt x="7443" y="33384"/>
                  </a:lnTo>
                  <a:lnTo>
                    <a:pt x="7101" y="33114"/>
                  </a:lnTo>
                  <a:lnTo>
                    <a:pt x="6745" y="32843"/>
                  </a:lnTo>
                  <a:lnTo>
                    <a:pt x="6404" y="32545"/>
                  </a:lnTo>
                  <a:lnTo>
                    <a:pt x="6077" y="32260"/>
                  </a:lnTo>
                  <a:lnTo>
                    <a:pt x="5749" y="31947"/>
                  </a:lnTo>
                  <a:lnTo>
                    <a:pt x="5436" y="31648"/>
                  </a:lnTo>
                  <a:lnTo>
                    <a:pt x="5123" y="31321"/>
                  </a:lnTo>
                  <a:lnTo>
                    <a:pt x="4824" y="30993"/>
                  </a:lnTo>
                  <a:lnTo>
                    <a:pt x="4525" y="30666"/>
                  </a:lnTo>
                  <a:lnTo>
                    <a:pt x="4241" y="30325"/>
                  </a:lnTo>
                  <a:lnTo>
                    <a:pt x="3956" y="29983"/>
                  </a:lnTo>
                  <a:lnTo>
                    <a:pt x="3686" y="29627"/>
                  </a:lnTo>
                  <a:lnTo>
                    <a:pt x="3430" y="29272"/>
                  </a:lnTo>
                  <a:lnTo>
                    <a:pt x="3174" y="28902"/>
                  </a:lnTo>
                  <a:lnTo>
                    <a:pt x="2918" y="28532"/>
                  </a:lnTo>
                  <a:lnTo>
                    <a:pt x="2690" y="28147"/>
                  </a:lnTo>
                  <a:lnTo>
                    <a:pt x="2462" y="27763"/>
                  </a:lnTo>
                  <a:lnTo>
                    <a:pt x="2234" y="27365"/>
                  </a:lnTo>
                  <a:lnTo>
                    <a:pt x="2035" y="26981"/>
                  </a:lnTo>
                  <a:lnTo>
                    <a:pt x="1836" y="26568"/>
                  </a:lnTo>
                  <a:lnTo>
                    <a:pt x="1637" y="26169"/>
                  </a:lnTo>
                  <a:lnTo>
                    <a:pt x="1466" y="25757"/>
                  </a:lnTo>
                  <a:lnTo>
                    <a:pt x="1295" y="25330"/>
                  </a:lnTo>
                  <a:lnTo>
                    <a:pt x="1125" y="24903"/>
                  </a:lnTo>
                  <a:lnTo>
                    <a:pt x="982" y="24476"/>
                  </a:lnTo>
                  <a:lnTo>
                    <a:pt x="840" y="24049"/>
                  </a:lnTo>
                  <a:lnTo>
                    <a:pt x="712" y="23608"/>
                  </a:lnTo>
                  <a:lnTo>
                    <a:pt x="584" y="23167"/>
                  </a:lnTo>
                  <a:lnTo>
                    <a:pt x="484" y="22726"/>
                  </a:lnTo>
                  <a:lnTo>
                    <a:pt x="385" y="22270"/>
                  </a:lnTo>
                  <a:lnTo>
                    <a:pt x="299" y="21815"/>
                  </a:lnTo>
                  <a:lnTo>
                    <a:pt x="214" y="21360"/>
                  </a:lnTo>
                  <a:lnTo>
                    <a:pt x="157" y="20904"/>
                  </a:lnTo>
                  <a:lnTo>
                    <a:pt x="100" y="20435"/>
                  </a:lnTo>
                  <a:lnTo>
                    <a:pt x="57" y="19965"/>
                  </a:lnTo>
                  <a:lnTo>
                    <a:pt x="29" y="19496"/>
                  </a:lnTo>
                  <a:lnTo>
                    <a:pt x="15" y="19012"/>
                  </a:lnTo>
                  <a:lnTo>
                    <a:pt x="0" y="18542"/>
                  </a:lnTo>
                  <a:lnTo>
                    <a:pt x="0" y="18542"/>
                  </a:lnTo>
                  <a:lnTo>
                    <a:pt x="15" y="18058"/>
                  </a:lnTo>
                  <a:lnTo>
                    <a:pt x="29" y="17589"/>
                  </a:lnTo>
                  <a:lnTo>
                    <a:pt x="57" y="17105"/>
                  </a:lnTo>
                  <a:lnTo>
                    <a:pt x="100" y="16650"/>
                  </a:lnTo>
                  <a:lnTo>
                    <a:pt x="157" y="16180"/>
                  </a:lnTo>
                  <a:lnTo>
                    <a:pt x="214" y="15710"/>
                  </a:lnTo>
                  <a:lnTo>
                    <a:pt x="299" y="15255"/>
                  </a:lnTo>
                  <a:lnTo>
                    <a:pt x="385" y="14800"/>
                  </a:lnTo>
                  <a:lnTo>
                    <a:pt x="484" y="14359"/>
                  </a:lnTo>
                  <a:lnTo>
                    <a:pt x="584" y="13903"/>
                  </a:lnTo>
                  <a:lnTo>
                    <a:pt x="712" y="13462"/>
                  </a:lnTo>
                  <a:lnTo>
                    <a:pt x="840" y="13021"/>
                  </a:lnTo>
                  <a:lnTo>
                    <a:pt x="982" y="12594"/>
                  </a:lnTo>
                  <a:lnTo>
                    <a:pt x="1125" y="12167"/>
                  </a:lnTo>
                  <a:lnTo>
                    <a:pt x="1295" y="11740"/>
                  </a:lnTo>
                  <a:lnTo>
                    <a:pt x="1466" y="11328"/>
                  </a:lnTo>
                  <a:lnTo>
                    <a:pt x="1637" y="10915"/>
                  </a:lnTo>
                  <a:lnTo>
                    <a:pt x="1836" y="10502"/>
                  </a:lnTo>
                  <a:lnTo>
                    <a:pt x="2035" y="10104"/>
                  </a:lnTo>
                  <a:lnTo>
                    <a:pt x="2234" y="9705"/>
                  </a:lnTo>
                  <a:lnTo>
                    <a:pt x="2462" y="9307"/>
                  </a:lnTo>
                  <a:lnTo>
                    <a:pt x="2690" y="8923"/>
                  </a:lnTo>
                  <a:lnTo>
                    <a:pt x="2918" y="8553"/>
                  </a:lnTo>
                  <a:lnTo>
                    <a:pt x="3174" y="8183"/>
                  </a:lnTo>
                  <a:lnTo>
                    <a:pt x="3430" y="7813"/>
                  </a:lnTo>
                  <a:lnTo>
                    <a:pt x="3686" y="7443"/>
                  </a:lnTo>
                  <a:lnTo>
                    <a:pt x="3956" y="7101"/>
                  </a:lnTo>
                  <a:lnTo>
                    <a:pt x="4241" y="6746"/>
                  </a:lnTo>
                  <a:lnTo>
                    <a:pt x="4525" y="6404"/>
                  </a:lnTo>
                  <a:lnTo>
                    <a:pt x="4824" y="6077"/>
                  </a:lnTo>
                  <a:lnTo>
                    <a:pt x="5123" y="5750"/>
                  </a:lnTo>
                  <a:lnTo>
                    <a:pt x="5436" y="5436"/>
                  </a:lnTo>
                  <a:lnTo>
                    <a:pt x="5749" y="5123"/>
                  </a:lnTo>
                  <a:lnTo>
                    <a:pt x="6077" y="4825"/>
                  </a:lnTo>
                  <a:lnTo>
                    <a:pt x="6404" y="4526"/>
                  </a:lnTo>
                  <a:lnTo>
                    <a:pt x="6745" y="4241"/>
                  </a:lnTo>
                  <a:lnTo>
                    <a:pt x="7101" y="3957"/>
                  </a:lnTo>
                  <a:lnTo>
                    <a:pt x="7443" y="3686"/>
                  </a:lnTo>
                  <a:lnTo>
                    <a:pt x="7813" y="3430"/>
                  </a:lnTo>
                  <a:lnTo>
                    <a:pt x="8168" y="3174"/>
                  </a:lnTo>
                  <a:lnTo>
                    <a:pt x="8553" y="2932"/>
                  </a:lnTo>
                  <a:lnTo>
                    <a:pt x="8923" y="2690"/>
                  </a:lnTo>
                  <a:lnTo>
                    <a:pt x="9307" y="2462"/>
                  </a:lnTo>
                  <a:lnTo>
                    <a:pt x="9705" y="2249"/>
                  </a:lnTo>
                  <a:lnTo>
                    <a:pt x="10104" y="2036"/>
                  </a:lnTo>
                  <a:lnTo>
                    <a:pt x="10502" y="1836"/>
                  </a:lnTo>
                  <a:lnTo>
                    <a:pt x="10915" y="1637"/>
                  </a:lnTo>
                  <a:lnTo>
                    <a:pt x="11327" y="1466"/>
                  </a:lnTo>
                  <a:lnTo>
                    <a:pt x="11740" y="1296"/>
                  </a:lnTo>
                  <a:lnTo>
                    <a:pt x="12167" y="1125"/>
                  </a:lnTo>
                  <a:lnTo>
                    <a:pt x="12594" y="983"/>
                  </a:lnTo>
                  <a:lnTo>
                    <a:pt x="13021" y="840"/>
                  </a:lnTo>
                  <a:lnTo>
                    <a:pt x="13462" y="712"/>
                  </a:lnTo>
                  <a:lnTo>
                    <a:pt x="13903" y="584"/>
                  </a:lnTo>
                  <a:lnTo>
                    <a:pt x="14344" y="484"/>
                  </a:lnTo>
                  <a:lnTo>
                    <a:pt x="14799" y="385"/>
                  </a:lnTo>
                  <a:lnTo>
                    <a:pt x="15255" y="299"/>
                  </a:lnTo>
                  <a:lnTo>
                    <a:pt x="15710" y="214"/>
                  </a:lnTo>
                  <a:lnTo>
                    <a:pt x="16180" y="157"/>
                  </a:lnTo>
                  <a:lnTo>
                    <a:pt x="16635" y="100"/>
                  </a:lnTo>
                  <a:lnTo>
                    <a:pt x="17105" y="58"/>
                  </a:lnTo>
                  <a:lnTo>
                    <a:pt x="17589" y="29"/>
                  </a:lnTo>
                  <a:lnTo>
                    <a:pt x="18058" y="15"/>
                  </a:lnTo>
                  <a:lnTo>
                    <a:pt x="18542" y="1"/>
                  </a:lnTo>
                  <a:lnTo>
                    <a:pt x="18542" y="1"/>
                  </a:lnTo>
                  <a:lnTo>
                    <a:pt x="19012" y="15"/>
                  </a:lnTo>
                  <a:lnTo>
                    <a:pt x="19495" y="29"/>
                  </a:lnTo>
                  <a:lnTo>
                    <a:pt x="19965" y="58"/>
                  </a:lnTo>
                  <a:lnTo>
                    <a:pt x="20435" y="100"/>
                  </a:lnTo>
                  <a:lnTo>
                    <a:pt x="20890" y="157"/>
                  </a:lnTo>
                  <a:lnTo>
                    <a:pt x="21359" y="214"/>
                  </a:lnTo>
                  <a:lnTo>
                    <a:pt x="21815" y="299"/>
                  </a:lnTo>
                  <a:lnTo>
                    <a:pt x="22270" y="385"/>
                  </a:lnTo>
                  <a:lnTo>
                    <a:pt x="22726" y="484"/>
                  </a:lnTo>
                  <a:lnTo>
                    <a:pt x="23167" y="584"/>
                  </a:lnTo>
                  <a:lnTo>
                    <a:pt x="23608" y="712"/>
                  </a:lnTo>
                  <a:lnTo>
                    <a:pt x="24049" y="840"/>
                  </a:lnTo>
                  <a:lnTo>
                    <a:pt x="24476" y="983"/>
                  </a:lnTo>
                  <a:lnTo>
                    <a:pt x="24903" y="1125"/>
                  </a:lnTo>
                  <a:lnTo>
                    <a:pt x="25330" y="1296"/>
                  </a:lnTo>
                  <a:lnTo>
                    <a:pt x="25742" y="1466"/>
                  </a:lnTo>
                  <a:lnTo>
                    <a:pt x="26169" y="1637"/>
                  </a:lnTo>
                  <a:lnTo>
                    <a:pt x="26568" y="1836"/>
                  </a:lnTo>
                  <a:lnTo>
                    <a:pt x="26966" y="2036"/>
                  </a:lnTo>
                  <a:lnTo>
                    <a:pt x="27364" y="2249"/>
                  </a:lnTo>
                  <a:lnTo>
                    <a:pt x="27763" y="2462"/>
                  </a:lnTo>
                  <a:lnTo>
                    <a:pt x="28147" y="2690"/>
                  </a:lnTo>
                  <a:lnTo>
                    <a:pt x="28531" y="2932"/>
                  </a:lnTo>
                  <a:lnTo>
                    <a:pt x="28901" y="3174"/>
                  </a:lnTo>
                  <a:lnTo>
                    <a:pt x="29257" y="3430"/>
                  </a:lnTo>
                  <a:lnTo>
                    <a:pt x="29627" y="3686"/>
                  </a:lnTo>
                  <a:lnTo>
                    <a:pt x="29983" y="3957"/>
                  </a:lnTo>
                  <a:lnTo>
                    <a:pt x="30324" y="4241"/>
                  </a:lnTo>
                  <a:lnTo>
                    <a:pt x="30666" y="4526"/>
                  </a:lnTo>
                  <a:lnTo>
                    <a:pt x="30993" y="4825"/>
                  </a:lnTo>
                  <a:lnTo>
                    <a:pt x="31320" y="5123"/>
                  </a:lnTo>
                  <a:lnTo>
                    <a:pt x="31633" y="5436"/>
                  </a:lnTo>
                  <a:lnTo>
                    <a:pt x="31946" y="5750"/>
                  </a:lnTo>
                  <a:lnTo>
                    <a:pt x="32260" y="6077"/>
                  </a:lnTo>
                  <a:lnTo>
                    <a:pt x="32544" y="6404"/>
                  </a:lnTo>
                  <a:lnTo>
                    <a:pt x="32843" y="6746"/>
                  </a:lnTo>
                  <a:lnTo>
                    <a:pt x="33113" y="7101"/>
                  </a:lnTo>
                  <a:lnTo>
                    <a:pt x="33384" y="7443"/>
                  </a:lnTo>
                  <a:lnTo>
                    <a:pt x="33654" y="7813"/>
                  </a:lnTo>
                  <a:lnTo>
                    <a:pt x="33896" y="8183"/>
                  </a:lnTo>
                  <a:lnTo>
                    <a:pt x="34152" y="8553"/>
                  </a:lnTo>
                  <a:lnTo>
                    <a:pt x="34380" y="8923"/>
                  </a:lnTo>
                  <a:lnTo>
                    <a:pt x="34607" y="9307"/>
                  </a:lnTo>
                  <a:lnTo>
                    <a:pt x="34835" y="9705"/>
                  </a:lnTo>
                  <a:lnTo>
                    <a:pt x="35034" y="10104"/>
                  </a:lnTo>
                  <a:lnTo>
                    <a:pt x="35234" y="10502"/>
                  </a:lnTo>
                  <a:lnTo>
                    <a:pt x="35433" y="10915"/>
                  </a:lnTo>
                  <a:lnTo>
                    <a:pt x="35618" y="11328"/>
                  </a:lnTo>
                  <a:lnTo>
                    <a:pt x="35789" y="11740"/>
                  </a:lnTo>
                  <a:lnTo>
                    <a:pt x="35945" y="12167"/>
                  </a:lnTo>
                  <a:lnTo>
                    <a:pt x="36087" y="12594"/>
                  </a:lnTo>
                  <a:lnTo>
                    <a:pt x="36230" y="13021"/>
                  </a:lnTo>
                  <a:lnTo>
                    <a:pt x="36358" y="13462"/>
                  </a:lnTo>
                  <a:lnTo>
                    <a:pt x="36486" y="13903"/>
                  </a:lnTo>
                  <a:lnTo>
                    <a:pt x="36600" y="14359"/>
                  </a:lnTo>
                  <a:lnTo>
                    <a:pt x="36685" y="14800"/>
                  </a:lnTo>
                  <a:lnTo>
                    <a:pt x="36785" y="15255"/>
                  </a:lnTo>
                  <a:lnTo>
                    <a:pt x="36856" y="15710"/>
                  </a:lnTo>
                  <a:lnTo>
                    <a:pt x="36913" y="16180"/>
                  </a:lnTo>
                  <a:lnTo>
                    <a:pt x="36970" y="16650"/>
                  </a:lnTo>
                  <a:lnTo>
                    <a:pt x="37012" y="17105"/>
                  </a:lnTo>
                  <a:lnTo>
                    <a:pt x="37041" y="17589"/>
                  </a:lnTo>
                  <a:lnTo>
                    <a:pt x="37055" y="18058"/>
                  </a:lnTo>
                  <a:lnTo>
                    <a:pt x="37069" y="1854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8"/>
            <p:cNvSpPr/>
            <p:nvPr/>
          </p:nvSpPr>
          <p:spPr>
            <a:xfrm>
              <a:off x="1577563" y="3298975"/>
              <a:ext cx="649625" cy="649975"/>
            </a:xfrm>
            <a:custGeom>
              <a:avLst/>
              <a:gdLst/>
              <a:ahLst/>
              <a:cxnLst/>
              <a:rect l="l" t="t" r="r" b="b"/>
              <a:pathLst>
                <a:path w="25985" h="25999" extrusionOk="0">
                  <a:moveTo>
                    <a:pt x="13746" y="0"/>
                  </a:moveTo>
                  <a:lnTo>
                    <a:pt x="13604" y="2377"/>
                  </a:lnTo>
                  <a:lnTo>
                    <a:pt x="14145" y="2419"/>
                  </a:lnTo>
                  <a:lnTo>
                    <a:pt x="14401" y="57"/>
                  </a:lnTo>
                  <a:lnTo>
                    <a:pt x="13746" y="0"/>
                  </a:lnTo>
                  <a:close/>
                  <a:moveTo>
                    <a:pt x="11142" y="100"/>
                  </a:moveTo>
                  <a:lnTo>
                    <a:pt x="10815" y="157"/>
                  </a:lnTo>
                  <a:lnTo>
                    <a:pt x="10502" y="214"/>
                  </a:lnTo>
                  <a:lnTo>
                    <a:pt x="10943" y="2547"/>
                  </a:lnTo>
                  <a:lnTo>
                    <a:pt x="11470" y="2462"/>
                  </a:lnTo>
                  <a:lnTo>
                    <a:pt x="11142" y="100"/>
                  </a:lnTo>
                  <a:close/>
                  <a:moveTo>
                    <a:pt x="16948" y="598"/>
                  </a:moveTo>
                  <a:lnTo>
                    <a:pt x="16222" y="2875"/>
                  </a:lnTo>
                  <a:lnTo>
                    <a:pt x="16735" y="3046"/>
                  </a:lnTo>
                  <a:lnTo>
                    <a:pt x="17574" y="811"/>
                  </a:lnTo>
                  <a:lnTo>
                    <a:pt x="16948" y="598"/>
                  </a:lnTo>
                  <a:close/>
                  <a:moveTo>
                    <a:pt x="7997" y="968"/>
                  </a:moveTo>
                  <a:lnTo>
                    <a:pt x="7400" y="1224"/>
                  </a:lnTo>
                  <a:lnTo>
                    <a:pt x="8424" y="3387"/>
                  </a:lnTo>
                  <a:lnTo>
                    <a:pt x="8908" y="3159"/>
                  </a:lnTo>
                  <a:lnTo>
                    <a:pt x="7997" y="968"/>
                  </a:lnTo>
                  <a:close/>
                  <a:moveTo>
                    <a:pt x="19908" y="1978"/>
                  </a:moveTo>
                  <a:lnTo>
                    <a:pt x="18641" y="3999"/>
                  </a:lnTo>
                  <a:lnTo>
                    <a:pt x="19083" y="4298"/>
                  </a:lnTo>
                  <a:lnTo>
                    <a:pt x="20449" y="2334"/>
                  </a:lnTo>
                  <a:lnTo>
                    <a:pt x="19908" y="1978"/>
                  </a:lnTo>
                  <a:close/>
                  <a:moveTo>
                    <a:pt x="5166" y="2576"/>
                  </a:moveTo>
                  <a:lnTo>
                    <a:pt x="4910" y="2775"/>
                  </a:lnTo>
                  <a:lnTo>
                    <a:pt x="4653" y="2989"/>
                  </a:lnTo>
                  <a:lnTo>
                    <a:pt x="6176" y="4810"/>
                  </a:lnTo>
                  <a:lnTo>
                    <a:pt x="6603" y="4483"/>
                  </a:lnTo>
                  <a:lnTo>
                    <a:pt x="5166" y="2576"/>
                  </a:lnTo>
                  <a:close/>
                  <a:moveTo>
                    <a:pt x="22427" y="4056"/>
                  </a:moveTo>
                  <a:lnTo>
                    <a:pt x="20691" y="5692"/>
                  </a:lnTo>
                  <a:lnTo>
                    <a:pt x="21046" y="6091"/>
                  </a:lnTo>
                  <a:lnTo>
                    <a:pt x="22868" y="4525"/>
                  </a:lnTo>
                  <a:lnTo>
                    <a:pt x="22427" y="4056"/>
                  </a:lnTo>
                  <a:close/>
                  <a:moveTo>
                    <a:pt x="2818" y="4838"/>
                  </a:moveTo>
                  <a:lnTo>
                    <a:pt x="2434" y="5365"/>
                  </a:lnTo>
                  <a:lnTo>
                    <a:pt x="4355" y="6760"/>
                  </a:lnTo>
                  <a:lnTo>
                    <a:pt x="4682" y="6333"/>
                  </a:lnTo>
                  <a:lnTo>
                    <a:pt x="2818" y="4838"/>
                  </a:lnTo>
                  <a:close/>
                  <a:moveTo>
                    <a:pt x="24348" y="6674"/>
                  </a:moveTo>
                  <a:lnTo>
                    <a:pt x="22270" y="7841"/>
                  </a:lnTo>
                  <a:lnTo>
                    <a:pt x="22512" y="8311"/>
                  </a:lnTo>
                  <a:lnTo>
                    <a:pt x="24661" y="7258"/>
                  </a:lnTo>
                  <a:lnTo>
                    <a:pt x="24504" y="6959"/>
                  </a:lnTo>
                  <a:lnTo>
                    <a:pt x="24348" y="6674"/>
                  </a:lnTo>
                  <a:close/>
                  <a:moveTo>
                    <a:pt x="1110" y="7628"/>
                  </a:moveTo>
                  <a:lnTo>
                    <a:pt x="854" y="8225"/>
                  </a:lnTo>
                  <a:lnTo>
                    <a:pt x="3074" y="9093"/>
                  </a:lnTo>
                  <a:lnTo>
                    <a:pt x="3287" y="8609"/>
                  </a:lnTo>
                  <a:lnTo>
                    <a:pt x="1110" y="7628"/>
                  </a:lnTo>
                  <a:close/>
                  <a:moveTo>
                    <a:pt x="25557" y="9705"/>
                  </a:moveTo>
                  <a:lnTo>
                    <a:pt x="23252" y="10303"/>
                  </a:lnTo>
                  <a:lnTo>
                    <a:pt x="23380" y="10829"/>
                  </a:lnTo>
                  <a:lnTo>
                    <a:pt x="25714" y="10331"/>
                  </a:lnTo>
                  <a:lnTo>
                    <a:pt x="25557" y="9705"/>
                  </a:lnTo>
                  <a:close/>
                  <a:moveTo>
                    <a:pt x="157" y="10744"/>
                  </a:moveTo>
                  <a:lnTo>
                    <a:pt x="57" y="11384"/>
                  </a:lnTo>
                  <a:lnTo>
                    <a:pt x="2419" y="11683"/>
                  </a:lnTo>
                  <a:lnTo>
                    <a:pt x="2505" y="11142"/>
                  </a:lnTo>
                  <a:lnTo>
                    <a:pt x="157" y="10744"/>
                  </a:lnTo>
                  <a:close/>
                  <a:moveTo>
                    <a:pt x="25557" y="12950"/>
                  </a:moveTo>
                  <a:lnTo>
                    <a:pt x="23593" y="12992"/>
                  </a:lnTo>
                  <a:lnTo>
                    <a:pt x="23579" y="13519"/>
                  </a:lnTo>
                  <a:lnTo>
                    <a:pt x="25970" y="13647"/>
                  </a:lnTo>
                  <a:lnTo>
                    <a:pt x="25984" y="13305"/>
                  </a:lnTo>
                  <a:lnTo>
                    <a:pt x="25984" y="12950"/>
                  </a:lnTo>
                  <a:close/>
                  <a:moveTo>
                    <a:pt x="2377" y="13818"/>
                  </a:moveTo>
                  <a:lnTo>
                    <a:pt x="0" y="13988"/>
                  </a:lnTo>
                  <a:lnTo>
                    <a:pt x="29" y="14316"/>
                  </a:lnTo>
                  <a:lnTo>
                    <a:pt x="71" y="14643"/>
                  </a:lnTo>
                  <a:lnTo>
                    <a:pt x="2434" y="14344"/>
                  </a:lnTo>
                  <a:lnTo>
                    <a:pt x="2377" y="13818"/>
                  </a:lnTo>
                  <a:close/>
                  <a:moveTo>
                    <a:pt x="23266" y="15625"/>
                  </a:moveTo>
                  <a:lnTo>
                    <a:pt x="23124" y="16151"/>
                  </a:lnTo>
                  <a:lnTo>
                    <a:pt x="25401" y="16849"/>
                  </a:lnTo>
                  <a:lnTo>
                    <a:pt x="25571" y="16222"/>
                  </a:lnTo>
                  <a:lnTo>
                    <a:pt x="23266" y="15625"/>
                  </a:lnTo>
                  <a:close/>
                  <a:moveTo>
                    <a:pt x="2917" y="16422"/>
                  </a:moveTo>
                  <a:lnTo>
                    <a:pt x="655" y="17190"/>
                  </a:lnTo>
                  <a:lnTo>
                    <a:pt x="769" y="17489"/>
                  </a:lnTo>
                  <a:lnTo>
                    <a:pt x="883" y="17802"/>
                  </a:lnTo>
                  <a:lnTo>
                    <a:pt x="3102" y="16920"/>
                  </a:lnTo>
                  <a:lnTo>
                    <a:pt x="2917" y="16422"/>
                  </a:lnTo>
                  <a:close/>
                  <a:moveTo>
                    <a:pt x="22284" y="18101"/>
                  </a:moveTo>
                  <a:lnTo>
                    <a:pt x="22014" y="18570"/>
                  </a:lnTo>
                  <a:lnTo>
                    <a:pt x="24049" y="19823"/>
                  </a:lnTo>
                  <a:lnTo>
                    <a:pt x="24220" y="19538"/>
                  </a:lnTo>
                  <a:lnTo>
                    <a:pt x="24376" y="19253"/>
                  </a:lnTo>
                  <a:lnTo>
                    <a:pt x="22284" y="18101"/>
                  </a:lnTo>
                  <a:close/>
                  <a:moveTo>
                    <a:pt x="4084" y="18812"/>
                  </a:moveTo>
                  <a:lnTo>
                    <a:pt x="2092" y="20121"/>
                  </a:lnTo>
                  <a:lnTo>
                    <a:pt x="2462" y="20648"/>
                  </a:lnTo>
                  <a:lnTo>
                    <a:pt x="4383" y="19239"/>
                  </a:lnTo>
                  <a:lnTo>
                    <a:pt x="4084" y="18812"/>
                  </a:lnTo>
                  <a:close/>
                  <a:moveTo>
                    <a:pt x="20719" y="20264"/>
                  </a:moveTo>
                  <a:lnTo>
                    <a:pt x="20349" y="20634"/>
                  </a:lnTo>
                  <a:lnTo>
                    <a:pt x="22000" y="22356"/>
                  </a:lnTo>
                  <a:lnTo>
                    <a:pt x="22455" y="21886"/>
                  </a:lnTo>
                  <a:lnTo>
                    <a:pt x="20719" y="20264"/>
                  </a:lnTo>
                  <a:close/>
                  <a:moveTo>
                    <a:pt x="5806" y="20833"/>
                  </a:moveTo>
                  <a:lnTo>
                    <a:pt x="4198" y="22597"/>
                  </a:lnTo>
                  <a:lnTo>
                    <a:pt x="4696" y="23024"/>
                  </a:lnTo>
                  <a:lnTo>
                    <a:pt x="6204" y="21189"/>
                  </a:lnTo>
                  <a:lnTo>
                    <a:pt x="5806" y="20833"/>
                  </a:lnTo>
                  <a:close/>
                  <a:moveTo>
                    <a:pt x="18670" y="21957"/>
                  </a:moveTo>
                  <a:lnTo>
                    <a:pt x="18215" y="22227"/>
                  </a:lnTo>
                  <a:lnTo>
                    <a:pt x="19396" y="24305"/>
                  </a:lnTo>
                  <a:lnTo>
                    <a:pt x="19951" y="23964"/>
                  </a:lnTo>
                  <a:lnTo>
                    <a:pt x="18670" y="21957"/>
                  </a:lnTo>
                  <a:close/>
                  <a:moveTo>
                    <a:pt x="7983" y="22370"/>
                  </a:moveTo>
                  <a:lnTo>
                    <a:pt x="6859" y="24476"/>
                  </a:lnTo>
                  <a:lnTo>
                    <a:pt x="7442" y="24775"/>
                  </a:lnTo>
                  <a:lnTo>
                    <a:pt x="8453" y="22612"/>
                  </a:lnTo>
                  <a:lnTo>
                    <a:pt x="7983" y="22370"/>
                  </a:lnTo>
                  <a:close/>
                  <a:moveTo>
                    <a:pt x="16265" y="23095"/>
                  </a:moveTo>
                  <a:lnTo>
                    <a:pt x="15753" y="23252"/>
                  </a:lnTo>
                  <a:lnTo>
                    <a:pt x="16379" y="25543"/>
                  </a:lnTo>
                  <a:lnTo>
                    <a:pt x="17005" y="25358"/>
                  </a:lnTo>
                  <a:lnTo>
                    <a:pt x="16265" y="23095"/>
                  </a:lnTo>
                  <a:close/>
                  <a:moveTo>
                    <a:pt x="10473" y="23323"/>
                  </a:moveTo>
                  <a:lnTo>
                    <a:pt x="9904" y="25643"/>
                  </a:lnTo>
                  <a:lnTo>
                    <a:pt x="10545" y="25771"/>
                  </a:lnTo>
                  <a:lnTo>
                    <a:pt x="10986" y="23423"/>
                  </a:lnTo>
                  <a:lnTo>
                    <a:pt x="10473" y="23323"/>
                  </a:lnTo>
                  <a:close/>
                  <a:moveTo>
                    <a:pt x="13647" y="23594"/>
                  </a:moveTo>
                  <a:lnTo>
                    <a:pt x="13120" y="23608"/>
                  </a:lnTo>
                  <a:lnTo>
                    <a:pt x="13149" y="25998"/>
                  </a:lnTo>
                  <a:lnTo>
                    <a:pt x="13803" y="25970"/>
                  </a:lnTo>
                  <a:lnTo>
                    <a:pt x="13647" y="2359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8"/>
            <p:cNvSpPr/>
            <p:nvPr/>
          </p:nvSpPr>
          <p:spPr>
            <a:xfrm>
              <a:off x="1905563" y="3888800"/>
              <a:ext cx="17100" cy="60150"/>
            </a:xfrm>
            <a:custGeom>
              <a:avLst/>
              <a:gdLst/>
              <a:ahLst/>
              <a:cxnLst/>
              <a:rect l="l" t="t" r="r" b="b"/>
              <a:pathLst>
                <a:path w="684" h="2406" fill="none" extrusionOk="0">
                  <a:moveTo>
                    <a:pt x="29" y="2405"/>
                  </a:moveTo>
                  <a:lnTo>
                    <a:pt x="0" y="15"/>
                  </a:lnTo>
                  <a:lnTo>
                    <a:pt x="0" y="15"/>
                  </a:lnTo>
                  <a:lnTo>
                    <a:pt x="527" y="1"/>
                  </a:lnTo>
                  <a:lnTo>
                    <a:pt x="683" y="2377"/>
                  </a:lnTo>
                  <a:lnTo>
                    <a:pt x="683" y="2377"/>
                  </a:lnTo>
                  <a:lnTo>
                    <a:pt x="29" y="24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8"/>
            <p:cNvSpPr/>
            <p:nvPr/>
          </p:nvSpPr>
          <p:spPr>
            <a:xfrm>
              <a:off x="1825163" y="3882050"/>
              <a:ext cx="27050" cy="61200"/>
            </a:xfrm>
            <a:custGeom>
              <a:avLst/>
              <a:gdLst/>
              <a:ahLst/>
              <a:cxnLst/>
              <a:rect l="l" t="t" r="r" b="b"/>
              <a:pathLst>
                <a:path w="1082" h="2448" fill="none" extrusionOk="0">
                  <a:moveTo>
                    <a:pt x="641" y="2448"/>
                  </a:moveTo>
                  <a:lnTo>
                    <a:pt x="641" y="2448"/>
                  </a:lnTo>
                  <a:lnTo>
                    <a:pt x="0" y="2320"/>
                  </a:lnTo>
                  <a:lnTo>
                    <a:pt x="569" y="0"/>
                  </a:lnTo>
                  <a:lnTo>
                    <a:pt x="569" y="0"/>
                  </a:lnTo>
                  <a:lnTo>
                    <a:pt x="1082" y="100"/>
                  </a:lnTo>
                  <a:lnTo>
                    <a:pt x="641" y="244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8"/>
            <p:cNvSpPr/>
            <p:nvPr/>
          </p:nvSpPr>
          <p:spPr>
            <a:xfrm>
              <a:off x="1971363" y="3876350"/>
              <a:ext cx="31325" cy="61225"/>
            </a:xfrm>
            <a:custGeom>
              <a:avLst/>
              <a:gdLst/>
              <a:ahLst/>
              <a:cxnLst/>
              <a:rect l="l" t="t" r="r" b="b"/>
              <a:pathLst>
                <a:path w="1253" h="2449" fill="none" extrusionOk="0">
                  <a:moveTo>
                    <a:pt x="627" y="2448"/>
                  </a:moveTo>
                  <a:lnTo>
                    <a:pt x="1" y="157"/>
                  </a:lnTo>
                  <a:lnTo>
                    <a:pt x="1" y="157"/>
                  </a:lnTo>
                  <a:lnTo>
                    <a:pt x="513" y="0"/>
                  </a:lnTo>
                  <a:lnTo>
                    <a:pt x="1253" y="2263"/>
                  </a:lnTo>
                  <a:lnTo>
                    <a:pt x="1253" y="2263"/>
                  </a:lnTo>
                  <a:lnTo>
                    <a:pt x="627" y="244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8"/>
            <p:cNvSpPr/>
            <p:nvPr/>
          </p:nvSpPr>
          <p:spPr>
            <a:xfrm>
              <a:off x="1749038" y="3858200"/>
              <a:ext cx="39850" cy="60150"/>
            </a:xfrm>
            <a:custGeom>
              <a:avLst/>
              <a:gdLst/>
              <a:ahLst/>
              <a:cxnLst/>
              <a:rect l="l" t="t" r="r" b="b"/>
              <a:pathLst>
                <a:path w="1594" h="2406" fill="none" extrusionOk="0">
                  <a:moveTo>
                    <a:pt x="583" y="2406"/>
                  </a:moveTo>
                  <a:lnTo>
                    <a:pt x="583" y="2406"/>
                  </a:lnTo>
                  <a:lnTo>
                    <a:pt x="0" y="2107"/>
                  </a:lnTo>
                  <a:lnTo>
                    <a:pt x="1124" y="1"/>
                  </a:lnTo>
                  <a:lnTo>
                    <a:pt x="1124" y="1"/>
                  </a:lnTo>
                  <a:lnTo>
                    <a:pt x="1594" y="243"/>
                  </a:lnTo>
                  <a:lnTo>
                    <a:pt x="583" y="24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8"/>
            <p:cNvSpPr/>
            <p:nvPr/>
          </p:nvSpPr>
          <p:spPr>
            <a:xfrm>
              <a:off x="2032913" y="3847900"/>
              <a:ext cx="43425" cy="58725"/>
            </a:xfrm>
            <a:custGeom>
              <a:avLst/>
              <a:gdLst/>
              <a:ahLst/>
              <a:cxnLst/>
              <a:rect l="l" t="t" r="r" b="b"/>
              <a:pathLst>
                <a:path w="1737" h="2349" fill="none" extrusionOk="0">
                  <a:moveTo>
                    <a:pt x="1182" y="2348"/>
                  </a:moveTo>
                  <a:lnTo>
                    <a:pt x="1" y="270"/>
                  </a:lnTo>
                  <a:lnTo>
                    <a:pt x="1" y="270"/>
                  </a:lnTo>
                  <a:lnTo>
                    <a:pt x="456" y="0"/>
                  </a:lnTo>
                  <a:lnTo>
                    <a:pt x="1737" y="2007"/>
                  </a:lnTo>
                  <a:lnTo>
                    <a:pt x="1737" y="2007"/>
                  </a:lnTo>
                  <a:lnTo>
                    <a:pt x="1182" y="234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8"/>
            <p:cNvSpPr/>
            <p:nvPr/>
          </p:nvSpPr>
          <p:spPr>
            <a:xfrm>
              <a:off x="1682513" y="3819775"/>
              <a:ext cx="50175" cy="54825"/>
            </a:xfrm>
            <a:custGeom>
              <a:avLst/>
              <a:gdLst/>
              <a:ahLst/>
              <a:cxnLst/>
              <a:rect l="l" t="t" r="r" b="b"/>
              <a:pathLst>
                <a:path w="2007" h="2193" fill="none" extrusionOk="0">
                  <a:moveTo>
                    <a:pt x="498" y="2192"/>
                  </a:moveTo>
                  <a:lnTo>
                    <a:pt x="498" y="2192"/>
                  </a:lnTo>
                  <a:lnTo>
                    <a:pt x="0" y="1765"/>
                  </a:lnTo>
                  <a:lnTo>
                    <a:pt x="1608" y="1"/>
                  </a:lnTo>
                  <a:lnTo>
                    <a:pt x="1608" y="1"/>
                  </a:lnTo>
                  <a:lnTo>
                    <a:pt x="2006" y="357"/>
                  </a:lnTo>
                  <a:lnTo>
                    <a:pt x="498" y="219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8"/>
            <p:cNvSpPr/>
            <p:nvPr/>
          </p:nvSpPr>
          <p:spPr>
            <a:xfrm>
              <a:off x="2086288" y="3805550"/>
              <a:ext cx="52675" cy="52325"/>
            </a:xfrm>
            <a:custGeom>
              <a:avLst/>
              <a:gdLst/>
              <a:ahLst/>
              <a:cxnLst/>
              <a:rect l="l" t="t" r="r" b="b"/>
              <a:pathLst>
                <a:path w="2107" h="2093" fill="none" extrusionOk="0">
                  <a:moveTo>
                    <a:pt x="1651" y="2093"/>
                  </a:moveTo>
                  <a:lnTo>
                    <a:pt x="0" y="371"/>
                  </a:lnTo>
                  <a:lnTo>
                    <a:pt x="0" y="371"/>
                  </a:lnTo>
                  <a:lnTo>
                    <a:pt x="370" y="1"/>
                  </a:lnTo>
                  <a:lnTo>
                    <a:pt x="2106" y="1623"/>
                  </a:lnTo>
                  <a:lnTo>
                    <a:pt x="2106" y="1623"/>
                  </a:lnTo>
                  <a:lnTo>
                    <a:pt x="1651" y="20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8"/>
            <p:cNvSpPr/>
            <p:nvPr/>
          </p:nvSpPr>
          <p:spPr>
            <a:xfrm>
              <a:off x="1629863" y="3769275"/>
              <a:ext cx="57300" cy="45900"/>
            </a:xfrm>
            <a:custGeom>
              <a:avLst/>
              <a:gdLst/>
              <a:ahLst/>
              <a:cxnLst/>
              <a:rect l="l" t="t" r="r" b="b"/>
              <a:pathLst>
                <a:path w="2292" h="1836" fill="none" extrusionOk="0">
                  <a:moveTo>
                    <a:pt x="370" y="1836"/>
                  </a:moveTo>
                  <a:lnTo>
                    <a:pt x="370" y="1836"/>
                  </a:lnTo>
                  <a:lnTo>
                    <a:pt x="0" y="1309"/>
                  </a:lnTo>
                  <a:lnTo>
                    <a:pt x="1992" y="0"/>
                  </a:lnTo>
                  <a:lnTo>
                    <a:pt x="1992" y="0"/>
                  </a:lnTo>
                  <a:lnTo>
                    <a:pt x="2291" y="427"/>
                  </a:lnTo>
                  <a:lnTo>
                    <a:pt x="370" y="183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8"/>
            <p:cNvSpPr/>
            <p:nvPr/>
          </p:nvSpPr>
          <p:spPr>
            <a:xfrm>
              <a:off x="2127888" y="3751475"/>
              <a:ext cx="59100" cy="43075"/>
            </a:xfrm>
            <a:custGeom>
              <a:avLst/>
              <a:gdLst/>
              <a:ahLst/>
              <a:cxnLst/>
              <a:rect l="l" t="t" r="r" b="b"/>
              <a:pathLst>
                <a:path w="2364" h="1723" fill="none" extrusionOk="0">
                  <a:moveTo>
                    <a:pt x="2036" y="1723"/>
                  </a:moveTo>
                  <a:lnTo>
                    <a:pt x="1" y="470"/>
                  </a:lnTo>
                  <a:lnTo>
                    <a:pt x="1" y="470"/>
                  </a:lnTo>
                  <a:lnTo>
                    <a:pt x="271" y="1"/>
                  </a:lnTo>
                  <a:lnTo>
                    <a:pt x="2363" y="1153"/>
                  </a:lnTo>
                  <a:lnTo>
                    <a:pt x="2363" y="1153"/>
                  </a:lnTo>
                  <a:lnTo>
                    <a:pt x="2207" y="1438"/>
                  </a:lnTo>
                  <a:lnTo>
                    <a:pt x="2036" y="172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8"/>
            <p:cNvSpPr/>
            <p:nvPr/>
          </p:nvSpPr>
          <p:spPr>
            <a:xfrm>
              <a:off x="1593913" y="3709500"/>
              <a:ext cx="61225" cy="34525"/>
            </a:xfrm>
            <a:custGeom>
              <a:avLst/>
              <a:gdLst/>
              <a:ahLst/>
              <a:cxnLst/>
              <a:rect l="l" t="t" r="r" b="b"/>
              <a:pathLst>
                <a:path w="2449" h="1381" fill="none" extrusionOk="0">
                  <a:moveTo>
                    <a:pt x="229" y="1381"/>
                  </a:moveTo>
                  <a:lnTo>
                    <a:pt x="229" y="1381"/>
                  </a:lnTo>
                  <a:lnTo>
                    <a:pt x="115" y="1068"/>
                  </a:lnTo>
                  <a:lnTo>
                    <a:pt x="1" y="769"/>
                  </a:lnTo>
                  <a:lnTo>
                    <a:pt x="2263" y="1"/>
                  </a:lnTo>
                  <a:lnTo>
                    <a:pt x="2263" y="1"/>
                  </a:lnTo>
                  <a:lnTo>
                    <a:pt x="2448" y="499"/>
                  </a:lnTo>
                  <a:lnTo>
                    <a:pt x="229" y="138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8"/>
            <p:cNvSpPr/>
            <p:nvPr/>
          </p:nvSpPr>
          <p:spPr>
            <a:xfrm>
              <a:off x="2155638" y="3689575"/>
              <a:ext cx="61225" cy="30625"/>
            </a:xfrm>
            <a:custGeom>
              <a:avLst/>
              <a:gdLst/>
              <a:ahLst/>
              <a:cxnLst/>
              <a:rect l="l" t="t" r="r" b="b"/>
              <a:pathLst>
                <a:path w="2449" h="1225" fill="none" extrusionOk="0">
                  <a:moveTo>
                    <a:pt x="2278" y="1225"/>
                  </a:moveTo>
                  <a:lnTo>
                    <a:pt x="1" y="527"/>
                  </a:lnTo>
                  <a:lnTo>
                    <a:pt x="1" y="527"/>
                  </a:lnTo>
                  <a:lnTo>
                    <a:pt x="143" y="1"/>
                  </a:lnTo>
                  <a:lnTo>
                    <a:pt x="2448" y="598"/>
                  </a:lnTo>
                  <a:lnTo>
                    <a:pt x="2448" y="598"/>
                  </a:lnTo>
                  <a:lnTo>
                    <a:pt x="2278" y="122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8"/>
            <p:cNvSpPr/>
            <p:nvPr/>
          </p:nvSpPr>
          <p:spPr>
            <a:xfrm>
              <a:off x="1577563" y="3644400"/>
              <a:ext cx="60850" cy="20650"/>
            </a:xfrm>
            <a:custGeom>
              <a:avLst/>
              <a:gdLst/>
              <a:ahLst/>
              <a:cxnLst/>
              <a:rect l="l" t="t" r="r" b="b"/>
              <a:pathLst>
                <a:path w="2434" h="826" fill="none" extrusionOk="0">
                  <a:moveTo>
                    <a:pt x="71" y="826"/>
                  </a:moveTo>
                  <a:lnTo>
                    <a:pt x="71" y="826"/>
                  </a:lnTo>
                  <a:lnTo>
                    <a:pt x="29" y="499"/>
                  </a:lnTo>
                  <a:lnTo>
                    <a:pt x="0" y="171"/>
                  </a:lnTo>
                  <a:lnTo>
                    <a:pt x="2377" y="1"/>
                  </a:lnTo>
                  <a:lnTo>
                    <a:pt x="2377" y="1"/>
                  </a:lnTo>
                  <a:lnTo>
                    <a:pt x="2434" y="527"/>
                  </a:lnTo>
                  <a:lnTo>
                    <a:pt x="71" y="82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8"/>
            <p:cNvSpPr/>
            <p:nvPr/>
          </p:nvSpPr>
          <p:spPr>
            <a:xfrm>
              <a:off x="2167038" y="3622700"/>
              <a:ext cx="60150" cy="17450"/>
            </a:xfrm>
            <a:custGeom>
              <a:avLst/>
              <a:gdLst/>
              <a:ahLst/>
              <a:cxnLst/>
              <a:rect l="l" t="t" r="r" b="b"/>
              <a:pathLst>
                <a:path w="2406" h="698" fill="none" extrusionOk="0">
                  <a:moveTo>
                    <a:pt x="2391" y="698"/>
                  </a:moveTo>
                  <a:lnTo>
                    <a:pt x="0" y="570"/>
                  </a:lnTo>
                  <a:lnTo>
                    <a:pt x="0" y="570"/>
                  </a:lnTo>
                  <a:lnTo>
                    <a:pt x="14" y="43"/>
                  </a:lnTo>
                  <a:lnTo>
                    <a:pt x="1978" y="1"/>
                  </a:lnTo>
                  <a:lnTo>
                    <a:pt x="2405" y="1"/>
                  </a:lnTo>
                  <a:lnTo>
                    <a:pt x="2405" y="1"/>
                  </a:lnTo>
                  <a:lnTo>
                    <a:pt x="2405" y="356"/>
                  </a:lnTo>
                  <a:lnTo>
                    <a:pt x="2391" y="69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8"/>
            <p:cNvSpPr/>
            <p:nvPr/>
          </p:nvSpPr>
          <p:spPr>
            <a:xfrm>
              <a:off x="1578988" y="3567550"/>
              <a:ext cx="61200" cy="23525"/>
            </a:xfrm>
            <a:custGeom>
              <a:avLst/>
              <a:gdLst/>
              <a:ahLst/>
              <a:cxnLst/>
              <a:rect l="l" t="t" r="r" b="b"/>
              <a:pathLst>
                <a:path w="2448" h="941" fill="none" extrusionOk="0">
                  <a:moveTo>
                    <a:pt x="2362" y="940"/>
                  </a:moveTo>
                  <a:lnTo>
                    <a:pt x="0" y="641"/>
                  </a:lnTo>
                  <a:lnTo>
                    <a:pt x="0" y="641"/>
                  </a:lnTo>
                  <a:lnTo>
                    <a:pt x="100" y="1"/>
                  </a:lnTo>
                  <a:lnTo>
                    <a:pt x="2448" y="399"/>
                  </a:lnTo>
                  <a:lnTo>
                    <a:pt x="2448" y="399"/>
                  </a:lnTo>
                  <a:lnTo>
                    <a:pt x="2362" y="94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8"/>
            <p:cNvSpPr/>
            <p:nvPr/>
          </p:nvSpPr>
          <p:spPr>
            <a:xfrm>
              <a:off x="2158838" y="3541600"/>
              <a:ext cx="61575" cy="28125"/>
            </a:xfrm>
            <a:custGeom>
              <a:avLst/>
              <a:gdLst/>
              <a:ahLst/>
              <a:cxnLst/>
              <a:rect l="l" t="t" r="r" b="b"/>
              <a:pathLst>
                <a:path w="2463" h="1125" fill="none" extrusionOk="0">
                  <a:moveTo>
                    <a:pt x="129" y="1124"/>
                  </a:moveTo>
                  <a:lnTo>
                    <a:pt x="129" y="1124"/>
                  </a:lnTo>
                  <a:lnTo>
                    <a:pt x="1" y="598"/>
                  </a:lnTo>
                  <a:lnTo>
                    <a:pt x="2306" y="0"/>
                  </a:lnTo>
                  <a:lnTo>
                    <a:pt x="2306" y="0"/>
                  </a:lnTo>
                  <a:lnTo>
                    <a:pt x="2463" y="626"/>
                  </a:lnTo>
                  <a:lnTo>
                    <a:pt x="129" y="112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8"/>
            <p:cNvSpPr/>
            <p:nvPr/>
          </p:nvSpPr>
          <p:spPr>
            <a:xfrm>
              <a:off x="1598913" y="3489650"/>
              <a:ext cx="60850" cy="36675"/>
            </a:xfrm>
            <a:custGeom>
              <a:avLst/>
              <a:gdLst/>
              <a:ahLst/>
              <a:cxnLst/>
              <a:rect l="l" t="t" r="r" b="b"/>
              <a:pathLst>
                <a:path w="2434" h="1467" fill="none" extrusionOk="0">
                  <a:moveTo>
                    <a:pt x="2220" y="1466"/>
                  </a:moveTo>
                  <a:lnTo>
                    <a:pt x="0" y="598"/>
                  </a:lnTo>
                  <a:lnTo>
                    <a:pt x="0" y="598"/>
                  </a:lnTo>
                  <a:lnTo>
                    <a:pt x="256" y="1"/>
                  </a:lnTo>
                  <a:lnTo>
                    <a:pt x="2433" y="982"/>
                  </a:lnTo>
                  <a:lnTo>
                    <a:pt x="2433" y="982"/>
                  </a:lnTo>
                  <a:lnTo>
                    <a:pt x="2220" y="14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8"/>
            <p:cNvSpPr/>
            <p:nvPr/>
          </p:nvSpPr>
          <p:spPr>
            <a:xfrm>
              <a:off x="2134313" y="3465825"/>
              <a:ext cx="59775" cy="40925"/>
            </a:xfrm>
            <a:custGeom>
              <a:avLst/>
              <a:gdLst/>
              <a:ahLst/>
              <a:cxnLst/>
              <a:rect l="l" t="t" r="r" b="b"/>
              <a:pathLst>
                <a:path w="2391" h="1637" fill="none" extrusionOk="0">
                  <a:moveTo>
                    <a:pt x="242" y="1637"/>
                  </a:moveTo>
                  <a:lnTo>
                    <a:pt x="242" y="1637"/>
                  </a:lnTo>
                  <a:lnTo>
                    <a:pt x="0" y="1167"/>
                  </a:lnTo>
                  <a:lnTo>
                    <a:pt x="2078" y="0"/>
                  </a:lnTo>
                  <a:lnTo>
                    <a:pt x="2078" y="0"/>
                  </a:lnTo>
                  <a:lnTo>
                    <a:pt x="2234" y="285"/>
                  </a:lnTo>
                  <a:lnTo>
                    <a:pt x="2391" y="584"/>
                  </a:lnTo>
                  <a:lnTo>
                    <a:pt x="242" y="163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8"/>
            <p:cNvSpPr/>
            <p:nvPr/>
          </p:nvSpPr>
          <p:spPr>
            <a:xfrm>
              <a:off x="1638388" y="3419925"/>
              <a:ext cx="56225" cy="48050"/>
            </a:xfrm>
            <a:custGeom>
              <a:avLst/>
              <a:gdLst/>
              <a:ahLst/>
              <a:cxnLst/>
              <a:rect l="l" t="t" r="r" b="b"/>
              <a:pathLst>
                <a:path w="2249" h="1922" fill="none" extrusionOk="0">
                  <a:moveTo>
                    <a:pt x="1922" y="1922"/>
                  </a:moveTo>
                  <a:lnTo>
                    <a:pt x="1" y="527"/>
                  </a:lnTo>
                  <a:lnTo>
                    <a:pt x="1" y="527"/>
                  </a:lnTo>
                  <a:lnTo>
                    <a:pt x="385" y="0"/>
                  </a:lnTo>
                  <a:lnTo>
                    <a:pt x="2249" y="1495"/>
                  </a:lnTo>
                  <a:lnTo>
                    <a:pt x="2249" y="1495"/>
                  </a:lnTo>
                  <a:lnTo>
                    <a:pt x="1922" y="19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8"/>
            <p:cNvSpPr/>
            <p:nvPr/>
          </p:nvSpPr>
          <p:spPr>
            <a:xfrm>
              <a:off x="2094813" y="3400350"/>
              <a:ext cx="54450" cy="50900"/>
            </a:xfrm>
            <a:custGeom>
              <a:avLst/>
              <a:gdLst/>
              <a:ahLst/>
              <a:cxnLst/>
              <a:rect l="l" t="t" r="r" b="b"/>
              <a:pathLst>
                <a:path w="2178" h="2036" fill="none" extrusionOk="0">
                  <a:moveTo>
                    <a:pt x="356" y="2036"/>
                  </a:moveTo>
                  <a:lnTo>
                    <a:pt x="356" y="2036"/>
                  </a:lnTo>
                  <a:lnTo>
                    <a:pt x="1" y="1637"/>
                  </a:lnTo>
                  <a:lnTo>
                    <a:pt x="1737" y="1"/>
                  </a:lnTo>
                  <a:lnTo>
                    <a:pt x="1737" y="1"/>
                  </a:lnTo>
                  <a:lnTo>
                    <a:pt x="2178" y="470"/>
                  </a:lnTo>
                  <a:lnTo>
                    <a:pt x="356" y="203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8"/>
            <p:cNvSpPr/>
            <p:nvPr/>
          </p:nvSpPr>
          <p:spPr>
            <a:xfrm>
              <a:off x="1693888" y="3363350"/>
              <a:ext cx="48750" cy="55900"/>
            </a:xfrm>
            <a:custGeom>
              <a:avLst/>
              <a:gdLst/>
              <a:ahLst/>
              <a:cxnLst/>
              <a:rect l="l" t="t" r="r" b="b"/>
              <a:pathLst>
                <a:path w="1950" h="2236" fill="none" extrusionOk="0">
                  <a:moveTo>
                    <a:pt x="1523" y="2235"/>
                  </a:moveTo>
                  <a:lnTo>
                    <a:pt x="0" y="414"/>
                  </a:lnTo>
                  <a:lnTo>
                    <a:pt x="0" y="414"/>
                  </a:lnTo>
                  <a:lnTo>
                    <a:pt x="257" y="200"/>
                  </a:lnTo>
                  <a:lnTo>
                    <a:pt x="513" y="1"/>
                  </a:lnTo>
                  <a:lnTo>
                    <a:pt x="1950" y="1908"/>
                  </a:lnTo>
                  <a:lnTo>
                    <a:pt x="1950" y="1908"/>
                  </a:lnTo>
                  <a:lnTo>
                    <a:pt x="1523" y="223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8"/>
            <p:cNvSpPr/>
            <p:nvPr/>
          </p:nvSpPr>
          <p:spPr>
            <a:xfrm>
              <a:off x="2043588" y="3348425"/>
              <a:ext cx="45200" cy="58000"/>
            </a:xfrm>
            <a:custGeom>
              <a:avLst/>
              <a:gdLst/>
              <a:ahLst/>
              <a:cxnLst/>
              <a:rect l="l" t="t" r="r" b="b"/>
              <a:pathLst>
                <a:path w="1808" h="2320" fill="none" extrusionOk="0">
                  <a:moveTo>
                    <a:pt x="442" y="2320"/>
                  </a:moveTo>
                  <a:lnTo>
                    <a:pt x="442" y="2320"/>
                  </a:lnTo>
                  <a:lnTo>
                    <a:pt x="0" y="2021"/>
                  </a:lnTo>
                  <a:lnTo>
                    <a:pt x="1267" y="0"/>
                  </a:lnTo>
                  <a:lnTo>
                    <a:pt x="1267" y="0"/>
                  </a:lnTo>
                  <a:lnTo>
                    <a:pt x="1808" y="356"/>
                  </a:lnTo>
                  <a:lnTo>
                    <a:pt x="442" y="23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8"/>
            <p:cNvSpPr/>
            <p:nvPr/>
          </p:nvSpPr>
          <p:spPr>
            <a:xfrm>
              <a:off x="1762538" y="3323150"/>
              <a:ext cx="37750" cy="60525"/>
            </a:xfrm>
            <a:custGeom>
              <a:avLst/>
              <a:gdLst/>
              <a:ahLst/>
              <a:cxnLst/>
              <a:rect l="l" t="t" r="r" b="b"/>
              <a:pathLst>
                <a:path w="1510" h="2421" fill="none" extrusionOk="0">
                  <a:moveTo>
                    <a:pt x="1025" y="2420"/>
                  </a:moveTo>
                  <a:lnTo>
                    <a:pt x="1" y="257"/>
                  </a:lnTo>
                  <a:lnTo>
                    <a:pt x="1" y="257"/>
                  </a:lnTo>
                  <a:lnTo>
                    <a:pt x="598" y="1"/>
                  </a:lnTo>
                  <a:lnTo>
                    <a:pt x="1509" y="2192"/>
                  </a:lnTo>
                  <a:lnTo>
                    <a:pt x="1509" y="2192"/>
                  </a:lnTo>
                  <a:lnTo>
                    <a:pt x="1025" y="24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8"/>
            <p:cNvSpPr/>
            <p:nvPr/>
          </p:nvSpPr>
          <p:spPr>
            <a:xfrm>
              <a:off x="1983113" y="3313900"/>
              <a:ext cx="33825" cy="61225"/>
            </a:xfrm>
            <a:custGeom>
              <a:avLst/>
              <a:gdLst/>
              <a:ahLst/>
              <a:cxnLst/>
              <a:rect l="l" t="t" r="r" b="b"/>
              <a:pathLst>
                <a:path w="1353" h="2449" fill="none" extrusionOk="0">
                  <a:moveTo>
                    <a:pt x="513" y="2449"/>
                  </a:moveTo>
                  <a:lnTo>
                    <a:pt x="513" y="2449"/>
                  </a:lnTo>
                  <a:lnTo>
                    <a:pt x="0" y="2278"/>
                  </a:lnTo>
                  <a:lnTo>
                    <a:pt x="726" y="1"/>
                  </a:lnTo>
                  <a:lnTo>
                    <a:pt x="726" y="1"/>
                  </a:lnTo>
                  <a:lnTo>
                    <a:pt x="1352" y="214"/>
                  </a:lnTo>
                  <a:lnTo>
                    <a:pt x="513" y="244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8"/>
            <p:cNvSpPr/>
            <p:nvPr/>
          </p:nvSpPr>
          <p:spPr>
            <a:xfrm>
              <a:off x="1840088" y="3301450"/>
              <a:ext cx="24225" cy="61225"/>
            </a:xfrm>
            <a:custGeom>
              <a:avLst/>
              <a:gdLst/>
              <a:ahLst/>
              <a:cxnLst/>
              <a:rect l="l" t="t" r="r" b="b"/>
              <a:pathLst>
                <a:path w="969" h="2449" fill="none" extrusionOk="0">
                  <a:moveTo>
                    <a:pt x="442" y="2448"/>
                  </a:moveTo>
                  <a:lnTo>
                    <a:pt x="1" y="115"/>
                  </a:lnTo>
                  <a:lnTo>
                    <a:pt x="1" y="115"/>
                  </a:lnTo>
                  <a:lnTo>
                    <a:pt x="314" y="58"/>
                  </a:lnTo>
                  <a:lnTo>
                    <a:pt x="641" y="1"/>
                  </a:lnTo>
                  <a:lnTo>
                    <a:pt x="969" y="2363"/>
                  </a:lnTo>
                  <a:lnTo>
                    <a:pt x="969" y="2363"/>
                  </a:lnTo>
                  <a:lnTo>
                    <a:pt x="442" y="244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8"/>
            <p:cNvSpPr/>
            <p:nvPr/>
          </p:nvSpPr>
          <p:spPr>
            <a:xfrm>
              <a:off x="1917663" y="3298975"/>
              <a:ext cx="19925" cy="60500"/>
            </a:xfrm>
            <a:custGeom>
              <a:avLst/>
              <a:gdLst/>
              <a:ahLst/>
              <a:cxnLst/>
              <a:rect l="l" t="t" r="r" b="b"/>
              <a:pathLst>
                <a:path w="797" h="2420" fill="none" extrusionOk="0">
                  <a:moveTo>
                    <a:pt x="541" y="2419"/>
                  </a:moveTo>
                  <a:lnTo>
                    <a:pt x="541" y="2419"/>
                  </a:lnTo>
                  <a:lnTo>
                    <a:pt x="0" y="2377"/>
                  </a:lnTo>
                  <a:lnTo>
                    <a:pt x="142" y="0"/>
                  </a:lnTo>
                  <a:lnTo>
                    <a:pt x="142" y="0"/>
                  </a:lnTo>
                  <a:lnTo>
                    <a:pt x="797" y="57"/>
                  </a:lnTo>
                  <a:lnTo>
                    <a:pt x="541" y="24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8"/>
            <p:cNvSpPr/>
            <p:nvPr/>
          </p:nvSpPr>
          <p:spPr>
            <a:xfrm>
              <a:off x="851113" y="2915825"/>
              <a:ext cx="557500" cy="412350"/>
            </a:xfrm>
            <a:custGeom>
              <a:avLst/>
              <a:gdLst/>
              <a:ahLst/>
              <a:cxnLst/>
              <a:rect l="l" t="t" r="r" b="b"/>
              <a:pathLst>
                <a:path w="22300" h="16494" extrusionOk="0">
                  <a:moveTo>
                    <a:pt x="1" y="1"/>
                  </a:moveTo>
                  <a:lnTo>
                    <a:pt x="1" y="16493"/>
                  </a:lnTo>
                  <a:lnTo>
                    <a:pt x="3573" y="16493"/>
                  </a:lnTo>
                  <a:lnTo>
                    <a:pt x="3573" y="3587"/>
                  </a:lnTo>
                  <a:lnTo>
                    <a:pt x="22299" y="3587"/>
                  </a:lnTo>
                  <a:lnTo>
                    <a:pt x="222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8"/>
            <p:cNvSpPr/>
            <p:nvPr/>
          </p:nvSpPr>
          <p:spPr>
            <a:xfrm>
              <a:off x="851113" y="3935050"/>
              <a:ext cx="557500" cy="412325"/>
            </a:xfrm>
            <a:custGeom>
              <a:avLst/>
              <a:gdLst/>
              <a:ahLst/>
              <a:cxnLst/>
              <a:rect l="l" t="t" r="r" b="b"/>
              <a:pathLst>
                <a:path w="22300" h="16493" extrusionOk="0">
                  <a:moveTo>
                    <a:pt x="1" y="0"/>
                  </a:moveTo>
                  <a:lnTo>
                    <a:pt x="1" y="16493"/>
                  </a:lnTo>
                  <a:lnTo>
                    <a:pt x="22299" y="16493"/>
                  </a:lnTo>
                  <a:lnTo>
                    <a:pt x="22299" y="12907"/>
                  </a:lnTo>
                  <a:lnTo>
                    <a:pt x="3573" y="12907"/>
                  </a:lnTo>
                  <a:lnTo>
                    <a:pt x="35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8"/>
            <p:cNvSpPr/>
            <p:nvPr/>
          </p:nvSpPr>
          <p:spPr>
            <a:xfrm>
              <a:off x="2427438" y="2915825"/>
              <a:ext cx="557125" cy="412350"/>
            </a:xfrm>
            <a:custGeom>
              <a:avLst/>
              <a:gdLst/>
              <a:ahLst/>
              <a:cxnLst/>
              <a:rect l="l" t="t" r="r" b="b"/>
              <a:pathLst>
                <a:path w="22285" h="16494" extrusionOk="0">
                  <a:moveTo>
                    <a:pt x="0" y="1"/>
                  </a:moveTo>
                  <a:lnTo>
                    <a:pt x="0" y="3587"/>
                  </a:lnTo>
                  <a:lnTo>
                    <a:pt x="18713" y="3587"/>
                  </a:lnTo>
                  <a:lnTo>
                    <a:pt x="18713" y="16493"/>
                  </a:lnTo>
                  <a:lnTo>
                    <a:pt x="22284" y="16493"/>
                  </a:lnTo>
                  <a:lnTo>
                    <a:pt x="222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8"/>
            <p:cNvSpPr/>
            <p:nvPr/>
          </p:nvSpPr>
          <p:spPr>
            <a:xfrm>
              <a:off x="2427438" y="3935050"/>
              <a:ext cx="557125" cy="412325"/>
            </a:xfrm>
            <a:custGeom>
              <a:avLst/>
              <a:gdLst/>
              <a:ahLst/>
              <a:cxnLst/>
              <a:rect l="l" t="t" r="r" b="b"/>
              <a:pathLst>
                <a:path w="22285" h="16493" extrusionOk="0">
                  <a:moveTo>
                    <a:pt x="18713" y="0"/>
                  </a:moveTo>
                  <a:lnTo>
                    <a:pt x="18713" y="12907"/>
                  </a:lnTo>
                  <a:lnTo>
                    <a:pt x="0" y="12907"/>
                  </a:lnTo>
                  <a:lnTo>
                    <a:pt x="0" y="16493"/>
                  </a:lnTo>
                  <a:lnTo>
                    <a:pt x="22284" y="16493"/>
                  </a:lnTo>
                  <a:lnTo>
                    <a:pt x="222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8"/>
            <p:cNvSpPr/>
            <p:nvPr/>
          </p:nvSpPr>
          <p:spPr>
            <a:xfrm>
              <a:off x="1581463" y="3255575"/>
              <a:ext cx="389575" cy="389575"/>
            </a:xfrm>
            <a:custGeom>
              <a:avLst/>
              <a:gdLst/>
              <a:ahLst/>
              <a:cxnLst/>
              <a:rect l="l" t="t" r="r" b="b"/>
              <a:pathLst>
                <a:path w="15583" h="15583" extrusionOk="0">
                  <a:moveTo>
                    <a:pt x="10986" y="1836"/>
                  </a:moveTo>
                  <a:lnTo>
                    <a:pt x="11314" y="4198"/>
                  </a:lnTo>
                  <a:lnTo>
                    <a:pt x="10787" y="4283"/>
                  </a:lnTo>
                  <a:lnTo>
                    <a:pt x="10346" y="1950"/>
                  </a:lnTo>
                  <a:lnTo>
                    <a:pt x="10659" y="1893"/>
                  </a:lnTo>
                  <a:lnTo>
                    <a:pt x="10986" y="1836"/>
                  </a:lnTo>
                  <a:close/>
                  <a:moveTo>
                    <a:pt x="7841" y="2704"/>
                  </a:moveTo>
                  <a:lnTo>
                    <a:pt x="8752" y="4895"/>
                  </a:lnTo>
                  <a:lnTo>
                    <a:pt x="8268" y="5123"/>
                  </a:lnTo>
                  <a:lnTo>
                    <a:pt x="7244" y="2960"/>
                  </a:lnTo>
                  <a:lnTo>
                    <a:pt x="7841" y="2704"/>
                  </a:lnTo>
                  <a:close/>
                  <a:moveTo>
                    <a:pt x="5010" y="4312"/>
                  </a:moveTo>
                  <a:lnTo>
                    <a:pt x="6447" y="6219"/>
                  </a:lnTo>
                  <a:lnTo>
                    <a:pt x="6020" y="6546"/>
                  </a:lnTo>
                  <a:lnTo>
                    <a:pt x="4497" y="4725"/>
                  </a:lnTo>
                  <a:lnTo>
                    <a:pt x="4754" y="4511"/>
                  </a:lnTo>
                  <a:lnTo>
                    <a:pt x="5010" y="4312"/>
                  </a:lnTo>
                  <a:close/>
                  <a:moveTo>
                    <a:pt x="2662" y="6574"/>
                  </a:moveTo>
                  <a:lnTo>
                    <a:pt x="4526" y="8069"/>
                  </a:lnTo>
                  <a:lnTo>
                    <a:pt x="4199" y="8496"/>
                  </a:lnTo>
                  <a:lnTo>
                    <a:pt x="2278" y="7101"/>
                  </a:lnTo>
                  <a:lnTo>
                    <a:pt x="2662" y="6574"/>
                  </a:lnTo>
                  <a:close/>
                  <a:moveTo>
                    <a:pt x="954" y="9364"/>
                  </a:moveTo>
                  <a:lnTo>
                    <a:pt x="3131" y="10345"/>
                  </a:lnTo>
                  <a:lnTo>
                    <a:pt x="2918" y="10829"/>
                  </a:lnTo>
                  <a:lnTo>
                    <a:pt x="698" y="9961"/>
                  </a:lnTo>
                  <a:lnTo>
                    <a:pt x="954" y="9364"/>
                  </a:lnTo>
                  <a:close/>
                  <a:moveTo>
                    <a:pt x="7386" y="0"/>
                  </a:moveTo>
                  <a:lnTo>
                    <a:pt x="7002" y="29"/>
                  </a:lnTo>
                  <a:lnTo>
                    <a:pt x="6603" y="86"/>
                  </a:lnTo>
                  <a:lnTo>
                    <a:pt x="6219" y="157"/>
                  </a:lnTo>
                  <a:lnTo>
                    <a:pt x="5849" y="242"/>
                  </a:lnTo>
                  <a:lnTo>
                    <a:pt x="5479" y="342"/>
                  </a:lnTo>
                  <a:lnTo>
                    <a:pt x="5109" y="470"/>
                  </a:lnTo>
                  <a:lnTo>
                    <a:pt x="4754" y="612"/>
                  </a:lnTo>
                  <a:lnTo>
                    <a:pt x="4412" y="769"/>
                  </a:lnTo>
                  <a:lnTo>
                    <a:pt x="4085" y="939"/>
                  </a:lnTo>
                  <a:lnTo>
                    <a:pt x="3757" y="1124"/>
                  </a:lnTo>
                  <a:lnTo>
                    <a:pt x="3430" y="1324"/>
                  </a:lnTo>
                  <a:lnTo>
                    <a:pt x="3131" y="1537"/>
                  </a:lnTo>
                  <a:lnTo>
                    <a:pt x="2833" y="1779"/>
                  </a:lnTo>
                  <a:lnTo>
                    <a:pt x="2548" y="2021"/>
                  </a:lnTo>
                  <a:lnTo>
                    <a:pt x="2278" y="2277"/>
                  </a:lnTo>
                  <a:lnTo>
                    <a:pt x="2021" y="2547"/>
                  </a:lnTo>
                  <a:lnTo>
                    <a:pt x="1780" y="2832"/>
                  </a:lnTo>
                  <a:lnTo>
                    <a:pt x="1552" y="3131"/>
                  </a:lnTo>
                  <a:lnTo>
                    <a:pt x="1324" y="3430"/>
                  </a:lnTo>
                  <a:lnTo>
                    <a:pt x="1125" y="3743"/>
                  </a:lnTo>
                  <a:lnTo>
                    <a:pt x="940" y="4070"/>
                  </a:lnTo>
                  <a:lnTo>
                    <a:pt x="769" y="4412"/>
                  </a:lnTo>
                  <a:lnTo>
                    <a:pt x="613" y="4753"/>
                  </a:lnTo>
                  <a:lnTo>
                    <a:pt x="470" y="5109"/>
                  </a:lnTo>
                  <a:lnTo>
                    <a:pt x="357" y="5465"/>
                  </a:lnTo>
                  <a:lnTo>
                    <a:pt x="243" y="5835"/>
                  </a:lnTo>
                  <a:lnTo>
                    <a:pt x="157" y="6219"/>
                  </a:lnTo>
                  <a:lnTo>
                    <a:pt x="86" y="6603"/>
                  </a:lnTo>
                  <a:lnTo>
                    <a:pt x="43" y="6987"/>
                  </a:lnTo>
                  <a:lnTo>
                    <a:pt x="15" y="7386"/>
                  </a:lnTo>
                  <a:lnTo>
                    <a:pt x="1" y="7784"/>
                  </a:lnTo>
                  <a:lnTo>
                    <a:pt x="15" y="8140"/>
                  </a:lnTo>
                  <a:lnTo>
                    <a:pt x="29" y="8496"/>
                  </a:lnTo>
                  <a:lnTo>
                    <a:pt x="72" y="8837"/>
                  </a:lnTo>
                  <a:lnTo>
                    <a:pt x="129" y="9179"/>
                  </a:lnTo>
                  <a:lnTo>
                    <a:pt x="200" y="9520"/>
                  </a:lnTo>
                  <a:lnTo>
                    <a:pt x="271" y="9847"/>
                  </a:lnTo>
                  <a:lnTo>
                    <a:pt x="371" y="10175"/>
                  </a:lnTo>
                  <a:lnTo>
                    <a:pt x="485" y="10502"/>
                  </a:lnTo>
                  <a:lnTo>
                    <a:pt x="613" y="10815"/>
                  </a:lnTo>
                  <a:lnTo>
                    <a:pt x="741" y="11114"/>
                  </a:lnTo>
                  <a:lnTo>
                    <a:pt x="897" y="11413"/>
                  </a:lnTo>
                  <a:lnTo>
                    <a:pt x="1054" y="11712"/>
                  </a:lnTo>
                  <a:lnTo>
                    <a:pt x="1225" y="11996"/>
                  </a:lnTo>
                  <a:lnTo>
                    <a:pt x="1410" y="12266"/>
                  </a:lnTo>
                  <a:lnTo>
                    <a:pt x="1609" y="12537"/>
                  </a:lnTo>
                  <a:lnTo>
                    <a:pt x="1822" y="12793"/>
                  </a:lnTo>
                  <a:lnTo>
                    <a:pt x="2349" y="12878"/>
                  </a:lnTo>
                  <a:lnTo>
                    <a:pt x="2292" y="13305"/>
                  </a:lnTo>
                  <a:lnTo>
                    <a:pt x="2562" y="13561"/>
                  </a:lnTo>
                  <a:lnTo>
                    <a:pt x="2833" y="13803"/>
                  </a:lnTo>
                  <a:lnTo>
                    <a:pt x="3131" y="14031"/>
                  </a:lnTo>
                  <a:lnTo>
                    <a:pt x="3444" y="14244"/>
                  </a:lnTo>
                  <a:lnTo>
                    <a:pt x="3757" y="14458"/>
                  </a:lnTo>
                  <a:lnTo>
                    <a:pt x="4085" y="14643"/>
                  </a:lnTo>
                  <a:lnTo>
                    <a:pt x="4412" y="14814"/>
                  </a:lnTo>
                  <a:lnTo>
                    <a:pt x="4768" y="14970"/>
                  </a:lnTo>
                  <a:lnTo>
                    <a:pt x="5109" y="15112"/>
                  </a:lnTo>
                  <a:lnTo>
                    <a:pt x="5479" y="15226"/>
                  </a:lnTo>
                  <a:lnTo>
                    <a:pt x="5849" y="15326"/>
                  </a:lnTo>
                  <a:lnTo>
                    <a:pt x="6219" y="15426"/>
                  </a:lnTo>
                  <a:lnTo>
                    <a:pt x="6603" y="15482"/>
                  </a:lnTo>
                  <a:lnTo>
                    <a:pt x="7002" y="15539"/>
                  </a:lnTo>
                  <a:lnTo>
                    <a:pt x="7386" y="15568"/>
                  </a:lnTo>
                  <a:lnTo>
                    <a:pt x="7785" y="15582"/>
                  </a:lnTo>
                  <a:lnTo>
                    <a:pt x="8268" y="15568"/>
                  </a:lnTo>
                  <a:lnTo>
                    <a:pt x="8724" y="15525"/>
                  </a:lnTo>
                  <a:lnTo>
                    <a:pt x="8667" y="15255"/>
                  </a:lnTo>
                  <a:lnTo>
                    <a:pt x="8624" y="14984"/>
                  </a:lnTo>
                  <a:lnTo>
                    <a:pt x="8610" y="14714"/>
                  </a:lnTo>
                  <a:lnTo>
                    <a:pt x="8596" y="14444"/>
                  </a:lnTo>
                  <a:lnTo>
                    <a:pt x="8610" y="14202"/>
                  </a:lnTo>
                  <a:lnTo>
                    <a:pt x="8624" y="13974"/>
                  </a:lnTo>
                  <a:lnTo>
                    <a:pt x="8653" y="13732"/>
                  </a:lnTo>
                  <a:lnTo>
                    <a:pt x="8695" y="13504"/>
                  </a:lnTo>
                  <a:lnTo>
                    <a:pt x="8738" y="13291"/>
                  </a:lnTo>
                  <a:lnTo>
                    <a:pt x="8809" y="13063"/>
                  </a:lnTo>
                  <a:lnTo>
                    <a:pt x="8880" y="12850"/>
                  </a:lnTo>
                  <a:lnTo>
                    <a:pt x="8966" y="12651"/>
                  </a:lnTo>
                  <a:lnTo>
                    <a:pt x="9051" y="12437"/>
                  </a:lnTo>
                  <a:lnTo>
                    <a:pt x="9151" y="12238"/>
                  </a:lnTo>
                  <a:lnTo>
                    <a:pt x="9264" y="12053"/>
                  </a:lnTo>
                  <a:lnTo>
                    <a:pt x="9378" y="11868"/>
                  </a:lnTo>
                  <a:lnTo>
                    <a:pt x="9521" y="11683"/>
                  </a:lnTo>
                  <a:lnTo>
                    <a:pt x="9649" y="11512"/>
                  </a:lnTo>
                  <a:lnTo>
                    <a:pt x="9791" y="11342"/>
                  </a:lnTo>
                  <a:lnTo>
                    <a:pt x="9947" y="11185"/>
                  </a:lnTo>
                  <a:lnTo>
                    <a:pt x="10104" y="11028"/>
                  </a:lnTo>
                  <a:lnTo>
                    <a:pt x="10275" y="10886"/>
                  </a:lnTo>
                  <a:lnTo>
                    <a:pt x="10446" y="10744"/>
                  </a:lnTo>
                  <a:lnTo>
                    <a:pt x="10631" y="10616"/>
                  </a:lnTo>
                  <a:lnTo>
                    <a:pt x="10816" y="10502"/>
                  </a:lnTo>
                  <a:lnTo>
                    <a:pt x="11015" y="10388"/>
                  </a:lnTo>
                  <a:lnTo>
                    <a:pt x="11214" y="10289"/>
                  </a:lnTo>
                  <a:lnTo>
                    <a:pt x="11413" y="10189"/>
                  </a:lnTo>
                  <a:lnTo>
                    <a:pt x="11627" y="10104"/>
                  </a:lnTo>
                  <a:lnTo>
                    <a:pt x="11840" y="10032"/>
                  </a:lnTo>
                  <a:lnTo>
                    <a:pt x="12054" y="9975"/>
                  </a:lnTo>
                  <a:lnTo>
                    <a:pt x="12281" y="9919"/>
                  </a:lnTo>
                  <a:lnTo>
                    <a:pt x="12509" y="9876"/>
                  </a:lnTo>
                  <a:lnTo>
                    <a:pt x="12737" y="9847"/>
                  </a:lnTo>
                  <a:lnTo>
                    <a:pt x="12978" y="9833"/>
                  </a:lnTo>
                  <a:lnTo>
                    <a:pt x="13477" y="9833"/>
                  </a:lnTo>
                  <a:lnTo>
                    <a:pt x="13733" y="9862"/>
                  </a:lnTo>
                  <a:lnTo>
                    <a:pt x="13989" y="9890"/>
                  </a:lnTo>
                  <a:lnTo>
                    <a:pt x="14231" y="9947"/>
                  </a:lnTo>
                  <a:lnTo>
                    <a:pt x="14487" y="10004"/>
                  </a:lnTo>
                  <a:lnTo>
                    <a:pt x="14715" y="10075"/>
                  </a:lnTo>
                  <a:lnTo>
                    <a:pt x="14956" y="10160"/>
                  </a:lnTo>
                  <a:lnTo>
                    <a:pt x="15184" y="10260"/>
                  </a:lnTo>
                  <a:lnTo>
                    <a:pt x="15269" y="9975"/>
                  </a:lnTo>
                  <a:lnTo>
                    <a:pt x="15355" y="9677"/>
                  </a:lnTo>
                  <a:lnTo>
                    <a:pt x="15426" y="9364"/>
                  </a:lnTo>
                  <a:lnTo>
                    <a:pt x="15483" y="9065"/>
                  </a:lnTo>
                  <a:lnTo>
                    <a:pt x="15526" y="8752"/>
                  </a:lnTo>
                  <a:lnTo>
                    <a:pt x="15554" y="8424"/>
                  </a:lnTo>
                  <a:lnTo>
                    <a:pt x="15583" y="8111"/>
                  </a:lnTo>
                  <a:lnTo>
                    <a:pt x="15583" y="7784"/>
                  </a:lnTo>
                  <a:lnTo>
                    <a:pt x="15583" y="7471"/>
                  </a:lnTo>
                  <a:lnTo>
                    <a:pt x="15554" y="7144"/>
                  </a:lnTo>
                  <a:lnTo>
                    <a:pt x="15526" y="6831"/>
                  </a:lnTo>
                  <a:lnTo>
                    <a:pt x="15483" y="6532"/>
                  </a:lnTo>
                  <a:lnTo>
                    <a:pt x="15426" y="6219"/>
                  </a:lnTo>
                  <a:lnTo>
                    <a:pt x="15355" y="5920"/>
                  </a:lnTo>
                  <a:lnTo>
                    <a:pt x="15284" y="5621"/>
                  </a:lnTo>
                  <a:lnTo>
                    <a:pt x="15184" y="5336"/>
                  </a:lnTo>
                  <a:lnTo>
                    <a:pt x="15084" y="5038"/>
                  </a:lnTo>
                  <a:lnTo>
                    <a:pt x="14971" y="4767"/>
                  </a:lnTo>
                  <a:lnTo>
                    <a:pt x="14857" y="4483"/>
                  </a:lnTo>
                  <a:lnTo>
                    <a:pt x="14715" y="4212"/>
                  </a:lnTo>
                  <a:lnTo>
                    <a:pt x="14572" y="3956"/>
                  </a:lnTo>
                  <a:lnTo>
                    <a:pt x="14430" y="3700"/>
                  </a:lnTo>
                  <a:lnTo>
                    <a:pt x="14259" y="3444"/>
                  </a:lnTo>
                  <a:lnTo>
                    <a:pt x="14088" y="3202"/>
                  </a:lnTo>
                  <a:lnTo>
                    <a:pt x="13989" y="4155"/>
                  </a:lnTo>
                  <a:lnTo>
                    <a:pt x="13448" y="4113"/>
                  </a:lnTo>
                  <a:lnTo>
                    <a:pt x="13548" y="2533"/>
                  </a:lnTo>
                  <a:lnTo>
                    <a:pt x="13277" y="2249"/>
                  </a:lnTo>
                  <a:lnTo>
                    <a:pt x="12978" y="1978"/>
                  </a:lnTo>
                  <a:lnTo>
                    <a:pt x="12680" y="1722"/>
                  </a:lnTo>
                  <a:lnTo>
                    <a:pt x="12367" y="1480"/>
                  </a:lnTo>
                  <a:lnTo>
                    <a:pt x="12039" y="1252"/>
                  </a:lnTo>
                  <a:lnTo>
                    <a:pt x="11698" y="1039"/>
                  </a:lnTo>
                  <a:lnTo>
                    <a:pt x="11342" y="854"/>
                  </a:lnTo>
                  <a:lnTo>
                    <a:pt x="10986" y="683"/>
                  </a:lnTo>
                  <a:lnTo>
                    <a:pt x="10616" y="527"/>
                  </a:lnTo>
                  <a:lnTo>
                    <a:pt x="10232" y="384"/>
                  </a:lnTo>
                  <a:lnTo>
                    <a:pt x="9848" y="271"/>
                  </a:lnTo>
                  <a:lnTo>
                    <a:pt x="9449" y="171"/>
                  </a:lnTo>
                  <a:lnTo>
                    <a:pt x="9051" y="100"/>
                  </a:lnTo>
                  <a:lnTo>
                    <a:pt x="8638" y="43"/>
                  </a:lnTo>
                  <a:lnTo>
                    <a:pt x="8211" y="0"/>
                  </a:lnTo>
                  <a:close/>
                </a:path>
              </a:pathLst>
            </a:custGeom>
            <a:solidFill>
              <a:srgbClr val="453E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8"/>
            <p:cNvSpPr/>
            <p:nvPr/>
          </p:nvSpPr>
          <p:spPr>
            <a:xfrm>
              <a:off x="1598913" y="3489650"/>
              <a:ext cx="60850" cy="36675"/>
            </a:xfrm>
            <a:custGeom>
              <a:avLst/>
              <a:gdLst/>
              <a:ahLst/>
              <a:cxnLst/>
              <a:rect l="l" t="t" r="r" b="b"/>
              <a:pathLst>
                <a:path w="2434" h="1467" fill="none" extrusionOk="0">
                  <a:moveTo>
                    <a:pt x="2220" y="1466"/>
                  </a:moveTo>
                  <a:lnTo>
                    <a:pt x="0" y="598"/>
                  </a:lnTo>
                  <a:lnTo>
                    <a:pt x="0" y="598"/>
                  </a:lnTo>
                  <a:lnTo>
                    <a:pt x="256" y="1"/>
                  </a:lnTo>
                  <a:lnTo>
                    <a:pt x="2433" y="982"/>
                  </a:lnTo>
                  <a:lnTo>
                    <a:pt x="2433" y="982"/>
                  </a:lnTo>
                  <a:lnTo>
                    <a:pt x="2220" y="14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8"/>
            <p:cNvSpPr/>
            <p:nvPr/>
          </p:nvSpPr>
          <p:spPr>
            <a:xfrm>
              <a:off x="1638388" y="3419925"/>
              <a:ext cx="56225" cy="48050"/>
            </a:xfrm>
            <a:custGeom>
              <a:avLst/>
              <a:gdLst/>
              <a:ahLst/>
              <a:cxnLst/>
              <a:rect l="l" t="t" r="r" b="b"/>
              <a:pathLst>
                <a:path w="2249" h="1922" fill="none" extrusionOk="0">
                  <a:moveTo>
                    <a:pt x="1922" y="1922"/>
                  </a:moveTo>
                  <a:lnTo>
                    <a:pt x="1" y="527"/>
                  </a:lnTo>
                  <a:lnTo>
                    <a:pt x="1" y="527"/>
                  </a:lnTo>
                  <a:lnTo>
                    <a:pt x="385" y="0"/>
                  </a:lnTo>
                  <a:lnTo>
                    <a:pt x="2249" y="1495"/>
                  </a:lnTo>
                  <a:lnTo>
                    <a:pt x="2249" y="1495"/>
                  </a:lnTo>
                  <a:lnTo>
                    <a:pt x="1922" y="19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8"/>
            <p:cNvSpPr/>
            <p:nvPr/>
          </p:nvSpPr>
          <p:spPr>
            <a:xfrm>
              <a:off x="1693888" y="3363350"/>
              <a:ext cx="48750" cy="55900"/>
            </a:xfrm>
            <a:custGeom>
              <a:avLst/>
              <a:gdLst/>
              <a:ahLst/>
              <a:cxnLst/>
              <a:rect l="l" t="t" r="r" b="b"/>
              <a:pathLst>
                <a:path w="1950" h="2236" fill="none" extrusionOk="0">
                  <a:moveTo>
                    <a:pt x="1523" y="2235"/>
                  </a:moveTo>
                  <a:lnTo>
                    <a:pt x="0" y="414"/>
                  </a:lnTo>
                  <a:lnTo>
                    <a:pt x="0" y="414"/>
                  </a:lnTo>
                  <a:lnTo>
                    <a:pt x="257" y="200"/>
                  </a:lnTo>
                  <a:lnTo>
                    <a:pt x="513" y="1"/>
                  </a:lnTo>
                  <a:lnTo>
                    <a:pt x="1950" y="1908"/>
                  </a:lnTo>
                  <a:lnTo>
                    <a:pt x="1950" y="1908"/>
                  </a:lnTo>
                  <a:lnTo>
                    <a:pt x="1523" y="223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8"/>
            <p:cNvSpPr/>
            <p:nvPr/>
          </p:nvSpPr>
          <p:spPr>
            <a:xfrm>
              <a:off x="1762538" y="3323150"/>
              <a:ext cx="37750" cy="60525"/>
            </a:xfrm>
            <a:custGeom>
              <a:avLst/>
              <a:gdLst/>
              <a:ahLst/>
              <a:cxnLst/>
              <a:rect l="l" t="t" r="r" b="b"/>
              <a:pathLst>
                <a:path w="1510" h="2421" fill="none" extrusionOk="0">
                  <a:moveTo>
                    <a:pt x="1025" y="2420"/>
                  </a:moveTo>
                  <a:lnTo>
                    <a:pt x="1" y="257"/>
                  </a:lnTo>
                  <a:lnTo>
                    <a:pt x="1" y="257"/>
                  </a:lnTo>
                  <a:lnTo>
                    <a:pt x="598" y="1"/>
                  </a:lnTo>
                  <a:lnTo>
                    <a:pt x="1509" y="2192"/>
                  </a:lnTo>
                  <a:lnTo>
                    <a:pt x="1509" y="2192"/>
                  </a:lnTo>
                  <a:lnTo>
                    <a:pt x="1025" y="24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8"/>
            <p:cNvSpPr/>
            <p:nvPr/>
          </p:nvSpPr>
          <p:spPr>
            <a:xfrm>
              <a:off x="1840088" y="3301450"/>
              <a:ext cx="24225" cy="61225"/>
            </a:xfrm>
            <a:custGeom>
              <a:avLst/>
              <a:gdLst/>
              <a:ahLst/>
              <a:cxnLst/>
              <a:rect l="l" t="t" r="r" b="b"/>
              <a:pathLst>
                <a:path w="969" h="2449" fill="none" extrusionOk="0">
                  <a:moveTo>
                    <a:pt x="442" y="2448"/>
                  </a:moveTo>
                  <a:lnTo>
                    <a:pt x="1" y="115"/>
                  </a:lnTo>
                  <a:lnTo>
                    <a:pt x="1" y="115"/>
                  </a:lnTo>
                  <a:lnTo>
                    <a:pt x="314" y="58"/>
                  </a:lnTo>
                  <a:lnTo>
                    <a:pt x="641" y="1"/>
                  </a:lnTo>
                  <a:lnTo>
                    <a:pt x="969" y="2363"/>
                  </a:lnTo>
                  <a:lnTo>
                    <a:pt x="969" y="2363"/>
                  </a:lnTo>
                  <a:lnTo>
                    <a:pt x="442" y="244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8"/>
            <p:cNvSpPr/>
            <p:nvPr/>
          </p:nvSpPr>
          <p:spPr>
            <a:xfrm>
              <a:off x="1581463" y="3255575"/>
              <a:ext cx="389575" cy="389575"/>
            </a:xfrm>
            <a:custGeom>
              <a:avLst/>
              <a:gdLst/>
              <a:ahLst/>
              <a:cxnLst/>
              <a:rect l="l" t="t" r="r" b="b"/>
              <a:pathLst>
                <a:path w="15583" h="15583" fill="none" extrusionOk="0">
                  <a:moveTo>
                    <a:pt x="7785" y="0"/>
                  </a:moveTo>
                  <a:lnTo>
                    <a:pt x="7785" y="0"/>
                  </a:lnTo>
                  <a:lnTo>
                    <a:pt x="7386" y="0"/>
                  </a:lnTo>
                  <a:lnTo>
                    <a:pt x="7002" y="29"/>
                  </a:lnTo>
                  <a:lnTo>
                    <a:pt x="6603" y="86"/>
                  </a:lnTo>
                  <a:lnTo>
                    <a:pt x="6219" y="157"/>
                  </a:lnTo>
                  <a:lnTo>
                    <a:pt x="5849" y="242"/>
                  </a:lnTo>
                  <a:lnTo>
                    <a:pt x="5479" y="342"/>
                  </a:lnTo>
                  <a:lnTo>
                    <a:pt x="5109" y="470"/>
                  </a:lnTo>
                  <a:lnTo>
                    <a:pt x="4754" y="612"/>
                  </a:lnTo>
                  <a:lnTo>
                    <a:pt x="4412" y="769"/>
                  </a:lnTo>
                  <a:lnTo>
                    <a:pt x="4085" y="939"/>
                  </a:lnTo>
                  <a:lnTo>
                    <a:pt x="3757" y="1124"/>
                  </a:lnTo>
                  <a:lnTo>
                    <a:pt x="3430" y="1324"/>
                  </a:lnTo>
                  <a:lnTo>
                    <a:pt x="3131" y="1537"/>
                  </a:lnTo>
                  <a:lnTo>
                    <a:pt x="2833" y="1779"/>
                  </a:lnTo>
                  <a:lnTo>
                    <a:pt x="2548" y="2021"/>
                  </a:lnTo>
                  <a:lnTo>
                    <a:pt x="2278" y="2277"/>
                  </a:lnTo>
                  <a:lnTo>
                    <a:pt x="2021" y="2547"/>
                  </a:lnTo>
                  <a:lnTo>
                    <a:pt x="1780" y="2832"/>
                  </a:lnTo>
                  <a:lnTo>
                    <a:pt x="1552" y="3131"/>
                  </a:lnTo>
                  <a:lnTo>
                    <a:pt x="1324" y="3430"/>
                  </a:lnTo>
                  <a:lnTo>
                    <a:pt x="1125" y="3743"/>
                  </a:lnTo>
                  <a:lnTo>
                    <a:pt x="940" y="4070"/>
                  </a:lnTo>
                  <a:lnTo>
                    <a:pt x="769" y="4412"/>
                  </a:lnTo>
                  <a:lnTo>
                    <a:pt x="613" y="4753"/>
                  </a:lnTo>
                  <a:lnTo>
                    <a:pt x="470" y="5109"/>
                  </a:lnTo>
                  <a:lnTo>
                    <a:pt x="357" y="5465"/>
                  </a:lnTo>
                  <a:lnTo>
                    <a:pt x="243" y="5835"/>
                  </a:lnTo>
                  <a:lnTo>
                    <a:pt x="157" y="6219"/>
                  </a:lnTo>
                  <a:lnTo>
                    <a:pt x="86" y="6603"/>
                  </a:lnTo>
                  <a:lnTo>
                    <a:pt x="43" y="6987"/>
                  </a:lnTo>
                  <a:lnTo>
                    <a:pt x="15" y="7386"/>
                  </a:lnTo>
                  <a:lnTo>
                    <a:pt x="1" y="7784"/>
                  </a:lnTo>
                  <a:lnTo>
                    <a:pt x="1" y="7784"/>
                  </a:lnTo>
                  <a:lnTo>
                    <a:pt x="15" y="8140"/>
                  </a:lnTo>
                  <a:lnTo>
                    <a:pt x="29" y="8496"/>
                  </a:lnTo>
                  <a:lnTo>
                    <a:pt x="72" y="8837"/>
                  </a:lnTo>
                  <a:lnTo>
                    <a:pt x="129" y="9179"/>
                  </a:lnTo>
                  <a:lnTo>
                    <a:pt x="200" y="9520"/>
                  </a:lnTo>
                  <a:lnTo>
                    <a:pt x="271" y="9847"/>
                  </a:lnTo>
                  <a:lnTo>
                    <a:pt x="371" y="10175"/>
                  </a:lnTo>
                  <a:lnTo>
                    <a:pt x="485" y="10502"/>
                  </a:lnTo>
                  <a:lnTo>
                    <a:pt x="613" y="10815"/>
                  </a:lnTo>
                  <a:lnTo>
                    <a:pt x="741" y="11114"/>
                  </a:lnTo>
                  <a:lnTo>
                    <a:pt x="897" y="11413"/>
                  </a:lnTo>
                  <a:lnTo>
                    <a:pt x="1054" y="11712"/>
                  </a:lnTo>
                  <a:lnTo>
                    <a:pt x="1225" y="11996"/>
                  </a:lnTo>
                  <a:lnTo>
                    <a:pt x="1410" y="12266"/>
                  </a:lnTo>
                  <a:lnTo>
                    <a:pt x="1609" y="12537"/>
                  </a:lnTo>
                  <a:lnTo>
                    <a:pt x="1822" y="12793"/>
                  </a:lnTo>
                  <a:lnTo>
                    <a:pt x="2349" y="12878"/>
                  </a:lnTo>
                  <a:lnTo>
                    <a:pt x="2349" y="12878"/>
                  </a:lnTo>
                  <a:lnTo>
                    <a:pt x="2292" y="13305"/>
                  </a:lnTo>
                  <a:lnTo>
                    <a:pt x="2292" y="13305"/>
                  </a:lnTo>
                  <a:lnTo>
                    <a:pt x="2562" y="13561"/>
                  </a:lnTo>
                  <a:lnTo>
                    <a:pt x="2833" y="13803"/>
                  </a:lnTo>
                  <a:lnTo>
                    <a:pt x="3131" y="14031"/>
                  </a:lnTo>
                  <a:lnTo>
                    <a:pt x="3444" y="14244"/>
                  </a:lnTo>
                  <a:lnTo>
                    <a:pt x="3757" y="14458"/>
                  </a:lnTo>
                  <a:lnTo>
                    <a:pt x="4085" y="14643"/>
                  </a:lnTo>
                  <a:lnTo>
                    <a:pt x="4412" y="14814"/>
                  </a:lnTo>
                  <a:lnTo>
                    <a:pt x="4768" y="14970"/>
                  </a:lnTo>
                  <a:lnTo>
                    <a:pt x="5109" y="15112"/>
                  </a:lnTo>
                  <a:lnTo>
                    <a:pt x="5479" y="15226"/>
                  </a:lnTo>
                  <a:lnTo>
                    <a:pt x="5849" y="15326"/>
                  </a:lnTo>
                  <a:lnTo>
                    <a:pt x="6219" y="15426"/>
                  </a:lnTo>
                  <a:lnTo>
                    <a:pt x="6603" y="15482"/>
                  </a:lnTo>
                  <a:lnTo>
                    <a:pt x="7002" y="15539"/>
                  </a:lnTo>
                  <a:lnTo>
                    <a:pt x="7386" y="15568"/>
                  </a:lnTo>
                  <a:lnTo>
                    <a:pt x="7785" y="15582"/>
                  </a:lnTo>
                  <a:lnTo>
                    <a:pt x="7785" y="15582"/>
                  </a:lnTo>
                  <a:lnTo>
                    <a:pt x="8268" y="15568"/>
                  </a:lnTo>
                  <a:lnTo>
                    <a:pt x="8724" y="15525"/>
                  </a:lnTo>
                  <a:lnTo>
                    <a:pt x="8724" y="15525"/>
                  </a:lnTo>
                  <a:lnTo>
                    <a:pt x="8667" y="15255"/>
                  </a:lnTo>
                  <a:lnTo>
                    <a:pt x="8624" y="14984"/>
                  </a:lnTo>
                  <a:lnTo>
                    <a:pt x="8610" y="14714"/>
                  </a:lnTo>
                  <a:lnTo>
                    <a:pt x="8596" y="14444"/>
                  </a:lnTo>
                  <a:lnTo>
                    <a:pt x="8596" y="14444"/>
                  </a:lnTo>
                  <a:lnTo>
                    <a:pt x="8610" y="14202"/>
                  </a:lnTo>
                  <a:lnTo>
                    <a:pt x="8624" y="13974"/>
                  </a:lnTo>
                  <a:lnTo>
                    <a:pt x="8653" y="13732"/>
                  </a:lnTo>
                  <a:lnTo>
                    <a:pt x="8695" y="13504"/>
                  </a:lnTo>
                  <a:lnTo>
                    <a:pt x="8738" y="13291"/>
                  </a:lnTo>
                  <a:lnTo>
                    <a:pt x="8809" y="13063"/>
                  </a:lnTo>
                  <a:lnTo>
                    <a:pt x="8880" y="12850"/>
                  </a:lnTo>
                  <a:lnTo>
                    <a:pt x="8966" y="12651"/>
                  </a:lnTo>
                  <a:lnTo>
                    <a:pt x="9051" y="12437"/>
                  </a:lnTo>
                  <a:lnTo>
                    <a:pt x="9151" y="12238"/>
                  </a:lnTo>
                  <a:lnTo>
                    <a:pt x="9264" y="12053"/>
                  </a:lnTo>
                  <a:lnTo>
                    <a:pt x="9378" y="11868"/>
                  </a:lnTo>
                  <a:lnTo>
                    <a:pt x="9521" y="11683"/>
                  </a:lnTo>
                  <a:lnTo>
                    <a:pt x="9649" y="11512"/>
                  </a:lnTo>
                  <a:lnTo>
                    <a:pt x="9791" y="11342"/>
                  </a:lnTo>
                  <a:lnTo>
                    <a:pt x="9947" y="11185"/>
                  </a:lnTo>
                  <a:lnTo>
                    <a:pt x="10104" y="11028"/>
                  </a:lnTo>
                  <a:lnTo>
                    <a:pt x="10275" y="10886"/>
                  </a:lnTo>
                  <a:lnTo>
                    <a:pt x="10446" y="10744"/>
                  </a:lnTo>
                  <a:lnTo>
                    <a:pt x="10631" y="10616"/>
                  </a:lnTo>
                  <a:lnTo>
                    <a:pt x="10816" y="10502"/>
                  </a:lnTo>
                  <a:lnTo>
                    <a:pt x="11015" y="10388"/>
                  </a:lnTo>
                  <a:lnTo>
                    <a:pt x="11214" y="10289"/>
                  </a:lnTo>
                  <a:lnTo>
                    <a:pt x="11413" y="10189"/>
                  </a:lnTo>
                  <a:lnTo>
                    <a:pt x="11627" y="10104"/>
                  </a:lnTo>
                  <a:lnTo>
                    <a:pt x="11840" y="10032"/>
                  </a:lnTo>
                  <a:lnTo>
                    <a:pt x="12054" y="9975"/>
                  </a:lnTo>
                  <a:lnTo>
                    <a:pt x="12281" y="9919"/>
                  </a:lnTo>
                  <a:lnTo>
                    <a:pt x="12509" y="9876"/>
                  </a:lnTo>
                  <a:lnTo>
                    <a:pt x="12737" y="9847"/>
                  </a:lnTo>
                  <a:lnTo>
                    <a:pt x="12978" y="9833"/>
                  </a:lnTo>
                  <a:lnTo>
                    <a:pt x="13206" y="9833"/>
                  </a:lnTo>
                  <a:lnTo>
                    <a:pt x="13206" y="9833"/>
                  </a:lnTo>
                  <a:lnTo>
                    <a:pt x="13477" y="9833"/>
                  </a:lnTo>
                  <a:lnTo>
                    <a:pt x="13733" y="9862"/>
                  </a:lnTo>
                  <a:lnTo>
                    <a:pt x="13989" y="9890"/>
                  </a:lnTo>
                  <a:lnTo>
                    <a:pt x="14231" y="9947"/>
                  </a:lnTo>
                  <a:lnTo>
                    <a:pt x="14487" y="10004"/>
                  </a:lnTo>
                  <a:lnTo>
                    <a:pt x="14715" y="10075"/>
                  </a:lnTo>
                  <a:lnTo>
                    <a:pt x="14956" y="10160"/>
                  </a:lnTo>
                  <a:lnTo>
                    <a:pt x="15184" y="10260"/>
                  </a:lnTo>
                  <a:lnTo>
                    <a:pt x="15184" y="10260"/>
                  </a:lnTo>
                  <a:lnTo>
                    <a:pt x="15269" y="9975"/>
                  </a:lnTo>
                  <a:lnTo>
                    <a:pt x="15355" y="9677"/>
                  </a:lnTo>
                  <a:lnTo>
                    <a:pt x="15426" y="9364"/>
                  </a:lnTo>
                  <a:lnTo>
                    <a:pt x="15483" y="9065"/>
                  </a:lnTo>
                  <a:lnTo>
                    <a:pt x="15526" y="8752"/>
                  </a:lnTo>
                  <a:lnTo>
                    <a:pt x="15554" y="8424"/>
                  </a:lnTo>
                  <a:lnTo>
                    <a:pt x="15583" y="8111"/>
                  </a:lnTo>
                  <a:lnTo>
                    <a:pt x="15583" y="7784"/>
                  </a:lnTo>
                  <a:lnTo>
                    <a:pt x="15583" y="7784"/>
                  </a:lnTo>
                  <a:lnTo>
                    <a:pt x="15583" y="7471"/>
                  </a:lnTo>
                  <a:lnTo>
                    <a:pt x="15554" y="7144"/>
                  </a:lnTo>
                  <a:lnTo>
                    <a:pt x="15526" y="6831"/>
                  </a:lnTo>
                  <a:lnTo>
                    <a:pt x="15483" y="6532"/>
                  </a:lnTo>
                  <a:lnTo>
                    <a:pt x="15426" y="6219"/>
                  </a:lnTo>
                  <a:lnTo>
                    <a:pt x="15355" y="5920"/>
                  </a:lnTo>
                  <a:lnTo>
                    <a:pt x="15284" y="5621"/>
                  </a:lnTo>
                  <a:lnTo>
                    <a:pt x="15184" y="5336"/>
                  </a:lnTo>
                  <a:lnTo>
                    <a:pt x="15084" y="5038"/>
                  </a:lnTo>
                  <a:lnTo>
                    <a:pt x="14971" y="4767"/>
                  </a:lnTo>
                  <a:lnTo>
                    <a:pt x="14857" y="4483"/>
                  </a:lnTo>
                  <a:lnTo>
                    <a:pt x="14715" y="4212"/>
                  </a:lnTo>
                  <a:lnTo>
                    <a:pt x="14572" y="3956"/>
                  </a:lnTo>
                  <a:lnTo>
                    <a:pt x="14430" y="3700"/>
                  </a:lnTo>
                  <a:lnTo>
                    <a:pt x="14259" y="3444"/>
                  </a:lnTo>
                  <a:lnTo>
                    <a:pt x="14088" y="3202"/>
                  </a:lnTo>
                  <a:lnTo>
                    <a:pt x="13989" y="4155"/>
                  </a:lnTo>
                  <a:lnTo>
                    <a:pt x="13989" y="4155"/>
                  </a:lnTo>
                  <a:lnTo>
                    <a:pt x="13448" y="4113"/>
                  </a:lnTo>
                  <a:lnTo>
                    <a:pt x="13548" y="2533"/>
                  </a:lnTo>
                  <a:lnTo>
                    <a:pt x="13548" y="2533"/>
                  </a:lnTo>
                  <a:lnTo>
                    <a:pt x="13277" y="2249"/>
                  </a:lnTo>
                  <a:lnTo>
                    <a:pt x="12978" y="1978"/>
                  </a:lnTo>
                  <a:lnTo>
                    <a:pt x="12680" y="1722"/>
                  </a:lnTo>
                  <a:lnTo>
                    <a:pt x="12367" y="1480"/>
                  </a:lnTo>
                  <a:lnTo>
                    <a:pt x="12039" y="1252"/>
                  </a:lnTo>
                  <a:lnTo>
                    <a:pt x="11698" y="1039"/>
                  </a:lnTo>
                  <a:lnTo>
                    <a:pt x="11342" y="854"/>
                  </a:lnTo>
                  <a:lnTo>
                    <a:pt x="10986" y="683"/>
                  </a:lnTo>
                  <a:lnTo>
                    <a:pt x="10616" y="527"/>
                  </a:lnTo>
                  <a:lnTo>
                    <a:pt x="10232" y="384"/>
                  </a:lnTo>
                  <a:lnTo>
                    <a:pt x="9848" y="271"/>
                  </a:lnTo>
                  <a:lnTo>
                    <a:pt x="9449" y="171"/>
                  </a:lnTo>
                  <a:lnTo>
                    <a:pt x="9051" y="100"/>
                  </a:lnTo>
                  <a:lnTo>
                    <a:pt x="8638" y="43"/>
                  </a:lnTo>
                  <a:lnTo>
                    <a:pt x="8211" y="0"/>
                  </a:lnTo>
                  <a:lnTo>
                    <a:pt x="778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8"/>
            <p:cNvSpPr/>
            <p:nvPr/>
          </p:nvSpPr>
          <p:spPr>
            <a:xfrm>
              <a:off x="1598913" y="3301450"/>
              <a:ext cx="334775" cy="286775"/>
            </a:xfrm>
            <a:custGeom>
              <a:avLst/>
              <a:gdLst/>
              <a:ahLst/>
              <a:cxnLst/>
              <a:rect l="l" t="t" r="r" b="b"/>
              <a:pathLst>
                <a:path w="13391" h="11471" extrusionOk="0">
                  <a:moveTo>
                    <a:pt x="12850" y="698"/>
                  </a:moveTo>
                  <a:lnTo>
                    <a:pt x="12750" y="2278"/>
                  </a:lnTo>
                  <a:lnTo>
                    <a:pt x="13291" y="2320"/>
                  </a:lnTo>
                  <a:lnTo>
                    <a:pt x="13390" y="1367"/>
                  </a:lnTo>
                  <a:lnTo>
                    <a:pt x="13134" y="1025"/>
                  </a:lnTo>
                  <a:lnTo>
                    <a:pt x="12850" y="698"/>
                  </a:lnTo>
                  <a:close/>
                  <a:moveTo>
                    <a:pt x="10288" y="1"/>
                  </a:moveTo>
                  <a:lnTo>
                    <a:pt x="9961" y="58"/>
                  </a:lnTo>
                  <a:lnTo>
                    <a:pt x="9648" y="115"/>
                  </a:lnTo>
                  <a:lnTo>
                    <a:pt x="10089" y="2448"/>
                  </a:lnTo>
                  <a:lnTo>
                    <a:pt x="10616" y="2363"/>
                  </a:lnTo>
                  <a:lnTo>
                    <a:pt x="10288" y="1"/>
                  </a:lnTo>
                  <a:close/>
                  <a:moveTo>
                    <a:pt x="7143" y="869"/>
                  </a:moveTo>
                  <a:lnTo>
                    <a:pt x="6546" y="1125"/>
                  </a:lnTo>
                  <a:lnTo>
                    <a:pt x="7570" y="3288"/>
                  </a:lnTo>
                  <a:lnTo>
                    <a:pt x="8054" y="3060"/>
                  </a:lnTo>
                  <a:lnTo>
                    <a:pt x="7143" y="869"/>
                  </a:lnTo>
                  <a:close/>
                  <a:moveTo>
                    <a:pt x="4312" y="2477"/>
                  </a:moveTo>
                  <a:lnTo>
                    <a:pt x="4056" y="2676"/>
                  </a:lnTo>
                  <a:lnTo>
                    <a:pt x="3799" y="2890"/>
                  </a:lnTo>
                  <a:lnTo>
                    <a:pt x="5322" y="4711"/>
                  </a:lnTo>
                  <a:lnTo>
                    <a:pt x="5749" y="4384"/>
                  </a:lnTo>
                  <a:lnTo>
                    <a:pt x="4312" y="2477"/>
                  </a:lnTo>
                  <a:close/>
                  <a:moveTo>
                    <a:pt x="1964" y="4739"/>
                  </a:moveTo>
                  <a:lnTo>
                    <a:pt x="1580" y="5266"/>
                  </a:lnTo>
                  <a:lnTo>
                    <a:pt x="3501" y="6661"/>
                  </a:lnTo>
                  <a:lnTo>
                    <a:pt x="3828" y="6234"/>
                  </a:lnTo>
                  <a:lnTo>
                    <a:pt x="1964" y="4739"/>
                  </a:lnTo>
                  <a:close/>
                  <a:moveTo>
                    <a:pt x="256" y="7529"/>
                  </a:moveTo>
                  <a:lnTo>
                    <a:pt x="0" y="8126"/>
                  </a:lnTo>
                  <a:lnTo>
                    <a:pt x="2220" y="8994"/>
                  </a:lnTo>
                  <a:lnTo>
                    <a:pt x="2433" y="8510"/>
                  </a:lnTo>
                  <a:lnTo>
                    <a:pt x="256" y="7529"/>
                  </a:lnTo>
                  <a:close/>
                  <a:moveTo>
                    <a:pt x="1124" y="10958"/>
                  </a:moveTo>
                  <a:lnTo>
                    <a:pt x="1352" y="11214"/>
                  </a:lnTo>
                  <a:lnTo>
                    <a:pt x="1594" y="11470"/>
                  </a:lnTo>
                  <a:lnTo>
                    <a:pt x="1651" y="11043"/>
                  </a:lnTo>
                  <a:lnTo>
                    <a:pt x="1124" y="1095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8"/>
            <p:cNvSpPr/>
            <p:nvPr/>
          </p:nvSpPr>
          <p:spPr>
            <a:xfrm>
              <a:off x="1627013" y="3575375"/>
              <a:ext cx="13175" cy="12850"/>
            </a:xfrm>
            <a:custGeom>
              <a:avLst/>
              <a:gdLst/>
              <a:ahLst/>
              <a:cxnLst/>
              <a:rect l="l" t="t" r="r" b="b"/>
              <a:pathLst>
                <a:path w="527" h="514" fill="none" extrusionOk="0">
                  <a:moveTo>
                    <a:pt x="0" y="1"/>
                  </a:moveTo>
                  <a:lnTo>
                    <a:pt x="0" y="1"/>
                  </a:lnTo>
                  <a:lnTo>
                    <a:pt x="228" y="257"/>
                  </a:lnTo>
                  <a:lnTo>
                    <a:pt x="470" y="513"/>
                  </a:lnTo>
                  <a:lnTo>
                    <a:pt x="470" y="513"/>
                  </a:lnTo>
                  <a:lnTo>
                    <a:pt x="527" y="86"/>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8"/>
            <p:cNvSpPr/>
            <p:nvPr/>
          </p:nvSpPr>
          <p:spPr>
            <a:xfrm>
              <a:off x="1598913" y="3489650"/>
              <a:ext cx="60850" cy="36675"/>
            </a:xfrm>
            <a:custGeom>
              <a:avLst/>
              <a:gdLst/>
              <a:ahLst/>
              <a:cxnLst/>
              <a:rect l="l" t="t" r="r" b="b"/>
              <a:pathLst>
                <a:path w="2434" h="1467" fill="none" extrusionOk="0">
                  <a:moveTo>
                    <a:pt x="256" y="1"/>
                  </a:moveTo>
                  <a:lnTo>
                    <a:pt x="256" y="1"/>
                  </a:lnTo>
                  <a:lnTo>
                    <a:pt x="0" y="598"/>
                  </a:lnTo>
                  <a:lnTo>
                    <a:pt x="2220" y="1466"/>
                  </a:lnTo>
                  <a:lnTo>
                    <a:pt x="2220" y="1466"/>
                  </a:lnTo>
                  <a:lnTo>
                    <a:pt x="2433" y="982"/>
                  </a:lnTo>
                  <a:lnTo>
                    <a:pt x="25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8"/>
            <p:cNvSpPr/>
            <p:nvPr/>
          </p:nvSpPr>
          <p:spPr>
            <a:xfrm>
              <a:off x="1638388" y="3419925"/>
              <a:ext cx="56225" cy="48050"/>
            </a:xfrm>
            <a:custGeom>
              <a:avLst/>
              <a:gdLst/>
              <a:ahLst/>
              <a:cxnLst/>
              <a:rect l="l" t="t" r="r" b="b"/>
              <a:pathLst>
                <a:path w="2249" h="1922" fill="none" extrusionOk="0">
                  <a:moveTo>
                    <a:pt x="385" y="0"/>
                  </a:moveTo>
                  <a:lnTo>
                    <a:pt x="385" y="0"/>
                  </a:lnTo>
                  <a:lnTo>
                    <a:pt x="1" y="527"/>
                  </a:lnTo>
                  <a:lnTo>
                    <a:pt x="1922" y="1922"/>
                  </a:lnTo>
                  <a:lnTo>
                    <a:pt x="1922" y="1922"/>
                  </a:lnTo>
                  <a:lnTo>
                    <a:pt x="2249" y="1495"/>
                  </a:lnTo>
                  <a:lnTo>
                    <a:pt x="38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8"/>
            <p:cNvSpPr/>
            <p:nvPr/>
          </p:nvSpPr>
          <p:spPr>
            <a:xfrm>
              <a:off x="1693888" y="3363350"/>
              <a:ext cx="48750" cy="55900"/>
            </a:xfrm>
            <a:custGeom>
              <a:avLst/>
              <a:gdLst/>
              <a:ahLst/>
              <a:cxnLst/>
              <a:rect l="l" t="t" r="r" b="b"/>
              <a:pathLst>
                <a:path w="1950" h="2236" fill="none" extrusionOk="0">
                  <a:moveTo>
                    <a:pt x="513" y="1"/>
                  </a:moveTo>
                  <a:lnTo>
                    <a:pt x="513" y="1"/>
                  </a:lnTo>
                  <a:lnTo>
                    <a:pt x="257" y="200"/>
                  </a:lnTo>
                  <a:lnTo>
                    <a:pt x="0" y="414"/>
                  </a:lnTo>
                  <a:lnTo>
                    <a:pt x="1523" y="2235"/>
                  </a:lnTo>
                  <a:lnTo>
                    <a:pt x="1523" y="2235"/>
                  </a:lnTo>
                  <a:lnTo>
                    <a:pt x="1950" y="1908"/>
                  </a:lnTo>
                  <a:lnTo>
                    <a:pt x="51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8"/>
            <p:cNvSpPr/>
            <p:nvPr/>
          </p:nvSpPr>
          <p:spPr>
            <a:xfrm>
              <a:off x="1762538" y="3323150"/>
              <a:ext cx="37750" cy="60525"/>
            </a:xfrm>
            <a:custGeom>
              <a:avLst/>
              <a:gdLst/>
              <a:ahLst/>
              <a:cxnLst/>
              <a:rect l="l" t="t" r="r" b="b"/>
              <a:pathLst>
                <a:path w="1510" h="2421" fill="none" extrusionOk="0">
                  <a:moveTo>
                    <a:pt x="598" y="1"/>
                  </a:moveTo>
                  <a:lnTo>
                    <a:pt x="598" y="1"/>
                  </a:lnTo>
                  <a:lnTo>
                    <a:pt x="1" y="257"/>
                  </a:lnTo>
                  <a:lnTo>
                    <a:pt x="1025" y="2420"/>
                  </a:lnTo>
                  <a:lnTo>
                    <a:pt x="1025" y="2420"/>
                  </a:lnTo>
                  <a:lnTo>
                    <a:pt x="1509" y="2192"/>
                  </a:lnTo>
                  <a:lnTo>
                    <a:pt x="59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8"/>
            <p:cNvSpPr/>
            <p:nvPr/>
          </p:nvSpPr>
          <p:spPr>
            <a:xfrm>
              <a:off x="1917663" y="3318900"/>
              <a:ext cx="16025" cy="40575"/>
            </a:xfrm>
            <a:custGeom>
              <a:avLst/>
              <a:gdLst/>
              <a:ahLst/>
              <a:cxnLst/>
              <a:rect l="l" t="t" r="r" b="b"/>
              <a:pathLst>
                <a:path w="641" h="1623" fill="none" extrusionOk="0">
                  <a:moveTo>
                    <a:pt x="100" y="0"/>
                  </a:moveTo>
                  <a:lnTo>
                    <a:pt x="0" y="1580"/>
                  </a:lnTo>
                  <a:lnTo>
                    <a:pt x="0" y="1580"/>
                  </a:lnTo>
                  <a:lnTo>
                    <a:pt x="541" y="1622"/>
                  </a:lnTo>
                  <a:lnTo>
                    <a:pt x="640" y="669"/>
                  </a:lnTo>
                  <a:lnTo>
                    <a:pt x="640" y="669"/>
                  </a:lnTo>
                  <a:lnTo>
                    <a:pt x="384" y="327"/>
                  </a:lnTo>
                  <a:lnTo>
                    <a:pt x="10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8"/>
            <p:cNvSpPr/>
            <p:nvPr/>
          </p:nvSpPr>
          <p:spPr>
            <a:xfrm>
              <a:off x="1840088" y="3301450"/>
              <a:ext cx="24225" cy="61225"/>
            </a:xfrm>
            <a:custGeom>
              <a:avLst/>
              <a:gdLst/>
              <a:ahLst/>
              <a:cxnLst/>
              <a:rect l="l" t="t" r="r" b="b"/>
              <a:pathLst>
                <a:path w="969" h="2449" fill="none" extrusionOk="0">
                  <a:moveTo>
                    <a:pt x="641" y="1"/>
                  </a:moveTo>
                  <a:lnTo>
                    <a:pt x="641" y="1"/>
                  </a:lnTo>
                  <a:lnTo>
                    <a:pt x="314" y="58"/>
                  </a:lnTo>
                  <a:lnTo>
                    <a:pt x="1" y="115"/>
                  </a:lnTo>
                  <a:lnTo>
                    <a:pt x="442" y="2448"/>
                  </a:lnTo>
                  <a:lnTo>
                    <a:pt x="442" y="2448"/>
                  </a:lnTo>
                  <a:lnTo>
                    <a:pt x="969" y="2363"/>
                  </a:lnTo>
                  <a:lnTo>
                    <a:pt x="64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2" name="Google Shape;412;p18"/>
          <p:cNvSpPr txBox="1">
            <a:spLocks noGrp="1"/>
          </p:cNvSpPr>
          <p:nvPr>
            <p:ph type="title"/>
          </p:nvPr>
        </p:nvSpPr>
        <p:spPr>
          <a:xfrm>
            <a:off x="457200" y="411475"/>
            <a:ext cx="8548914" cy="371400"/>
          </a:xfrm>
          <a:prstGeom prst="rect">
            <a:avLst/>
          </a:prstGeom>
        </p:spPr>
        <p:txBody>
          <a:bodyPr spcFirstLastPara="1" wrap="square" lIns="91425" tIns="91425" rIns="91425" bIns="91425" anchor="ctr" anchorCtr="0">
            <a:noAutofit/>
          </a:bodyPr>
          <a:lstStyle/>
          <a:p>
            <a:r>
              <a:rPr lang="en-US" sz="2400" dirty="0" err="1">
                <a:solidFill>
                  <a:srgbClr val="1D1D1B"/>
                </a:solidFill>
                <a:latin typeface="Tomorrow Semi Bold" pitchFamily="34" charset="0"/>
                <a:ea typeface="Tomorrow Semi Bold" pitchFamily="34" charset="-122"/>
                <a:cs typeface="Tomorrow Semi Bold" pitchFamily="34" charset="-120"/>
              </a:rPr>
              <a:t>Contexte</a:t>
            </a:r>
            <a:r>
              <a:rPr lang="en-US" sz="2400" dirty="0">
                <a:solidFill>
                  <a:srgbClr val="1D1D1B"/>
                </a:solidFill>
                <a:latin typeface="Tomorrow Semi Bold" pitchFamily="34" charset="0"/>
                <a:ea typeface="Tomorrow Semi Bold" pitchFamily="34" charset="-122"/>
                <a:cs typeface="Tomorrow Semi Bold" pitchFamily="34" charset="-120"/>
              </a:rPr>
              <a:t> et Motivations : Les </a:t>
            </a:r>
            <a:r>
              <a:rPr lang="en-US" sz="2400" dirty="0" err="1">
                <a:solidFill>
                  <a:srgbClr val="1D1D1B"/>
                </a:solidFill>
                <a:latin typeface="Tomorrow Semi Bold" pitchFamily="34" charset="0"/>
                <a:ea typeface="Tomorrow Semi Bold" pitchFamily="34" charset="-122"/>
                <a:cs typeface="Tomorrow Semi Bold" pitchFamily="34" charset="-120"/>
              </a:rPr>
              <a:t>Défis</a:t>
            </a:r>
            <a:r>
              <a:rPr lang="en-US" sz="2400" dirty="0">
                <a:solidFill>
                  <a:srgbClr val="1D1D1B"/>
                </a:solidFill>
                <a:latin typeface="Tomorrow Semi Bold" pitchFamily="34" charset="0"/>
                <a:ea typeface="Tomorrow Semi Bold" pitchFamily="34" charset="-122"/>
                <a:cs typeface="Tomorrow Semi Bold" pitchFamily="34" charset="-120"/>
              </a:rPr>
              <a:t> du Recrutement </a:t>
            </a:r>
            <a:r>
              <a:rPr lang="en-US" sz="2400" dirty="0" err="1">
                <a:solidFill>
                  <a:srgbClr val="1D1D1B"/>
                </a:solidFill>
                <a:latin typeface="Tomorrow Semi Bold" pitchFamily="34" charset="0"/>
                <a:ea typeface="Tomorrow Semi Bold" pitchFamily="34" charset="-122"/>
                <a:cs typeface="Tomorrow Semi Bold" pitchFamily="34" charset="-120"/>
              </a:rPr>
              <a:t>Traditionnel</a:t>
            </a:r>
            <a:endParaRPr lang="en-US" sz="2400" dirty="0"/>
          </a:p>
        </p:txBody>
      </p:sp>
      <p:sp>
        <p:nvSpPr>
          <p:cNvPr id="413" name="Google Shape;413;p18"/>
          <p:cNvSpPr/>
          <p:nvPr/>
        </p:nvSpPr>
        <p:spPr>
          <a:xfrm>
            <a:off x="1766602" y="3455840"/>
            <a:ext cx="230900" cy="230550"/>
          </a:xfrm>
          <a:custGeom>
            <a:avLst/>
            <a:gdLst/>
            <a:ahLst/>
            <a:cxnLst/>
            <a:rect l="l" t="t" r="r" b="b"/>
            <a:pathLst>
              <a:path w="9236" h="9222" extrusionOk="0">
                <a:moveTo>
                  <a:pt x="4383" y="0"/>
                </a:moveTo>
                <a:lnTo>
                  <a:pt x="4142" y="14"/>
                </a:lnTo>
                <a:lnTo>
                  <a:pt x="3914" y="43"/>
                </a:lnTo>
                <a:lnTo>
                  <a:pt x="3686" y="86"/>
                </a:lnTo>
                <a:lnTo>
                  <a:pt x="3459" y="142"/>
                </a:lnTo>
                <a:lnTo>
                  <a:pt x="3245" y="199"/>
                </a:lnTo>
                <a:lnTo>
                  <a:pt x="3032" y="271"/>
                </a:lnTo>
                <a:lnTo>
                  <a:pt x="2818" y="356"/>
                </a:lnTo>
                <a:lnTo>
                  <a:pt x="2619" y="456"/>
                </a:lnTo>
                <a:lnTo>
                  <a:pt x="2420" y="555"/>
                </a:lnTo>
                <a:lnTo>
                  <a:pt x="2221" y="669"/>
                </a:lnTo>
                <a:lnTo>
                  <a:pt x="2036" y="783"/>
                </a:lnTo>
                <a:lnTo>
                  <a:pt x="1851" y="911"/>
                </a:lnTo>
                <a:lnTo>
                  <a:pt x="1680" y="1053"/>
                </a:lnTo>
                <a:lnTo>
                  <a:pt x="1509" y="1195"/>
                </a:lnTo>
                <a:lnTo>
                  <a:pt x="1352" y="1352"/>
                </a:lnTo>
                <a:lnTo>
                  <a:pt x="1196" y="1509"/>
                </a:lnTo>
                <a:lnTo>
                  <a:pt x="1054" y="1679"/>
                </a:lnTo>
                <a:lnTo>
                  <a:pt x="926" y="1850"/>
                </a:lnTo>
                <a:lnTo>
                  <a:pt x="783" y="2035"/>
                </a:lnTo>
                <a:lnTo>
                  <a:pt x="669" y="2220"/>
                </a:lnTo>
                <a:lnTo>
                  <a:pt x="556" y="2405"/>
                </a:lnTo>
                <a:lnTo>
                  <a:pt x="456" y="2604"/>
                </a:lnTo>
                <a:lnTo>
                  <a:pt x="371" y="2818"/>
                </a:lnTo>
                <a:lnTo>
                  <a:pt x="285" y="3017"/>
                </a:lnTo>
                <a:lnTo>
                  <a:pt x="214" y="3230"/>
                </a:lnTo>
                <a:lnTo>
                  <a:pt x="143" y="3458"/>
                </a:lnTo>
                <a:lnTo>
                  <a:pt x="100" y="3671"/>
                </a:lnTo>
                <a:lnTo>
                  <a:pt x="58" y="3899"/>
                </a:lnTo>
                <a:lnTo>
                  <a:pt x="29" y="4141"/>
                </a:lnTo>
                <a:lnTo>
                  <a:pt x="15" y="4369"/>
                </a:lnTo>
                <a:lnTo>
                  <a:pt x="1" y="4611"/>
                </a:lnTo>
                <a:lnTo>
                  <a:pt x="15" y="4838"/>
                </a:lnTo>
                <a:lnTo>
                  <a:pt x="29" y="5080"/>
                </a:lnTo>
                <a:lnTo>
                  <a:pt x="58" y="5308"/>
                </a:lnTo>
                <a:lnTo>
                  <a:pt x="100" y="5536"/>
                </a:lnTo>
                <a:lnTo>
                  <a:pt x="143" y="5763"/>
                </a:lnTo>
                <a:lnTo>
                  <a:pt x="214" y="5977"/>
                </a:lnTo>
                <a:lnTo>
                  <a:pt x="285" y="6190"/>
                </a:lnTo>
                <a:lnTo>
                  <a:pt x="371" y="6404"/>
                </a:lnTo>
                <a:lnTo>
                  <a:pt x="456" y="6603"/>
                </a:lnTo>
                <a:lnTo>
                  <a:pt x="556" y="6802"/>
                </a:lnTo>
                <a:lnTo>
                  <a:pt x="669" y="7001"/>
                </a:lnTo>
                <a:lnTo>
                  <a:pt x="783" y="7186"/>
                </a:lnTo>
                <a:lnTo>
                  <a:pt x="926" y="7371"/>
                </a:lnTo>
                <a:lnTo>
                  <a:pt x="1054" y="7542"/>
                </a:lnTo>
                <a:lnTo>
                  <a:pt x="1196" y="7713"/>
                </a:lnTo>
                <a:lnTo>
                  <a:pt x="1352" y="7869"/>
                </a:lnTo>
                <a:lnTo>
                  <a:pt x="1509" y="8026"/>
                </a:lnTo>
                <a:lnTo>
                  <a:pt x="1680" y="8168"/>
                </a:lnTo>
                <a:lnTo>
                  <a:pt x="1851" y="8310"/>
                </a:lnTo>
                <a:lnTo>
                  <a:pt x="2036" y="8439"/>
                </a:lnTo>
                <a:lnTo>
                  <a:pt x="2221" y="8552"/>
                </a:lnTo>
                <a:lnTo>
                  <a:pt x="2420" y="8666"/>
                </a:lnTo>
                <a:lnTo>
                  <a:pt x="2619" y="8766"/>
                </a:lnTo>
                <a:lnTo>
                  <a:pt x="2818" y="8865"/>
                </a:lnTo>
                <a:lnTo>
                  <a:pt x="3032" y="8937"/>
                </a:lnTo>
                <a:lnTo>
                  <a:pt x="3245" y="9008"/>
                </a:lnTo>
                <a:lnTo>
                  <a:pt x="3459" y="9079"/>
                </a:lnTo>
                <a:lnTo>
                  <a:pt x="3686" y="9122"/>
                </a:lnTo>
                <a:lnTo>
                  <a:pt x="3914" y="9164"/>
                </a:lnTo>
                <a:lnTo>
                  <a:pt x="4142" y="9193"/>
                </a:lnTo>
                <a:lnTo>
                  <a:pt x="4383" y="9221"/>
                </a:lnTo>
                <a:lnTo>
                  <a:pt x="4853" y="9221"/>
                </a:lnTo>
                <a:lnTo>
                  <a:pt x="5095" y="9193"/>
                </a:lnTo>
                <a:lnTo>
                  <a:pt x="5323" y="9164"/>
                </a:lnTo>
                <a:lnTo>
                  <a:pt x="5550" y="9122"/>
                </a:lnTo>
                <a:lnTo>
                  <a:pt x="5764" y="9079"/>
                </a:lnTo>
                <a:lnTo>
                  <a:pt x="5991" y="9008"/>
                </a:lnTo>
                <a:lnTo>
                  <a:pt x="6205" y="8937"/>
                </a:lnTo>
                <a:lnTo>
                  <a:pt x="6418" y="8865"/>
                </a:lnTo>
                <a:lnTo>
                  <a:pt x="6618" y="8766"/>
                </a:lnTo>
                <a:lnTo>
                  <a:pt x="6817" y="8666"/>
                </a:lnTo>
                <a:lnTo>
                  <a:pt x="7002" y="8552"/>
                </a:lnTo>
                <a:lnTo>
                  <a:pt x="7201" y="8439"/>
                </a:lnTo>
                <a:lnTo>
                  <a:pt x="7372" y="8310"/>
                </a:lnTo>
                <a:lnTo>
                  <a:pt x="7557" y="8168"/>
                </a:lnTo>
                <a:lnTo>
                  <a:pt x="7713" y="8026"/>
                </a:lnTo>
                <a:lnTo>
                  <a:pt x="7884" y="7869"/>
                </a:lnTo>
                <a:lnTo>
                  <a:pt x="8026" y="7713"/>
                </a:lnTo>
                <a:lnTo>
                  <a:pt x="8183" y="7542"/>
                </a:lnTo>
                <a:lnTo>
                  <a:pt x="8311" y="7371"/>
                </a:lnTo>
                <a:lnTo>
                  <a:pt x="8439" y="7186"/>
                </a:lnTo>
                <a:lnTo>
                  <a:pt x="8567" y="7001"/>
                </a:lnTo>
                <a:lnTo>
                  <a:pt x="8667" y="6802"/>
                </a:lnTo>
                <a:lnTo>
                  <a:pt x="8780" y="6603"/>
                </a:lnTo>
                <a:lnTo>
                  <a:pt x="8866" y="6404"/>
                </a:lnTo>
                <a:lnTo>
                  <a:pt x="8951" y="6190"/>
                </a:lnTo>
                <a:lnTo>
                  <a:pt x="9022" y="5977"/>
                </a:lnTo>
                <a:lnTo>
                  <a:pt x="9079" y="5763"/>
                </a:lnTo>
                <a:lnTo>
                  <a:pt x="9136" y="5536"/>
                </a:lnTo>
                <a:lnTo>
                  <a:pt x="9179" y="5308"/>
                </a:lnTo>
                <a:lnTo>
                  <a:pt x="9207" y="5080"/>
                </a:lnTo>
                <a:lnTo>
                  <a:pt x="9222" y="4838"/>
                </a:lnTo>
                <a:lnTo>
                  <a:pt x="9236" y="4611"/>
                </a:lnTo>
                <a:lnTo>
                  <a:pt x="9222" y="4369"/>
                </a:lnTo>
                <a:lnTo>
                  <a:pt x="9207" y="4141"/>
                </a:lnTo>
                <a:lnTo>
                  <a:pt x="9179" y="3899"/>
                </a:lnTo>
                <a:lnTo>
                  <a:pt x="9136" y="3671"/>
                </a:lnTo>
                <a:lnTo>
                  <a:pt x="9079" y="3458"/>
                </a:lnTo>
                <a:lnTo>
                  <a:pt x="9022" y="3230"/>
                </a:lnTo>
                <a:lnTo>
                  <a:pt x="8951" y="3017"/>
                </a:lnTo>
                <a:lnTo>
                  <a:pt x="8866" y="2818"/>
                </a:lnTo>
                <a:lnTo>
                  <a:pt x="8780" y="2604"/>
                </a:lnTo>
                <a:lnTo>
                  <a:pt x="8667" y="2405"/>
                </a:lnTo>
                <a:lnTo>
                  <a:pt x="8567" y="2220"/>
                </a:lnTo>
                <a:lnTo>
                  <a:pt x="8439" y="2035"/>
                </a:lnTo>
                <a:lnTo>
                  <a:pt x="8311" y="1850"/>
                </a:lnTo>
                <a:lnTo>
                  <a:pt x="8183" y="1679"/>
                </a:lnTo>
                <a:lnTo>
                  <a:pt x="8026" y="1509"/>
                </a:lnTo>
                <a:lnTo>
                  <a:pt x="7884" y="1352"/>
                </a:lnTo>
                <a:lnTo>
                  <a:pt x="7713" y="1195"/>
                </a:lnTo>
                <a:lnTo>
                  <a:pt x="7557" y="1053"/>
                </a:lnTo>
                <a:lnTo>
                  <a:pt x="7372" y="911"/>
                </a:lnTo>
                <a:lnTo>
                  <a:pt x="7201" y="783"/>
                </a:lnTo>
                <a:lnTo>
                  <a:pt x="7002" y="669"/>
                </a:lnTo>
                <a:lnTo>
                  <a:pt x="6817" y="555"/>
                </a:lnTo>
                <a:lnTo>
                  <a:pt x="6618" y="456"/>
                </a:lnTo>
                <a:lnTo>
                  <a:pt x="6418" y="356"/>
                </a:lnTo>
                <a:lnTo>
                  <a:pt x="6205" y="271"/>
                </a:lnTo>
                <a:lnTo>
                  <a:pt x="5991" y="199"/>
                </a:lnTo>
                <a:lnTo>
                  <a:pt x="5764" y="142"/>
                </a:lnTo>
                <a:lnTo>
                  <a:pt x="5550" y="86"/>
                </a:lnTo>
                <a:lnTo>
                  <a:pt x="5323" y="43"/>
                </a:lnTo>
                <a:lnTo>
                  <a:pt x="5095" y="14"/>
                </a:lnTo>
                <a:lnTo>
                  <a:pt x="485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8"/>
          <p:cNvSpPr/>
          <p:nvPr/>
        </p:nvSpPr>
        <p:spPr>
          <a:xfrm>
            <a:off x="1766602" y="3455840"/>
            <a:ext cx="230900" cy="230550"/>
          </a:xfrm>
          <a:custGeom>
            <a:avLst/>
            <a:gdLst/>
            <a:ahLst/>
            <a:cxnLst/>
            <a:rect l="l" t="t" r="r" b="b"/>
            <a:pathLst>
              <a:path w="9236" h="9222" fill="none" extrusionOk="0">
                <a:moveTo>
                  <a:pt x="9236" y="4611"/>
                </a:moveTo>
                <a:lnTo>
                  <a:pt x="9236" y="4611"/>
                </a:lnTo>
                <a:lnTo>
                  <a:pt x="9222" y="4838"/>
                </a:lnTo>
                <a:lnTo>
                  <a:pt x="9207" y="5080"/>
                </a:lnTo>
                <a:lnTo>
                  <a:pt x="9179" y="5308"/>
                </a:lnTo>
                <a:lnTo>
                  <a:pt x="9136" y="5536"/>
                </a:lnTo>
                <a:lnTo>
                  <a:pt x="9079" y="5763"/>
                </a:lnTo>
                <a:lnTo>
                  <a:pt x="9022" y="5977"/>
                </a:lnTo>
                <a:lnTo>
                  <a:pt x="8951" y="6190"/>
                </a:lnTo>
                <a:lnTo>
                  <a:pt x="8866" y="6404"/>
                </a:lnTo>
                <a:lnTo>
                  <a:pt x="8780" y="6603"/>
                </a:lnTo>
                <a:lnTo>
                  <a:pt x="8667" y="6802"/>
                </a:lnTo>
                <a:lnTo>
                  <a:pt x="8567" y="7001"/>
                </a:lnTo>
                <a:lnTo>
                  <a:pt x="8439" y="7186"/>
                </a:lnTo>
                <a:lnTo>
                  <a:pt x="8311" y="7371"/>
                </a:lnTo>
                <a:lnTo>
                  <a:pt x="8183" y="7542"/>
                </a:lnTo>
                <a:lnTo>
                  <a:pt x="8026" y="7713"/>
                </a:lnTo>
                <a:lnTo>
                  <a:pt x="7884" y="7869"/>
                </a:lnTo>
                <a:lnTo>
                  <a:pt x="7713" y="8026"/>
                </a:lnTo>
                <a:lnTo>
                  <a:pt x="7557" y="8168"/>
                </a:lnTo>
                <a:lnTo>
                  <a:pt x="7372" y="8310"/>
                </a:lnTo>
                <a:lnTo>
                  <a:pt x="7201" y="8439"/>
                </a:lnTo>
                <a:lnTo>
                  <a:pt x="7002" y="8552"/>
                </a:lnTo>
                <a:lnTo>
                  <a:pt x="6817" y="8666"/>
                </a:lnTo>
                <a:lnTo>
                  <a:pt x="6618" y="8766"/>
                </a:lnTo>
                <a:lnTo>
                  <a:pt x="6418" y="8865"/>
                </a:lnTo>
                <a:lnTo>
                  <a:pt x="6205" y="8937"/>
                </a:lnTo>
                <a:lnTo>
                  <a:pt x="5991" y="9008"/>
                </a:lnTo>
                <a:lnTo>
                  <a:pt x="5764" y="9079"/>
                </a:lnTo>
                <a:lnTo>
                  <a:pt x="5550" y="9122"/>
                </a:lnTo>
                <a:lnTo>
                  <a:pt x="5323" y="9164"/>
                </a:lnTo>
                <a:lnTo>
                  <a:pt x="5095" y="9193"/>
                </a:lnTo>
                <a:lnTo>
                  <a:pt x="4853" y="9221"/>
                </a:lnTo>
                <a:lnTo>
                  <a:pt x="4611" y="9221"/>
                </a:lnTo>
                <a:lnTo>
                  <a:pt x="4611" y="9221"/>
                </a:lnTo>
                <a:lnTo>
                  <a:pt x="4383" y="9221"/>
                </a:lnTo>
                <a:lnTo>
                  <a:pt x="4142" y="9193"/>
                </a:lnTo>
                <a:lnTo>
                  <a:pt x="3914" y="9164"/>
                </a:lnTo>
                <a:lnTo>
                  <a:pt x="3686" y="9122"/>
                </a:lnTo>
                <a:lnTo>
                  <a:pt x="3459" y="9079"/>
                </a:lnTo>
                <a:lnTo>
                  <a:pt x="3245" y="9008"/>
                </a:lnTo>
                <a:lnTo>
                  <a:pt x="3032" y="8937"/>
                </a:lnTo>
                <a:lnTo>
                  <a:pt x="2818" y="8865"/>
                </a:lnTo>
                <a:lnTo>
                  <a:pt x="2619" y="8766"/>
                </a:lnTo>
                <a:lnTo>
                  <a:pt x="2420" y="8666"/>
                </a:lnTo>
                <a:lnTo>
                  <a:pt x="2221" y="8552"/>
                </a:lnTo>
                <a:lnTo>
                  <a:pt x="2036" y="8439"/>
                </a:lnTo>
                <a:lnTo>
                  <a:pt x="1851" y="8310"/>
                </a:lnTo>
                <a:lnTo>
                  <a:pt x="1680" y="8168"/>
                </a:lnTo>
                <a:lnTo>
                  <a:pt x="1509" y="8026"/>
                </a:lnTo>
                <a:lnTo>
                  <a:pt x="1352" y="7869"/>
                </a:lnTo>
                <a:lnTo>
                  <a:pt x="1196" y="7713"/>
                </a:lnTo>
                <a:lnTo>
                  <a:pt x="1054" y="7542"/>
                </a:lnTo>
                <a:lnTo>
                  <a:pt x="926" y="7371"/>
                </a:lnTo>
                <a:lnTo>
                  <a:pt x="783" y="7186"/>
                </a:lnTo>
                <a:lnTo>
                  <a:pt x="669" y="7001"/>
                </a:lnTo>
                <a:lnTo>
                  <a:pt x="556" y="6802"/>
                </a:lnTo>
                <a:lnTo>
                  <a:pt x="456" y="6603"/>
                </a:lnTo>
                <a:lnTo>
                  <a:pt x="371" y="6404"/>
                </a:lnTo>
                <a:lnTo>
                  <a:pt x="285" y="6190"/>
                </a:lnTo>
                <a:lnTo>
                  <a:pt x="214" y="5977"/>
                </a:lnTo>
                <a:lnTo>
                  <a:pt x="143" y="5763"/>
                </a:lnTo>
                <a:lnTo>
                  <a:pt x="100" y="5536"/>
                </a:lnTo>
                <a:lnTo>
                  <a:pt x="58" y="5308"/>
                </a:lnTo>
                <a:lnTo>
                  <a:pt x="29" y="5080"/>
                </a:lnTo>
                <a:lnTo>
                  <a:pt x="15" y="4838"/>
                </a:lnTo>
                <a:lnTo>
                  <a:pt x="1" y="4611"/>
                </a:lnTo>
                <a:lnTo>
                  <a:pt x="1" y="4611"/>
                </a:lnTo>
                <a:lnTo>
                  <a:pt x="15" y="4369"/>
                </a:lnTo>
                <a:lnTo>
                  <a:pt x="29" y="4141"/>
                </a:lnTo>
                <a:lnTo>
                  <a:pt x="58" y="3899"/>
                </a:lnTo>
                <a:lnTo>
                  <a:pt x="100" y="3671"/>
                </a:lnTo>
                <a:lnTo>
                  <a:pt x="143" y="3458"/>
                </a:lnTo>
                <a:lnTo>
                  <a:pt x="214" y="3230"/>
                </a:lnTo>
                <a:lnTo>
                  <a:pt x="285" y="3017"/>
                </a:lnTo>
                <a:lnTo>
                  <a:pt x="371" y="2818"/>
                </a:lnTo>
                <a:lnTo>
                  <a:pt x="456" y="2604"/>
                </a:lnTo>
                <a:lnTo>
                  <a:pt x="556" y="2405"/>
                </a:lnTo>
                <a:lnTo>
                  <a:pt x="669" y="2220"/>
                </a:lnTo>
                <a:lnTo>
                  <a:pt x="783" y="2035"/>
                </a:lnTo>
                <a:lnTo>
                  <a:pt x="926" y="1850"/>
                </a:lnTo>
                <a:lnTo>
                  <a:pt x="1054" y="1679"/>
                </a:lnTo>
                <a:lnTo>
                  <a:pt x="1196" y="1509"/>
                </a:lnTo>
                <a:lnTo>
                  <a:pt x="1352" y="1352"/>
                </a:lnTo>
                <a:lnTo>
                  <a:pt x="1509" y="1195"/>
                </a:lnTo>
                <a:lnTo>
                  <a:pt x="1680" y="1053"/>
                </a:lnTo>
                <a:lnTo>
                  <a:pt x="1851" y="911"/>
                </a:lnTo>
                <a:lnTo>
                  <a:pt x="2036" y="783"/>
                </a:lnTo>
                <a:lnTo>
                  <a:pt x="2221" y="669"/>
                </a:lnTo>
                <a:lnTo>
                  <a:pt x="2420" y="555"/>
                </a:lnTo>
                <a:lnTo>
                  <a:pt x="2619" y="456"/>
                </a:lnTo>
                <a:lnTo>
                  <a:pt x="2818" y="356"/>
                </a:lnTo>
                <a:lnTo>
                  <a:pt x="3032" y="271"/>
                </a:lnTo>
                <a:lnTo>
                  <a:pt x="3245" y="199"/>
                </a:lnTo>
                <a:lnTo>
                  <a:pt x="3459" y="142"/>
                </a:lnTo>
                <a:lnTo>
                  <a:pt x="3686" y="86"/>
                </a:lnTo>
                <a:lnTo>
                  <a:pt x="3914" y="43"/>
                </a:lnTo>
                <a:lnTo>
                  <a:pt x="4142" y="14"/>
                </a:lnTo>
                <a:lnTo>
                  <a:pt x="4383" y="0"/>
                </a:lnTo>
                <a:lnTo>
                  <a:pt x="4611" y="0"/>
                </a:lnTo>
                <a:lnTo>
                  <a:pt x="4611" y="0"/>
                </a:lnTo>
                <a:lnTo>
                  <a:pt x="4853" y="0"/>
                </a:lnTo>
                <a:lnTo>
                  <a:pt x="5095" y="14"/>
                </a:lnTo>
                <a:lnTo>
                  <a:pt x="5323" y="43"/>
                </a:lnTo>
                <a:lnTo>
                  <a:pt x="5550" y="86"/>
                </a:lnTo>
                <a:lnTo>
                  <a:pt x="5764" y="142"/>
                </a:lnTo>
                <a:lnTo>
                  <a:pt x="5991" y="199"/>
                </a:lnTo>
                <a:lnTo>
                  <a:pt x="6205" y="271"/>
                </a:lnTo>
                <a:lnTo>
                  <a:pt x="6418" y="356"/>
                </a:lnTo>
                <a:lnTo>
                  <a:pt x="6618" y="456"/>
                </a:lnTo>
                <a:lnTo>
                  <a:pt x="6817" y="555"/>
                </a:lnTo>
                <a:lnTo>
                  <a:pt x="7002" y="669"/>
                </a:lnTo>
                <a:lnTo>
                  <a:pt x="7201" y="783"/>
                </a:lnTo>
                <a:lnTo>
                  <a:pt x="7372" y="911"/>
                </a:lnTo>
                <a:lnTo>
                  <a:pt x="7557" y="1053"/>
                </a:lnTo>
                <a:lnTo>
                  <a:pt x="7713" y="1195"/>
                </a:lnTo>
                <a:lnTo>
                  <a:pt x="7884" y="1352"/>
                </a:lnTo>
                <a:lnTo>
                  <a:pt x="8026" y="1509"/>
                </a:lnTo>
                <a:lnTo>
                  <a:pt x="8183" y="1679"/>
                </a:lnTo>
                <a:lnTo>
                  <a:pt x="8311" y="1850"/>
                </a:lnTo>
                <a:lnTo>
                  <a:pt x="8439" y="2035"/>
                </a:lnTo>
                <a:lnTo>
                  <a:pt x="8567" y="2220"/>
                </a:lnTo>
                <a:lnTo>
                  <a:pt x="8667" y="2405"/>
                </a:lnTo>
                <a:lnTo>
                  <a:pt x="8780" y="2604"/>
                </a:lnTo>
                <a:lnTo>
                  <a:pt x="8866" y="2818"/>
                </a:lnTo>
                <a:lnTo>
                  <a:pt x="8951" y="3017"/>
                </a:lnTo>
                <a:lnTo>
                  <a:pt x="9022" y="3230"/>
                </a:lnTo>
                <a:lnTo>
                  <a:pt x="9079" y="3458"/>
                </a:lnTo>
                <a:lnTo>
                  <a:pt x="9136" y="3671"/>
                </a:lnTo>
                <a:lnTo>
                  <a:pt x="9179" y="3899"/>
                </a:lnTo>
                <a:lnTo>
                  <a:pt x="9207" y="4141"/>
                </a:lnTo>
                <a:lnTo>
                  <a:pt x="9222" y="4369"/>
                </a:lnTo>
                <a:lnTo>
                  <a:pt x="9236" y="461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8"/>
          <p:cNvSpPr/>
          <p:nvPr/>
        </p:nvSpPr>
        <p:spPr>
          <a:xfrm>
            <a:off x="1766602" y="3455840"/>
            <a:ext cx="164750" cy="142325"/>
          </a:xfrm>
          <a:custGeom>
            <a:avLst/>
            <a:gdLst/>
            <a:ahLst/>
            <a:cxnLst/>
            <a:rect l="l" t="t" r="r" b="b"/>
            <a:pathLst>
              <a:path w="6590" h="5693" extrusionOk="0">
                <a:moveTo>
                  <a:pt x="4383" y="0"/>
                </a:moveTo>
                <a:lnTo>
                  <a:pt x="4142" y="14"/>
                </a:lnTo>
                <a:lnTo>
                  <a:pt x="3914" y="43"/>
                </a:lnTo>
                <a:lnTo>
                  <a:pt x="3686" y="86"/>
                </a:lnTo>
                <a:lnTo>
                  <a:pt x="3459" y="142"/>
                </a:lnTo>
                <a:lnTo>
                  <a:pt x="3245" y="199"/>
                </a:lnTo>
                <a:lnTo>
                  <a:pt x="3032" y="271"/>
                </a:lnTo>
                <a:lnTo>
                  <a:pt x="2818" y="356"/>
                </a:lnTo>
                <a:lnTo>
                  <a:pt x="2619" y="456"/>
                </a:lnTo>
                <a:lnTo>
                  <a:pt x="2420" y="555"/>
                </a:lnTo>
                <a:lnTo>
                  <a:pt x="2221" y="669"/>
                </a:lnTo>
                <a:lnTo>
                  <a:pt x="2036" y="783"/>
                </a:lnTo>
                <a:lnTo>
                  <a:pt x="1851" y="911"/>
                </a:lnTo>
                <a:lnTo>
                  <a:pt x="1680" y="1053"/>
                </a:lnTo>
                <a:lnTo>
                  <a:pt x="1509" y="1195"/>
                </a:lnTo>
                <a:lnTo>
                  <a:pt x="1352" y="1352"/>
                </a:lnTo>
                <a:lnTo>
                  <a:pt x="1196" y="1509"/>
                </a:lnTo>
                <a:lnTo>
                  <a:pt x="1054" y="1679"/>
                </a:lnTo>
                <a:lnTo>
                  <a:pt x="926" y="1850"/>
                </a:lnTo>
                <a:lnTo>
                  <a:pt x="783" y="2035"/>
                </a:lnTo>
                <a:lnTo>
                  <a:pt x="669" y="2220"/>
                </a:lnTo>
                <a:lnTo>
                  <a:pt x="556" y="2405"/>
                </a:lnTo>
                <a:lnTo>
                  <a:pt x="456" y="2604"/>
                </a:lnTo>
                <a:lnTo>
                  <a:pt x="371" y="2818"/>
                </a:lnTo>
                <a:lnTo>
                  <a:pt x="285" y="3017"/>
                </a:lnTo>
                <a:lnTo>
                  <a:pt x="214" y="3230"/>
                </a:lnTo>
                <a:lnTo>
                  <a:pt x="143" y="3458"/>
                </a:lnTo>
                <a:lnTo>
                  <a:pt x="100" y="3671"/>
                </a:lnTo>
                <a:lnTo>
                  <a:pt x="58" y="3899"/>
                </a:lnTo>
                <a:lnTo>
                  <a:pt x="29" y="4141"/>
                </a:lnTo>
                <a:lnTo>
                  <a:pt x="15" y="4369"/>
                </a:lnTo>
                <a:lnTo>
                  <a:pt x="1" y="4611"/>
                </a:lnTo>
                <a:lnTo>
                  <a:pt x="15" y="4881"/>
                </a:lnTo>
                <a:lnTo>
                  <a:pt x="29" y="5151"/>
                </a:lnTo>
                <a:lnTo>
                  <a:pt x="72" y="5422"/>
                </a:lnTo>
                <a:lnTo>
                  <a:pt x="129" y="5692"/>
                </a:lnTo>
                <a:lnTo>
                  <a:pt x="413" y="5649"/>
                </a:lnTo>
                <a:lnTo>
                  <a:pt x="684" y="5607"/>
                </a:lnTo>
                <a:lnTo>
                  <a:pt x="968" y="5550"/>
                </a:lnTo>
                <a:lnTo>
                  <a:pt x="1239" y="5479"/>
                </a:lnTo>
                <a:lnTo>
                  <a:pt x="1509" y="5393"/>
                </a:lnTo>
                <a:lnTo>
                  <a:pt x="1765" y="5308"/>
                </a:lnTo>
                <a:lnTo>
                  <a:pt x="2021" y="5208"/>
                </a:lnTo>
                <a:lnTo>
                  <a:pt x="2277" y="5109"/>
                </a:lnTo>
                <a:lnTo>
                  <a:pt x="2534" y="4995"/>
                </a:lnTo>
                <a:lnTo>
                  <a:pt x="2775" y="4881"/>
                </a:lnTo>
                <a:lnTo>
                  <a:pt x="3017" y="4739"/>
                </a:lnTo>
                <a:lnTo>
                  <a:pt x="3259" y="4611"/>
                </a:lnTo>
                <a:lnTo>
                  <a:pt x="3487" y="4468"/>
                </a:lnTo>
                <a:lnTo>
                  <a:pt x="3700" y="4312"/>
                </a:lnTo>
                <a:lnTo>
                  <a:pt x="3928" y="4141"/>
                </a:lnTo>
                <a:lnTo>
                  <a:pt x="4142" y="3985"/>
                </a:lnTo>
                <a:lnTo>
                  <a:pt x="4341" y="3800"/>
                </a:lnTo>
                <a:lnTo>
                  <a:pt x="4540" y="3615"/>
                </a:lnTo>
                <a:lnTo>
                  <a:pt x="4739" y="3430"/>
                </a:lnTo>
                <a:lnTo>
                  <a:pt x="4924" y="3230"/>
                </a:lnTo>
                <a:lnTo>
                  <a:pt x="5109" y="3031"/>
                </a:lnTo>
                <a:lnTo>
                  <a:pt x="5280" y="2818"/>
                </a:lnTo>
                <a:lnTo>
                  <a:pt x="5451" y="2604"/>
                </a:lnTo>
                <a:lnTo>
                  <a:pt x="5607" y="2391"/>
                </a:lnTo>
                <a:lnTo>
                  <a:pt x="5750" y="2163"/>
                </a:lnTo>
                <a:lnTo>
                  <a:pt x="5906" y="1935"/>
                </a:lnTo>
                <a:lnTo>
                  <a:pt x="6034" y="1694"/>
                </a:lnTo>
                <a:lnTo>
                  <a:pt x="6162" y="1452"/>
                </a:lnTo>
                <a:lnTo>
                  <a:pt x="6276" y="1210"/>
                </a:lnTo>
                <a:lnTo>
                  <a:pt x="6390" y="954"/>
                </a:lnTo>
                <a:lnTo>
                  <a:pt x="6489" y="697"/>
                </a:lnTo>
                <a:lnTo>
                  <a:pt x="6589" y="427"/>
                </a:lnTo>
                <a:lnTo>
                  <a:pt x="6361" y="327"/>
                </a:lnTo>
                <a:lnTo>
                  <a:pt x="6120" y="242"/>
                </a:lnTo>
                <a:lnTo>
                  <a:pt x="5892" y="171"/>
                </a:lnTo>
                <a:lnTo>
                  <a:pt x="5636" y="114"/>
                </a:lnTo>
                <a:lnTo>
                  <a:pt x="5394" y="57"/>
                </a:lnTo>
                <a:lnTo>
                  <a:pt x="5138" y="29"/>
                </a:lnTo>
                <a:lnTo>
                  <a:pt x="4882" y="0"/>
                </a:lnTo>
                <a:close/>
              </a:path>
            </a:pathLst>
          </a:custGeom>
          <a:solidFill>
            <a:srgbClr val="D53F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8"/>
          <p:cNvSpPr/>
          <p:nvPr/>
        </p:nvSpPr>
        <p:spPr>
          <a:xfrm>
            <a:off x="1766602" y="3455840"/>
            <a:ext cx="164750" cy="142325"/>
          </a:xfrm>
          <a:custGeom>
            <a:avLst/>
            <a:gdLst/>
            <a:ahLst/>
            <a:cxnLst/>
            <a:rect l="l" t="t" r="r" b="b"/>
            <a:pathLst>
              <a:path w="6590" h="5693" fill="none" extrusionOk="0">
                <a:moveTo>
                  <a:pt x="4611" y="0"/>
                </a:moveTo>
                <a:lnTo>
                  <a:pt x="4611" y="0"/>
                </a:lnTo>
                <a:lnTo>
                  <a:pt x="4383" y="0"/>
                </a:lnTo>
                <a:lnTo>
                  <a:pt x="4142" y="14"/>
                </a:lnTo>
                <a:lnTo>
                  <a:pt x="3914" y="43"/>
                </a:lnTo>
                <a:lnTo>
                  <a:pt x="3686" y="86"/>
                </a:lnTo>
                <a:lnTo>
                  <a:pt x="3459" y="142"/>
                </a:lnTo>
                <a:lnTo>
                  <a:pt x="3245" y="199"/>
                </a:lnTo>
                <a:lnTo>
                  <a:pt x="3032" y="271"/>
                </a:lnTo>
                <a:lnTo>
                  <a:pt x="2818" y="356"/>
                </a:lnTo>
                <a:lnTo>
                  <a:pt x="2619" y="456"/>
                </a:lnTo>
                <a:lnTo>
                  <a:pt x="2420" y="555"/>
                </a:lnTo>
                <a:lnTo>
                  <a:pt x="2221" y="669"/>
                </a:lnTo>
                <a:lnTo>
                  <a:pt x="2036" y="783"/>
                </a:lnTo>
                <a:lnTo>
                  <a:pt x="1851" y="911"/>
                </a:lnTo>
                <a:lnTo>
                  <a:pt x="1680" y="1053"/>
                </a:lnTo>
                <a:lnTo>
                  <a:pt x="1509" y="1195"/>
                </a:lnTo>
                <a:lnTo>
                  <a:pt x="1352" y="1352"/>
                </a:lnTo>
                <a:lnTo>
                  <a:pt x="1196" y="1509"/>
                </a:lnTo>
                <a:lnTo>
                  <a:pt x="1054" y="1679"/>
                </a:lnTo>
                <a:lnTo>
                  <a:pt x="926" y="1850"/>
                </a:lnTo>
                <a:lnTo>
                  <a:pt x="783" y="2035"/>
                </a:lnTo>
                <a:lnTo>
                  <a:pt x="669" y="2220"/>
                </a:lnTo>
                <a:lnTo>
                  <a:pt x="556" y="2405"/>
                </a:lnTo>
                <a:lnTo>
                  <a:pt x="456" y="2604"/>
                </a:lnTo>
                <a:lnTo>
                  <a:pt x="371" y="2818"/>
                </a:lnTo>
                <a:lnTo>
                  <a:pt x="285" y="3017"/>
                </a:lnTo>
                <a:lnTo>
                  <a:pt x="214" y="3230"/>
                </a:lnTo>
                <a:lnTo>
                  <a:pt x="143" y="3458"/>
                </a:lnTo>
                <a:lnTo>
                  <a:pt x="100" y="3671"/>
                </a:lnTo>
                <a:lnTo>
                  <a:pt x="58" y="3899"/>
                </a:lnTo>
                <a:lnTo>
                  <a:pt x="29" y="4141"/>
                </a:lnTo>
                <a:lnTo>
                  <a:pt x="15" y="4369"/>
                </a:lnTo>
                <a:lnTo>
                  <a:pt x="1" y="4611"/>
                </a:lnTo>
                <a:lnTo>
                  <a:pt x="1" y="4611"/>
                </a:lnTo>
                <a:lnTo>
                  <a:pt x="15" y="4881"/>
                </a:lnTo>
                <a:lnTo>
                  <a:pt x="29" y="5151"/>
                </a:lnTo>
                <a:lnTo>
                  <a:pt x="72" y="5422"/>
                </a:lnTo>
                <a:lnTo>
                  <a:pt x="129" y="5692"/>
                </a:lnTo>
                <a:lnTo>
                  <a:pt x="129" y="5692"/>
                </a:lnTo>
                <a:lnTo>
                  <a:pt x="413" y="5649"/>
                </a:lnTo>
                <a:lnTo>
                  <a:pt x="684" y="5607"/>
                </a:lnTo>
                <a:lnTo>
                  <a:pt x="968" y="5550"/>
                </a:lnTo>
                <a:lnTo>
                  <a:pt x="1239" y="5479"/>
                </a:lnTo>
                <a:lnTo>
                  <a:pt x="1509" y="5393"/>
                </a:lnTo>
                <a:lnTo>
                  <a:pt x="1765" y="5308"/>
                </a:lnTo>
                <a:lnTo>
                  <a:pt x="2021" y="5208"/>
                </a:lnTo>
                <a:lnTo>
                  <a:pt x="2277" y="5109"/>
                </a:lnTo>
                <a:lnTo>
                  <a:pt x="2534" y="4995"/>
                </a:lnTo>
                <a:lnTo>
                  <a:pt x="2775" y="4881"/>
                </a:lnTo>
                <a:lnTo>
                  <a:pt x="3017" y="4739"/>
                </a:lnTo>
                <a:lnTo>
                  <a:pt x="3259" y="4611"/>
                </a:lnTo>
                <a:lnTo>
                  <a:pt x="3487" y="4468"/>
                </a:lnTo>
                <a:lnTo>
                  <a:pt x="3700" y="4312"/>
                </a:lnTo>
                <a:lnTo>
                  <a:pt x="3928" y="4141"/>
                </a:lnTo>
                <a:lnTo>
                  <a:pt x="4142" y="3985"/>
                </a:lnTo>
                <a:lnTo>
                  <a:pt x="4341" y="3800"/>
                </a:lnTo>
                <a:lnTo>
                  <a:pt x="4540" y="3615"/>
                </a:lnTo>
                <a:lnTo>
                  <a:pt x="4739" y="3430"/>
                </a:lnTo>
                <a:lnTo>
                  <a:pt x="4924" y="3230"/>
                </a:lnTo>
                <a:lnTo>
                  <a:pt x="5109" y="3031"/>
                </a:lnTo>
                <a:lnTo>
                  <a:pt x="5280" y="2818"/>
                </a:lnTo>
                <a:lnTo>
                  <a:pt x="5451" y="2604"/>
                </a:lnTo>
                <a:lnTo>
                  <a:pt x="5607" y="2391"/>
                </a:lnTo>
                <a:lnTo>
                  <a:pt x="5750" y="2163"/>
                </a:lnTo>
                <a:lnTo>
                  <a:pt x="5906" y="1935"/>
                </a:lnTo>
                <a:lnTo>
                  <a:pt x="6034" y="1694"/>
                </a:lnTo>
                <a:lnTo>
                  <a:pt x="6162" y="1452"/>
                </a:lnTo>
                <a:lnTo>
                  <a:pt x="6276" y="1210"/>
                </a:lnTo>
                <a:lnTo>
                  <a:pt x="6390" y="954"/>
                </a:lnTo>
                <a:lnTo>
                  <a:pt x="6489" y="697"/>
                </a:lnTo>
                <a:lnTo>
                  <a:pt x="6589" y="427"/>
                </a:lnTo>
                <a:lnTo>
                  <a:pt x="6589" y="427"/>
                </a:lnTo>
                <a:lnTo>
                  <a:pt x="6361" y="327"/>
                </a:lnTo>
                <a:lnTo>
                  <a:pt x="6120" y="242"/>
                </a:lnTo>
                <a:lnTo>
                  <a:pt x="5892" y="171"/>
                </a:lnTo>
                <a:lnTo>
                  <a:pt x="5636" y="114"/>
                </a:lnTo>
                <a:lnTo>
                  <a:pt x="5394" y="57"/>
                </a:lnTo>
                <a:lnTo>
                  <a:pt x="5138" y="29"/>
                </a:lnTo>
                <a:lnTo>
                  <a:pt x="4882" y="0"/>
                </a:lnTo>
                <a:lnTo>
                  <a:pt x="461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8"/>
          <p:cNvSpPr/>
          <p:nvPr/>
        </p:nvSpPr>
        <p:spPr>
          <a:xfrm>
            <a:off x="1884789" y="1340340"/>
            <a:ext cx="2290775" cy="2252650"/>
          </a:xfrm>
          <a:custGeom>
            <a:avLst/>
            <a:gdLst/>
            <a:ahLst/>
            <a:cxnLst/>
            <a:rect l="l" t="t" r="r" b="b"/>
            <a:pathLst>
              <a:path w="91631" h="90106" extrusionOk="0">
                <a:moveTo>
                  <a:pt x="0" y="90106"/>
                </a:moveTo>
                <a:lnTo>
                  <a:pt x="84773" y="0"/>
                </a:lnTo>
                <a:lnTo>
                  <a:pt x="91631" y="16192"/>
                </a:lnTo>
                <a:close/>
              </a:path>
            </a:pathLst>
          </a:custGeom>
          <a:solidFill>
            <a:srgbClr val="666666">
              <a:alpha val="12549"/>
            </a:srgbClr>
          </a:solidFill>
          <a:ln>
            <a:noFill/>
          </a:ln>
        </p:spPr>
        <p:txBody>
          <a:bodyPr/>
          <a:lstStyle/>
          <a:p>
            <a:endParaRPr lang="fr-FR"/>
          </a:p>
        </p:txBody>
      </p:sp>
      <p:grpSp>
        <p:nvGrpSpPr>
          <p:cNvPr id="418" name="Google Shape;418;p18"/>
          <p:cNvGrpSpPr/>
          <p:nvPr/>
        </p:nvGrpSpPr>
        <p:grpSpPr>
          <a:xfrm>
            <a:off x="3929463" y="1186015"/>
            <a:ext cx="4725888" cy="650100"/>
            <a:chOff x="3961063" y="1231575"/>
            <a:chExt cx="4725888" cy="650100"/>
          </a:xfrm>
        </p:grpSpPr>
        <p:sp>
          <p:nvSpPr>
            <p:cNvPr id="419" name="Google Shape;419;p18"/>
            <p:cNvSpPr/>
            <p:nvPr/>
          </p:nvSpPr>
          <p:spPr>
            <a:xfrm>
              <a:off x="5010150" y="1231575"/>
              <a:ext cx="3676800" cy="650100"/>
            </a:xfrm>
            <a:prstGeom prst="roundRect">
              <a:avLst>
                <a:gd name="adj" fmla="val 50000"/>
              </a:avLst>
            </a:prstGeom>
            <a:solidFill>
              <a:srgbClr val="E99B27">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8"/>
            <p:cNvSpPr/>
            <p:nvPr/>
          </p:nvSpPr>
          <p:spPr>
            <a:xfrm>
              <a:off x="3961063" y="1324425"/>
              <a:ext cx="2130000" cy="46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18"/>
          <p:cNvGrpSpPr/>
          <p:nvPr/>
        </p:nvGrpSpPr>
        <p:grpSpPr>
          <a:xfrm>
            <a:off x="3861464" y="1345165"/>
            <a:ext cx="4793885" cy="331813"/>
            <a:chOff x="3891200" y="1390725"/>
            <a:chExt cx="4734708" cy="331813"/>
          </a:xfrm>
        </p:grpSpPr>
        <p:sp>
          <p:nvSpPr>
            <p:cNvPr id="422" name="Google Shape;422;p18"/>
            <p:cNvSpPr txBox="1"/>
            <p:nvPr/>
          </p:nvSpPr>
          <p:spPr>
            <a:xfrm>
              <a:off x="6062066" y="1390738"/>
              <a:ext cx="2563842" cy="331800"/>
            </a:xfrm>
            <a:prstGeom prst="rect">
              <a:avLst/>
            </a:prstGeom>
            <a:noFill/>
            <a:ln>
              <a:noFill/>
            </a:ln>
          </p:spPr>
          <p:txBody>
            <a:bodyPr spcFirstLastPara="1" wrap="square" lIns="91425" tIns="91425" rIns="91425" bIns="91425" anchor="ctr" anchorCtr="0">
              <a:noAutofit/>
            </a:bodyPr>
            <a:lstStyle/>
            <a:p>
              <a:pPr algn="ctr"/>
              <a:r>
                <a:rPr lang="en-US" sz="1050" dirty="0">
                  <a:solidFill>
                    <a:schemeClr val="tx1"/>
                  </a:solidFill>
                  <a:latin typeface="Tomorrow" pitchFamily="34" charset="0"/>
                  <a:ea typeface="Tomorrow" pitchFamily="34" charset="-122"/>
                  <a:cs typeface="Tomorrow" pitchFamily="34" charset="-120"/>
                </a:rPr>
                <a:t>Le </a:t>
              </a:r>
              <a:r>
                <a:rPr lang="en-US" sz="1050" dirty="0" err="1">
                  <a:solidFill>
                    <a:schemeClr val="tx1"/>
                  </a:solidFill>
                  <a:latin typeface="Tomorrow" pitchFamily="34" charset="0"/>
                  <a:ea typeface="Tomorrow" pitchFamily="34" charset="-122"/>
                  <a:cs typeface="Tomorrow" pitchFamily="34" charset="-120"/>
                </a:rPr>
                <a:t>traitement</a:t>
              </a:r>
              <a:r>
                <a:rPr lang="en-US" sz="1050" dirty="0">
                  <a:solidFill>
                    <a:schemeClr val="tx1"/>
                  </a:solidFill>
                  <a:latin typeface="Tomorrow" pitchFamily="34" charset="0"/>
                  <a:ea typeface="Tomorrow" pitchFamily="34" charset="-122"/>
                  <a:cs typeface="Tomorrow" pitchFamily="34" charset="-120"/>
                </a:rPr>
                <a:t> </a:t>
              </a:r>
              <a:r>
                <a:rPr lang="en-US" sz="1050" dirty="0" err="1">
                  <a:solidFill>
                    <a:schemeClr val="tx1"/>
                  </a:solidFill>
                  <a:latin typeface="Tomorrow" pitchFamily="34" charset="0"/>
                  <a:ea typeface="Tomorrow" pitchFamily="34" charset="-122"/>
                  <a:cs typeface="Tomorrow" pitchFamily="34" charset="-120"/>
                </a:rPr>
                <a:t>manuel</a:t>
              </a:r>
              <a:r>
                <a:rPr lang="en-US" sz="1050" dirty="0">
                  <a:solidFill>
                    <a:schemeClr val="tx1"/>
                  </a:solidFill>
                  <a:latin typeface="Tomorrow" pitchFamily="34" charset="0"/>
                  <a:ea typeface="Tomorrow" pitchFamily="34" charset="-122"/>
                  <a:cs typeface="Tomorrow" pitchFamily="34" charset="-120"/>
                </a:rPr>
                <a:t> de </a:t>
              </a:r>
              <a:r>
                <a:rPr lang="en-US" sz="1050" dirty="0" err="1">
                  <a:solidFill>
                    <a:schemeClr val="tx1"/>
                  </a:solidFill>
                  <a:latin typeface="Tomorrow" pitchFamily="34" charset="0"/>
                  <a:ea typeface="Tomorrow" pitchFamily="34" charset="-122"/>
                  <a:cs typeface="Tomorrow" pitchFamily="34" charset="-120"/>
                </a:rPr>
                <a:t>centaines</a:t>
              </a:r>
              <a:r>
                <a:rPr lang="en-US" sz="1050" dirty="0">
                  <a:solidFill>
                    <a:schemeClr val="tx1"/>
                  </a:solidFill>
                  <a:latin typeface="Tomorrow" pitchFamily="34" charset="0"/>
                  <a:ea typeface="Tomorrow" pitchFamily="34" charset="-122"/>
                  <a:cs typeface="Tomorrow" pitchFamily="34" charset="-120"/>
                </a:rPr>
                <a:t>, </a:t>
              </a:r>
              <a:r>
                <a:rPr lang="en-US" sz="1050" dirty="0" err="1">
                  <a:solidFill>
                    <a:schemeClr val="tx1"/>
                  </a:solidFill>
                  <a:latin typeface="Tomorrow" pitchFamily="34" charset="0"/>
                  <a:ea typeface="Tomorrow" pitchFamily="34" charset="-122"/>
                  <a:cs typeface="Tomorrow" pitchFamily="34" charset="-120"/>
                </a:rPr>
                <a:t>voire</a:t>
              </a:r>
              <a:r>
                <a:rPr lang="en-US" sz="1050" dirty="0">
                  <a:solidFill>
                    <a:schemeClr val="tx1"/>
                  </a:solidFill>
                  <a:latin typeface="Tomorrow" pitchFamily="34" charset="0"/>
                  <a:ea typeface="Tomorrow" pitchFamily="34" charset="-122"/>
                  <a:cs typeface="Tomorrow" pitchFamily="34" charset="-120"/>
                </a:rPr>
                <a:t> de </a:t>
              </a:r>
              <a:r>
                <a:rPr lang="en-US" sz="1050" dirty="0" err="1">
                  <a:solidFill>
                    <a:schemeClr val="tx1"/>
                  </a:solidFill>
                  <a:latin typeface="Tomorrow" pitchFamily="34" charset="0"/>
                  <a:ea typeface="Tomorrow" pitchFamily="34" charset="-122"/>
                  <a:cs typeface="Tomorrow" pitchFamily="34" charset="-120"/>
                </a:rPr>
                <a:t>milliers</a:t>
              </a:r>
              <a:r>
                <a:rPr lang="en-US" sz="1050" dirty="0">
                  <a:solidFill>
                    <a:schemeClr val="tx1"/>
                  </a:solidFill>
                  <a:latin typeface="Tomorrow" pitchFamily="34" charset="0"/>
                  <a:ea typeface="Tomorrow" pitchFamily="34" charset="-122"/>
                  <a:cs typeface="Tomorrow" pitchFamily="34" charset="-120"/>
                </a:rPr>
                <a:t> de CV, est une </a:t>
              </a:r>
              <a:r>
                <a:rPr lang="en-US" sz="1050" dirty="0" err="1">
                  <a:solidFill>
                    <a:schemeClr val="tx1"/>
                  </a:solidFill>
                  <a:latin typeface="Tomorrow" pitchFamily="34" charset="0"/>
                  <a:ea typeface="Tomorrow" pitchFamily="34" charset="-122"/>
                  <a:cs typeface="Tomorrow" pitchFamily="34" charset="-120"/>
                </a:rPr>
                <a:t>tâche</a:t>
              </a:r>
              <a:r>
                <a:rPr lang="en-US" sz="1050" dirty="0">
                  <a:solidFill>
                    <a:schemeClr val="tx1"/>
                  </a:solidFill>
                  <a:latin typeface="Tomorrow" pitchFamily="34" charset="0"/>
                  <a:ea typeface="Tomorrow" pitchFamily="34" charset="-122"/>
                  <a:cs typeface="Tomorrow" pitchFamily="34" charset="-120"/>
                </a:rPr>
                <a:t> </a:t>
              </a:r>
              <a:r>
                <a:rPr lang="en-US" sz="1050" dirty="0" err="1">
                  <a:solidFill>
                    <a:schemeClr val="tx1"/>
                  </a:solidFill>
                  <a:latin typeface="Tomorrow" pitchFamily="34" charset="0"/>
                  <a:ea typeface="Tomorrow" pitchFamily="34" charset="-122"/>
                  <a:cs typeface="Tomorrow" pitchFamily="34" charset="-120"/>
                </a:rPr>
                <a:t>colossale</a:t>
              </a:r>
              <a:r>
                <a:rPr lang="en-US" sz="1050" dirty="0">
                  <a:solidFill>
                    <a:schemeClr val="tx1"/>
                  </a:solidFill>
                  <a:latin typeface="Tomorrow" pitchFamily="34" charset="0"/>
                  <a:ea typeface="Tomorrow" pitchFamily="34" charset="-122"/>
                  <a:cs typeface="Tomorrow" pitchFamily="34" charset="-120"/>
                </a:rPr>
                <a:t>, </a:t>
              </a:r>
              <a:r>
                <a:rPr lang="en-US" sz="1050" dirty="0" err="1">
                  <a:solidFill>
                    <a:schemeClr val="tx1"/>
                  </a:solidFill>
                  <a:latin typeface="Tomorrow" pitchFamily="34" charset="0"/>
                  <a:ea typeface="Tomorrow" pitchFamily="34" charset="-122"/>
                  <a:cs typeface="Tomorrow" pitchFamily="34" charset="-120"/>
                </a:rPr>
                <a:t>chronophage</a:t>
              </a:r>
              <a:r>
                <a:rPr lang="en-US" sz="1050" dirty="0">
                  <a:solidFill>
                    <a:schemeClr val="tx1"/>
                  </a:solidFill>
                  <a:latin typeface="Tomorrow" pitchFamily="34" charset="0"/>
                  <a:ea typeface="Tomorrow" pitchFamily="34" charset="-122"/>
                  <a:cs typeface="Tomorrow" pitchFamily="34" charset="-120"/>
                </a:rPr>
                <a:t> et </a:t>
              </a:r>
              <a:r>
                <a:rPr lang="en-US" sz="1050" dirty="0" err="1">
                  <a:solidFill>
                    <a:schemeClr val="tx1"/>
                  </a:solidFill>
                  <a:latin typeface="Tomorrow" pitchFamily="34" charset="0"/>
                  <a:ea typeface="Tomorrow" pitchFamily="34" charset="-122"/>
                  <a:cs typeface="Tomorrow" pitchFamily="34" charset="-120"/>
                </a:rPr>
                <a:t>sujette</a:t>
              </a:r>
              <a:r>
                <a:rPr lang="en-US" sz="1050" dirty="0">
                  <a:solidFill>
                    <a:schemeClr val="tx1"/>
                  </a:solidFill>
                  <a:latin typeface="Tomorrow" pitchFamily="34" charset="0"/>
                  <a:ea typeface="Tomorrow" pitchFamily="34" charset="-122"/>
                  <a:cs typeface="Tomorrow" pitchFamily="34" charset="-120"/>
                </a:rPr>
                <a:t> aux erreurs.</a:t>
              </a:r>
              <a:endParaRPr lang="en-US" sz="1050" dirty="0">
                <a:solidFill>
                  <a:schemeClr val="tx1"/>
                </a:solidFill>
              </a:endParaRPr>
            </a:p>
          </p:txBody>
        </p:sp>
        <p:sp>
          <p:nvSpPr>
            <p:cNvPr id="423" name="Google Shape;423;p18"/>
            <p:cNvSpPr txBox="1"/>
            <p:nvPr/>
          </p:nvSpPr>
          <p:spPr>
            <a:xfrm>
              <a:off x="3891200" y="1390725"/>
              <a:ext cx="2430943" cy="331800"/>
            </a:xfrm>
            <a:prstGeom prst="rect">
              <a:avLst/>
            </a:prstGeom>
            <a:noFill/>
            <a:ln>
              <a:noFill/>
            </a:ln>
          </p:spPr>
          <p:txBody>
            <a:bodyPr spcFirstLastPara="1" wrap="square" lIns="91425" tIns="91425" rIns="91425" bIns="91425" anchor="ctr" anchorCtr="0">
              <a:noAutofit/>
            </a:bodyPr>
            <a:lstStyle/>
            <a:p>
              <a:r>
                <a:rPr lang="en-US" b="1" dirty="0">
                  <a:solidFill>
                    <a:schemeClr val="lt1"/>
                  </a:solidFill>
                  <a:latin typeface="Fira Sans Extra Condensed"/>
                </a:rPr>
                <a:t>Volume </a:t>
              </a:r>
              <a:r>
                <a:rPr lang="en-US" b="1" dirty="0" err="1">
                  <a:solidFill>
                    <a:schemeClr val="lt1"/>
                  </a:solidFill>
                  <a:latin typeface="Fira Sans Extra Condensed"/>
                </a:rPr>
                <a:t>Élevé</a:t>
              </a:r>
              <a:r>
                <a:rPr lang="en-US" b="1" dirty="0">
                  <a:solidFill>
                    <a:schemeClr val="lt1"/>
                  </a:solidFill>
                  <a:latin typeface="Fira Sans Extra Condensed"/>
                </a:rPr>
                <a:t> de Candidatures</a:t>
              </a:r>
            </a:p>
          </p:txBody>
        </p:sp>
      </p:grpSp>
      <p:sp>
        <p:nvSpPr>
          <p:cNvPr id="424" name="Google Shape;424;p18"/>
          <p:cNvSpPr/>
          <p:nvPr/>
        </p:nvSpPr>
        <p:spPr>
          <a:xfrm>
            <a:off x="1894314" y="2316640"/>
            <a:ext cx="2240750" cy="1266825"/>
          </a:xfrm>
          <a:custGeom>
            <a:avLst/>
            <a:gdLst/>
            <a:ahLst/>
            <a:cxnLst/>
            <a:rect l="l" t="t" r="r" b="b"/>
            <a:pathLst>
              <a:path w="89630" h="50673" extrusionOk="0">
                <a:moveTo>
                  <a:pt x="0" y="50673"/>
                </a:moveTo>
                <a:lnTo>
                  <a:pt x="85820" y="0"/>
                </a:lnTo>
                <a:lnTo>
                  <a:pt x="89630" y="17145"/>
                </a:lnTo>
                <a:close/>
              </a:path>
            </a:pathLst>
          </a:custGeom>
          <a:solidFill>
            <a:srgbClr val="666666">
              <a:alpha val="12549"/>
            </a:srgbClr>
          </a:solidFill>
          <a:ln>
            <a:noFill/>
          </a:ln>
        </p:spPr>
        <p:txBody>
          <a:bodyPr/>
          <a:lstStyle/>
          <a:p>
            <a:endParaRPr lang="fr-FR"/>
          </a:p>
        </p:txBody>
      </p:sp>
      <p:sp>
        <p:nvSpPr>
          <p:cNvPr id="425" name="Google Shape;425;p18"/>
          <p:cNvSpPr/>
          <p:nvPr/>
        </p:nvSpPr>
        <p:spPr>
          <a:xfrm>
            <a:off x="1922889" y="3288190"/>
            <a:ext cx="2224100" cy="461975"/>
          </a:xfrm>
          <a:custGeom>
            <a:avLst/>
            <a:gdLst/>
            <a:ahLst/>
            <a:cxnLst/>
            <a:rect l="l" t="t" r="r" b="b"/>
            <a:pathLst>
              <a:path w="88964" h="18479" extrusionOk="0">
                <a:moveTo>
                  <a:pt x="0" y="11430"/>
                </a:moveTo>
                <a:lnTo>
                  <a:pt x="88964" y="0"/>
                </a:lnTo>
                <a:lnTo>
                  <a:pt x="88964" y="18479"/>
                </a:lnTo>
                <a:close/>
              </a:path>
            </a:pathLst>
          </a:custGeom>
          <a:solidFill>
            <a:srgbClr val="666666">
              <a:alpha val="12549"/>
            </a:srgbClr>
          </a:solidFill>
          <a:ln>
            <a:noFill/>
          </a:ln>
        </p:spPr>
        <p:txBody>
          <a:bodyPr/>
          <a:lstStyle/>
          <a:p>
            <a:endParaRPr lang="fr-FR"/>
          </a:p>
        </p:txBody>
      </p:sp>
      <p:grpSp>
        <p:nvGrpSpPr>
          <p:cNvPr id="426" name="Google Shape;426;p18"/>
          <p:cNvGrpSpPr/>
          <p:nvPr/>
        </p:nvGrpSpPr>
        <p:grpSpPr>
          <a:xfrm>
            <a:off x="3931327" y="3192315"/>
            <a:ext cx="4725888" cy="650100"/>
            <a:chOff x="3961063" y="3237875"/>
            <a:chExt cx="4725888" cy="650100"/>
          </a:xfrm>
        </p:grpSpPr>
        <p:sp>
          <p:nvSpPr>
            <p:cNvPr id="427" name="Google Shape;427;p18"/>
            <p:cNvSpPr/>
            <p:nvPr/>
          </p:nvSpPr>
          <p:spPr>
            <a:xfrm>
              <a:off x="5010150" y="3237875"/>
              <a:ext cx="3676800" cy="650100"/>
            </a:xfrm>
            <a:prstGeom prst="roundRect">
              <a:avLst>
                <a:gd name="adj" fmla="val 50000"/>
              </a:avLst>
            </a:prstGeom>
            <a:solidFill>
              <a:srgbClr val="8027EA">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8"/>
            <p:cNvSpPr/>
            <p:nvPr/>
          </p:nvSpPr>
          <p:spPr>
            <a:xfrm>
              <a:off x="3961063" y="3330725"/>
              <a:ext cx="2130000" cy="4644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 name="Google Shape;429;p18"/>
          <p:cNvGrpSpPr/>
          <p:nvPr/>
        </p:nvGrpSpPr>
        <p:grpSpPr>
          <a:xfrm>
            <a:off x="3913281" y="3351464"/>
            <a:ext cx="4656697" cy="331800"/>
            <a:chOff x="3943017" y="3397024"/>
            <a:chExt cx="4713960" cy="331800"/>
          </a:xfrm>
        </p:grpSpPr>
        <p:sp>
          <p:nvSpPr>
            <p:cNvPr id="430" name="Google Shape;430;p18"/>
            <p:cNvSpPr txBox="1"/>
            <p:nvPr/>
          </p:nvSpPr>
          <p:spPr>
            <a:xfrm>
              <a:off x="6135745" y="3397024"/>
              <a:ext cx="2521232" cy="331800"/>
            </a:xfrm>
            <a:prstGeom prst="rect">
              <a:avLst/>
            </a:prstGeom>
            <a:noFill/>
            <a:ln>
              <a:noFill/>
            </a:ln>
          </p:spPr>
          <p:txBody>
            <a:bodyPr spcFirstLastPara="1" wrap="square" lIns="91425" tIns="91425" rIns="91425" bIns="91425" anchor="ctr" anchorCtr="0">
              <a:noAutofit/>
            </a:bodyPr>
            <a:lstStyle/>
            <a:p>
              <a:pPr algn="ctr"/>
              <a:r>
                <a:rPr lang="en-US" sz="1000" dirty="0">
                  <a:solidFill>
                    <a:schemeClr val="tx1"/>
                  </a:solidFill>
                  <a:latin typeface="Tomorrow" pitchFamily="34" charset="0"/>
                </a:rPr>
                <a:t>Les </a:t>
              </a:r>
              <a:r>
                <a:rPr lang="en-US" sz="1000" dirty="0" err="1">
                  <a:solidFill>
                    <a:schemeClr val="tx1"/>
                  </a:solidFill>
                  <a:latin typeface="Tomorrow" pitchFamily="34" charset="0"/>
                </a:rPr>
                <a:t>décisions</a:t>
              </a:r>
              <a:r>
                <a:rPr lang="en-US" sz="1000" dirty="0">
                  <a:solidFill>
                    <a:schemeClr val="tx1"/>
                  </a:solidFill>
                  <a:latin typeface="Tomorrow" pitchFamily="34" charset="0"/>
                </a:rPr>
                <a:t> peuvent </a:t>
              </a:r>
              <a:r>
                <a:rPr lang="en-US" sz="1000" dirty="0" err="1">
                  <a:solidFill>
                    <a:schemeClr val="tx1"/>
                  </a:solidFill>
                  <a:latin typeface="Tomorrow" pitchFamily="34" charset="0"/>
                </a:rPr>
                <a:t>être</a:t>
              </a:r>
              <a:r>
                <a:rPr lang="en-US" sz="1000" dirty="0">
                  <a:solidFill>
                    <a:schemeClr val="tx1"/>
                  </a:solidFill>
                  <a:latin typeface="Tomorrow" pitchFamily="34" charset="0"/>
                </a:rPr>
                <a:t> </a:t>
              </a:r>
              <a:r>
                <a:rPr lang="en-US" sz="1000" dirty="0" err="1">
                  <a:solidFill>
                    <a:schemeClr val="tx1"/>
                  </a:solidFill>
                  <a:latin typeface="Tomorrow" pitchFamily="34" charset="0"/>
                </a:rPr>
                <a:t>influencées</a:t>
              </a:r>
              <a:r>
                <a:rPr lang="en-US" sz="1000" dirty="0">
                  <a:solidFill>
                    <a:schemeClr val="tx1"/>
                  </a:solidFill>
                  <a:latin typeface="Tomorrow" pitchFamily="34" charset="0"/>
                </a:rPr>
                <a:t> par des </a:t>
              </a:r>
              <a:r>
                <a:rPr lang="en-US" sz="1000" dirty="0" err="1">
                  <a:solidFill>
                    <a:schemeClr val="tx1"/>
                  </a:solidFill>
                  <a:latin typeface="Tomorrow" pitchFamily="34" charset="0"/>
                </a:rPr>
                <a:t>biais</a:t>
              </a:r>
              <a:r>
                <a:rPr lang="en-US" sz="1000" dirty="0">
                  <a:solidFill>
                    <a:schemeClr val="tx1"/>
                  </a:solidFill>
                  <a:latin typeface="Tomorrow" pitchFamily="34" charset="0"/>
                </a:rPr>
                <a:t> </a:t>
              </a:r>
              <a:r>
                <a:rPr lang="en-US" sz="1000" dirty="0" err="1">
                  <a:solidFill>
                    <a:schemeClr val="tx1"/>
                  </a:solidFill>
                  <a:latin typeface="Tomorrow" pitchFamily="34" charset="0"/>
                </a:rPr>
                <a:t>inconscients</a:t>
              </a:r>
              <a:r>
                <a:rPr lang="en-US" sz="1000" dirty="0">
                  <a:solidFill>
                    <a:schemeClr val="tx1"/>
                  </a:solidFill>
                  <a:latin typeface="Tomorrow" pitchFamily="34" charset="0"/>
                </a:rPr>
                <a:t>, </a:t>
              </a:r>
              <a:r>
                <a:rPr lang="en-US" sz="1000" dirty="0" err="1">
                  <a:solidFill>
                    <a:schemeClr val="tx1"/>
                  </a:solidFill>
                  <a:latin typeface="Tomorrow" pitchFamily="34" charset="0"/>
                </a:rPr>
                <a:t>compromettant</a:t>
              </a:r>
              <a:r>
                <a:rPr lang="en-US" sz="1000" dirty="0">
                  <a:solidFill>
                    <a:schemeClr val="tx1"/>
                  </a:solidFill>
                  <a:latin typeface="Tomorrow" pitchFamily="34" charset="0"/>
                </a:rPr>
                <a:t> </a:t>
              </a:r>
              <a:r>
                <a:rPr lang="en-US" sz="1000" dirty="0" err="1">
                  <a:solidFill>
                    <a:schemeClr val="tx1"/>
                  </a:solidFill>
                  <a:latin typeface="Tomorrow" pitchFamily="34" charset="0"/>
                </a:rPr>
                <a:t>l'équité</a:t>
              </a:r>
              <a:r>
                <a:rPr lang="en-US" sz="1000" dirty="0">
                  <a:solidFill>
                    <a:schemeClr val="tx1"/>
                  </a:solidFill>
                  <a:latin typeface="Tomorrow" pitchFamily="34" charset="0"/>
                </a:rPr>
                <a:t> et la </a:t>
              </a:r>
              <a:r>
                <a:rPr lang="en-US" sz="1000" dirty="0" err="1">
                  <a:solidFill>
                    <a:schemeClr val="tx1"/>
                  </a:solidFill>
                  <a:latin typeface="Tomorrow" pitchFamily="34" charset="0"/>
                </a:rPr>
                <a:t>diversité</a:t>
              </a:r>
              <a:r>
                <a:rPr lang="en-US" sz="1000" dirty="0">
                  <a:solidFill>
                    <a:schemeClr val="tx1"/>
                  </a:solidFill>
                  <a:latin typeface="Tomorrow" pitchFamily="34" charset="0"/>
                </a:rPr>
                <a:t> du </a:t>
              </a:r>
              <a:r>
                <a:rPr lang="en-US" sz="1000" dirty="0" err="1">
                  <a:solidFill>
                    <a:schemeClr val="tx1"/>
                  </a:solidFill>
                  <a:latin typeface="Tomorrow" pitchFamily="34" charset="0"/>
                </a:rPr>
                <a:t>recrutement</a:t>
              </a:r>
              <a:r>
                <a:rPr lang="en-US" sz="1000" dirty="0">
                  <a:solidFill>
                    <a:schemeClr val="tx1"/>
                  </a:solidFill>
                  <a:latin typeface="Tomorrow" pitchFamily="34" charset="0"/>
                  <a:ea typeface="Tomorrow" pitchFamily="34" charset="-122"/>
                  <a:cs typeface="Tomorrow" pitchFamily="34" charset="-120"/>
                </a:rPr>
                <a:t>.</a:t>
              </a:r>
              <a:endParaRPr lang="en-US" sz="1000" dirty="0">
                <a:solidFill>
                  <a:schemeClr val="tx1"/>
                </a:solidFill>
              </a:endParaRPr>
            </a:p>
          </p:txBody>
        </p:sp>
        <p:sp>
          <p:nvSpPr>
            <p:cNvPr id="431" name="Google Shape;431;p18"/>
            <p:cNvSpPr txBox="1"/>
            <p:nvPr/>
          </p:nvSpPr>
          <p:spPr>
            <a:xfrm>
              <a:off x="3943017" y="3397024"/>
              <a:ext cx="2274336" cy="331800"/>
            </a:xfrm>
            <a:prstGeom prst="rect">
              <a:avLst/>
            </a:prstGeom>
            <a:noFill/>
            <a:ln>
              <a:noFill/>
            </a:ln>
          </p:spPr>
          <p:txBody>
            <a:bodyPr spcFirstLastPara="1" wrap="square" lIns="91425" tIns="91425" rIns="91425" bIns="91425" anchor="ctr" anchorCtr="0">
              <a:noAutofit/>
            </a:bodyPr>
            <a:lstStyle/>
            <a:p>
              <a:r>
                <a:rPr lang="en-US" b="1" dirty="0" err="1">
                  <a:solidFill>
                    <a:schemeClr val="lt1"/>
                  </a:solidFill>
                  <a:latin typeface="Fira Sans Extra Condensed"/>
                </a:rPr>
                <a:t>Subjectivité</a:t>
              </a:r>
              <a:r>
                <a:rPr lang="en-US" b="1" dirty="0">
                  <a:solidFill>
                    <a:schemeClr val="lt1"/>
                  </a:solidFill>
                  <a:latin typeface="Fira Sans Extra Condensed"/>
                </a:rPr>
                <a:t> et </a:t>
              </a:r>
              <a:r>
                <a:rPr lang="en-US" b="1" dirty="0" err="1">
                  <a:solidFill>
                    <a:schemeClr val="lt1"/>
                  </a:solidFill>
                  <a:latin typeface="Fira Sans Extra Condensed"/>
                </a:rPr>
                <a:t>Biais</a:t>
              </a:r>
              <a:r>
                <a:rPr lang="en-US" b="1" dirty="0">
                  <a:solidFill>
                    <a:schemeClr val="lt1"/>
                  </a:solidFill>
                  <a:latin typeface="Fira Sans Extra Condensed"/>
                </a:rPr>
                <a:t> </a:t>
              </a:r>
              <a:r>
                <a:rPr lang="en-US" b="1" dirty="0" err="1">
                  <a:solidFill>
                    <a:schemeClr val="lt1"/>
                  </a:solidFill>
                  <a:latin typeface="Fira Sans Extra Condensed"/>
                </a:rPr>
                <a:t>Humains</a:t>
              </a:r>
              <a:endParaRPr lang="en-US" b="1" dirty="0">
                <a:solidFill>
                  <a:schemeClr val="lt1"/>
                </a:solidFill>
                <a:latin typeface="Fira Sans Extra Condensed"/>
              </a:endParaRPr>
            </a:p>
          </p:txBody>
        </p:sp>
      </p:grpSp>
      <p:grpSp>
        <p:nvGrpSpPr>
          <p:cNvPr id="432" name="Google Shape;432;p18"/>
          <p:cNvGrpSpPr/>
          <p:nvPr/>
        </p:nvGrpSpPr>
        <p:grpSpPr>
          <a:xfrm>
            <a:off x="3931327" y="2189165"/>
            <a:ext cx="4725888" cy="650100"/>
            <a:chOff x="3961063" y="2234725"/>
            <a:chExt cx="4725888" cy="650100"/>
          </a:xfrm>
        </p:grpSpPr>
        <p:sp>
          <p:nvSpPr>
            <p:cNvPr id="433" name="Google Shape;433;p18"/>
            <p:cNvSpPr/>
            <p:nvPr/>
          </p:nvSpPr>
          <p:spPr>
            <a:xfrm>
              <a:off x="5010150" y="2234725"/>
              <a:ext cx="3676800" cy="650100"/>
            </a:xfrm>
            <a:prstGeom prst="roundRect">
              <a:avLst>
                <a:gd name="adj" fmla="val 50000"/>
              </a:avLst>
            </a:prstGeom>
            <a:solidFill>
              <a:srgbClr val="EA4827">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 name="Google Shape;434;p18"/>
            <p:cNvSpPr/>
            <p:nvPr/>
          </p:nvSpPr>
          <p:spPr>
            <a:xfrm>
              <a:off x="3961063" y="2327575"/>
              <a:ext cx="2130000" cy="4644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 name="Google Shape;435;p18"/>
          <p:cNvGrpSpPr/>
          <p:nvPr/>
        </p:nvGrpSpPr>
        <p:grpSpPr>
          <a:xfrm>
            <a:off x="4018071" y="2348315"/>
            <a:ext cx="4747850" cy="331806"/>
            <a:chOff x="4047807" y="2393875"/>
            <a:chExt cx="4747850" cy="331806"/>
          </a:xfrm>
        </p:grpSpPr>
        <p:sp>
          <p:nvSpPr>
            <p:cNvPr id="436" name="Google Shape;436;p18"/>
            <p:cNvSpPr txBox="1"/>
            <p:nvPr/>
          </p:nvSpPr>
          <p:spPr>
            <a:xfrm>
              <a:off x="6001657" y="2393881"/>
              <a:ext cx="2794000" cy="331800"/>
            </a:xfrm>
            <a:prstGeom prst="rect">
              <a:avLst/>
            </a:prstGeom>
            <a:noFill/>
            <a:ln>
              <a:noFill/>
            </a:ln>
          </p:spPr>
          <p:txBody>
            <a:bodyPr spcFirstLastPara="1" wrap="square" lIns="91425" tIns="91425" rIns="91425" bIns="91425" anchor="ctr" anchorCtr="0">
              <a:noAutofit/>
            </a:bodyPr>
            <a:lstStyle/>
            <a:p>
              <a:pPr algn="ctr"/>
              <a:r>
                <a:rPr lang="en-US" sz="1000" dirty="0">
                  <a:solidFill>
                    <a:schemeClr val="tx1"/>
                  </a:solidFill>
                  <a:latin typeface="Tomorrow" pitchFamily="34" charset="0"/>
                </a:rPr>
                <a:t>Les cycles de </a:t>
              </a:r>
              <a:r>
                <a:rPr lang="en-US" sz="1000" dirty="0" err="1">
                  <a:solidFill>
                    <a:schemeClr val="tx1"/>
                  </a:solidFill>
                  <a:latin typeface="Tomorrow" pitchFamily="34" charset="0"/>
                </a:rPr>
                <a:t>recrutement</a:t>
              </a:r>
              <a:r>
                <a:rPr lang="en-US" sz="1000" dirty="0">
                  <a:solidFill>
                    <a:schemeClr val="tx1"/>
                  </a:solidFill>
                  <a:latin typeface="Tomorrow" pitchFamily="34" charset="0"/>
                </a:rPr>
                <a:t> </a:t>
              </a:r>
              <a:r>
                <a:rPr lang="en-US" sz="1000" dirty="0" err="1">
                  <a:solidFill>
                    <a:schemeClr val="tx1"/>
                  </a:solidFill>
                  <a:latin typeface="Tomorrow" pitchFamily="34" charset="0"/>
                </a:rPr>
                <a:t>prolongés</a:t>
              </a:r>
              <a:r>
                <a:rPr lang="en-US" sz="1000" dirty="0">
                  <a:solidFill>
                    <a:schemeClr val="tx1"/>
                  </a:solidFill>
                  <a:latin typeface="Tomorrow" pitchFamily="34" charset="0"/>
                </a:rPr>
                <a:t> </a:t>
              </a:r>
              <a:r>
                <a:rPr lang="en-US" sz="1000" dirty="0" err="1">
                  <a:solidFill>
                    <a:schemeClr val="tx1"/>
                  </a:solidFill>
                  <a:latin typeface="Tomorrow" pitchFamily="34" charset="0"/>
                </a:rPr>
                <a:t>entraînent</a:t>
              </a:r>
              <a:r>
                <a:rPr lang="en-US" sz="1000" dirty="0">
                  <a:solidFill>
                    <a:schemeClr val="tx1"/>
                  </a:solidFill>
                  <a:latin typeface="Tomorrow" pitchFamily="34" charset="0"/>
                </a:rPr>
                <a:t> des </a:t>
              </a:r>
              <a:r>
                <a:rPr lang="en-US" sz="1000" dirty="0" err="1">
                  <a:solidFill>
                    <a:schemeClr val="tx1"/>
                  </a:solidFill>
                  <a:latin typeface="Tomorrow" pitchFamily="34" charset="0"/>
                </a:rPr>
                <a:t>coûts</a:t>
              </a:r>
              <a:r>
                <a:rPr lang="en-US" sz="1000" dirty="0">
                  <a:solidFill>
                    <a:schemeClr val="tx1"/>
                  </a:solidFill>
                  <a:latin typeface="Tomorrow" pitchFamily="34" charset="0"/>
                </a:rPr>
                <a:t> </a:t>
              </a:r>
              <a:r>
                <a:rPr lang="en-US" sz="1000" dirty="0" err="1">
                  <a:solidFill>
                    <a:schemeClr val="tx1"/>
                  </a:solidFill>
                  <a:latin typeface="Tomorrow" pitchFamily="34" charset="0"/>
                </a:rPr>
                <a:t>opérationnels</a:t>
              </a:r>
              <a:r>
                <a:rPr lang="en-US" sz="1000" dirty="0">
                  <a:solidFill>
                    <a:schemeClr val="tx1"/>
                  </a:solidFill>
                  <a:latin typeface="Tomorrow" pitchFamily="34" charset="0"/>
                </a:rPr>
                <a:t> </a:t>
              </a:r>
              <a:r>
                <a:rPr lang="en-US" sz="1000" dirty="0" err="1">
                  <a:solidFill>
                    <a:schemeClr val="tx1"/>
                  </a:solidFill>
                  <a:latin typeface="Tomorrow" pitchFamily="34" charset="0"/>
                </a:rPr>
                <a:t>importants</a:t>
              </a:r>
              <a:r>
                <a:rPr lang="en-US" sz="1000" dirty="0">
                  <a:solidFill>
                    <a:schemeClr val="tx1"/>
                  </a:solidFill>
                  <a:latin typeface="Tomorrow" pitchFamily="34" charset="0"/>
                </a:rPr>
                <a:t> et un </a:t>
              </a:r>
              <a:r>
                <a:rPr lang="en-US" sz="1000" dirty="0" err="1">
                  <a:solidFill>
                    <a:schemeClr val="tx1"/>
                  </a:solidFill>
                  <a:latin typeface="Tomorrow" pitchFamily="34" charset="0"/>
                </a:rPr>
                <a:t>risque</a:t>
              </a:r>
              <a:r>
                <a:rPr lang="en-US" sz="1000" dirty="0">
                  <a:solidFill>
                    <a:schemeClr val="tx1"/>
                  </a:solidFill>
                  <a:latin typeface="Tomorrow" pitchFamily="34" charset="0"/>
                </a:rPr>
                <a:t> de </a:t>
              </a:r>
              <a:r>
                <a:rPr lang="en-US" sz="1000" dirty="0" err="1">
                  <a:solidFill>
                    <a:schemeClr val="tx1"/>
                  </a:solidFill>
                  <a:latin typeface="Tomorrow" pitchFamily="34" charset="0"/>
                </a:rPr>
                <a:t>perte</a:t>
              </a:r>
              <a:r>
                <a:rPr lang="en-US" sz="1000" dirty="0">
                  <a:solidFill>
                    <a:schemeClr val="tx1"/>
                  </a:solidFill>
                  <a:latin typeface="Tomorrow" pitchFamily="34" charset="0"/>
                </a:rPr>
                <a:t> de talents face à la concurrence</a:t>
              </a:r>
              <a:r>
                <a:rPr lang="en-US" sz="1000" dirty="0">
                  <a:solidFill>
                    <a:schemeClr val="tx1"/>
                  </a:solidFill>
                  <a:latin typeface="Tomorrow" pitchFamily="34" charset="0"/>
                  <a:ea typeface="Tomorrow" pitchFamily="34" charset="-122"/>
                  <a:cs typeface="Tomorrow" pitchFamily="34" charset="-120"/>
                </a:rPr>
                <a:t>.</a:t>
              </a:r>
              <a:endParaRPr lang="en-US" sz="1000" dirty="0">
                <a:solidFill>
                  <a:schemeClr val="tx1"/>
                </a:solidFill>
              </a:endParaRPr>
            </a:p>
          </p:txBody>
        </p:sp>
        <p:sp>
          <p:nvSpPr>
            <p:cNvPr id="437" name="Google Shape;437;p18"/>
            <p:cNvSpPr txBox="1"/>
            <p:nvPr/>
          </p:nvSpPr>
          <p:spPr>
            <a:xfrm>
              <a:off x="4047807" y="2393875"/>
              <a:ext cx="2352889" cy="331800"/>
            </a:xfrm>
            <a:prstGeom prst="rect">
              <a:avLst/>
            </a:prstGeom>
            <a:noFill/>
            <a:ln>
              <a:noFill/>
            </a:ln>
          </p:spPr>
          <p:txBody>
            <a:bodyPr spcFirstLastPara="1" wrap="square" lIns="91425" tIns="91425" rIns="91425" bIns="91425" anchor="ctr" anchorCtr="0">
              <a:noAutofit/>
            </a:bodyPr>
            <a:lstStyle/>
            <a:p>
              <a:r>
                <a:rPr lang="en-US" b="1" dirty="0">
                  <a:solidFill>
                    <a:schemeClr val="lt1"/>
                  </a:solidFill>
                  <a:latin typeface="Fira Sans Extra Condensed"/>
                </a:rPr>
                <a:t>Processus Long et </a:t>
              </a:r>
              <a:r>
                <a:rPr lang="en-US" b="1" dirty="0" err="1">
                  <a:solidFill>
                    <a:schemeClr val="lt1"/>
                  </a:solidFill>
                  <a:latin typeface="Fira Sans Extra Condensed"/>
                </a:rPr>
                <a:t>Coûteux</a:t>
              </a:r>
              <a:endParaRPr lang="en-US" b="1" dirty="0">
                <a:solidFill>
                  <a:schemeClr val="lt1"/>
                </a:solidFill>
                <a:latin typeface="Fira Sans Extra Condensed"/>
              </a:endParaRPr>
            </a:p>
          </p:txBody>
        </p:sp>
      </p:grpSp>
      <p:sp>
        <p:nvSpPr>
          <p:cNvPr id="438" name="Google Shape;438;p18"/>
          <p:cNvSpPr/>
          <p:nvPr/>
        </p:nvSpPr>
        <p:spPr>
          <a:xfrm>
            <a:off x="1918139" y="3573940"/>
            <a:ext cx="2233600" cy="1171575"/>
          </a:xfrm>
          <a:custGeom>
            <a:avLst/>
            <a:gdLst/>
            <a:ahLst/>
            <a:cxnLst/>
            <a:rect l="l" t="t" r="r" b="b"/>
            <a:pathLst>
              <a:path w="89344" h="46863" extrusionOk="0">
                <a:moveTo>
                  <a:pt x="0" y="0"/>
                </a:moveTo>
                <a:lnTo>
                  <a:pt x="89344" y="28956"/>
                </a:lnTo>
                <a:lnTo>
                  <a:pt x="87249" y="46863"/>
                </a:lnTo>
                <a:close/>
              </a:path>
            </a:pathLst>
          </a:custGeom>
          <a:solidFill>
            <a:srgbClr val="666666">
              <a:alpha val="12549"/>
            </a:srgbClr>
          </a:solidFill>
          <a:ln>
            <a:noFill/>
          </a:ln>
        </p:spPr>
        <p:txBody>
          <a:bodyPr/>
          <a:lstStyle/>
          <a:p>
            <a:endParaRPr lang="fr-FR"/>
          </a:p>
        </p:txBody>
      </p:sp>
      <p:grpSp>
        <p:nvGrpSpPr>
          <p:cNvPr id="439" name="Google Shape;439;p18"/>
          <p:cNvGrpSpPr/>
          <p:nvPr/>
        </p:nvGrpSpPr>
        <p:grpSpPr>
          <a:xfrm>
            <a:off x="3931327" y="4195465"/>
            <a:ext cx="4725888" cy="650100"/>
            <a:chOff x="3961063" y="4241025"/>
            <a:chExt cx="4725888" cy="650100"/>
          </a:xfrm>
        </p:grpSpPr>
        <p:sp>
          <p:nvSpPr>
            <p:cNvPr id="440" name="Google Shape;440;p18"/>
            <p:cNvSpPr/>
            <p:nvPr/>
          </p:nvSpPr>
          <p:spPr>
            <a:xfrm>
              <a:off x="5010150" y="4241025"/>
              <a:ext cx="3676800" cy="650100"/>
            </a:xfrm>
            <a:prstGeom prst="roundRect">
              <a:avLst>
                <a:gd name="adj" fmla="val 50000"/>
              </a:avLst>
            </a:prstGeom>
            <a:solidFill>
              <a:srgbClr val="2776EA">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8"/>
            <p:cNvSpPr/>
            <p:nvPr/>
          </p:nvSpPr>
          <p:spPr>
            <a:xfrm>
              <a:off x="3961063" y="4333875"/>
              <a:ext cx="2130000" cy="4644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2" name="Google Shape;442;p18"/>
          <p:cNvGrpSpPr/>
          <p:nvPr/>
        </p:nvGrpSpPr>
        <p:grpSpPr>
          <a:xfrm>
            <a:off x="4005364" y="4354607"/>
            <a:ext cx="4499323" cy="331800"/>
            <a:chOff x="4035100" y="4400167"/>
            <a:chExt cx="4499323" cy="331800"/>
          </a:xfrm>
        </p:grpSpPr>
        <p:sp>
          <p:nvSpPr>
            <p:cNvPr id="443" name="Google Shape;443;p18"/>
            <p:cNvSpPr txBox="1"/>
            <p:nvPr/>
          </p:nvSpPr>
          <p:spPr>
            <a:xfrm>
              <a:off x="6165100" y="4400167"/>
              <a:ext cx="2369323" cy="331800"/>
            </a:xfrm>
            <a:prstGeom prst="rect">
              <a:avLst/>
            </a:prstGeom>
            <a:noFill/>
            <a:ln>
              <a:noFill/>
            </a:ln>
          </p:spPr>
          <p:txBody>
            <a:bodyPr spcFirstLastPara="1" wrap="square" lIns="91425" tIns="91425" rIns="91425" bIns="91425" anchor="ctr" anchorCtr="0">
              <a:noAutofit/>
            </a:bodyPr>
            <a:lstStyle/>
            <a:p>
              <a:pPr algn="ctr"/>
              <a:r>
                <a:rPr lang="en-US" sz="1050" dirty="0" err="1">
                  <a:solidFill>
                    <a:schemeClr val="tx1"/>
                  </a:solidFill>
                  <a:latin typeface="Tomorrow" pitchFamily="34" charset="0"/>
                </a:rPr>
                <a:t>L'opacité</a:t>
              </a:r>
              <a:r>
                <a:rPr lang="en-US" sz="1050" dirty="0">
                  <a:solidFill>
                    <a:schemeClr val="tx1"/>
                  </a:solidFill>
                  <a:latin typeface="Tomorrow" pitchFamily="34" charset="0"/>
                </a:rPr>
                <a:t> des </a:t>
              </a:r>
              <a:r>
                <a:rPr lang="en-US" sz="1050" dirty="0" err="1">
                  <a:solidFill>
                    <a:schemeClr val="tx1"/>
                  </a:solidFill>
                  <a:latin typeface="Tomorrow" pitchFamily="34" charset="0"/>
                </a:rPr>
                <a:t>critères</a:t>
              </a:r>
              <a:r>
                <a:rPr lang="en-US" sz="1050" dirty="0">
                  <a:solidFill>
                    <a:schemeClr val="tx1"/>
                  </a:solidFill>
                  <a:latin typeface="Tomorrow" pitchFamily="34" charset="0"/>
                </a:rPr>
                <a:t> de </a:t>
              </a:r>
              <a:r>
                <a:rPr lang="en-US" sz="1050" dirty="0" err="1">
                  <a:solidFill>
                    <a:schemeClr val="tx1"/>
                  </a:solidFill>
                  <a:latin typeface="Tomorrow" pitchFamily="34" charset="0"/>
                </a:rPr>
                <a:t>sélection</a:t>
              </a:r>
              <a:r>
                <a:rPr lang="en-US" sz="1050" dirty="0">
                  <a:solidFill>
                    <a:schemeClr val="tx1"/>
                  </a:solidFill>
                  <a:latin typeface="Tomorrow" pitchFamily="34" charset="0"/>
                </a:rPr>
                <a:t> </a:t>
              </a:r>
              <a:r>
                <a:rPr lang="en-US" sz="1050" dirty="0" err="1">
                  <a:solidFill>
                    <a:schemeClr val="tx1"/>
                  </a:solidFill>
                  <a:latin typeface="Tomorrow" pitchFamily="34" charset="0"/>
                </a:rPr>
                <a:t>peut</a:t>
              </a:r>
              <a:r>
                <a:rPr lang="en-US" sz="1050" dirty="0">
                  <a:solidFill>
                    <a:schemeClr val="tx1"/>
                  </a:solidFill>
                  <a:latin typeface="Tomorrow" pitchFamily="34" charset="0"/>
                </a:rPr>
                <a:t> </a:t>
              </a:r>
              <a:r>
                <a:rPr lang="en-US" sz="1050" dirty="0" err="1">
                  <a:solidFill>
                    <a:schemeClr val="tx1"/>
                  </a:solidFill>
                  <a:latin typeface="Tomorrow" pitchFamily="34" charset="0"/>
                </a:rPr>
                <a:t>nuire</a:t>
              </a:r>
              <a:r>
                <a:rPr lang="en-US" sz="1050" dirty="0">
                  <a:solidFill>
                    <a:schemeClr val="tx1"/>
                  </a:solidFill>
                  <a:latin typeface="Tomorrow" pitchFamily="34" charset="0"/>
                </a:rPr>
                <a:t> à </a:t>
              </a:r>
              <a:r>
                <a:rPr lang="en-US" sz="1050" dirty="0" err="1">
                  <a:solidFill>
                    <a:schemeClr val="tx1"/>
                  </a:solidFill>
                  <a:latin typeface="Tomorrow" pitchFamily="34" charset="0"/>
                </a:rPr>
                <a:t>l'expérience</a:t>
              </a:r>
              <a:r>
                <a:rPr lang="en-US" sz="1050" dirty="0">
                  <a:solidFill>
                    <a:schemeClr val="tx1"/>
                  </a:solidFill>
                  <a:latin typeface="Tomorrow" pitchFamily="34" charset="0"/>
                </a:rPr>
                <a:t> </a:t>
              </a:r>
              <a:r>
                <a:rPr lang="en-US" sz="1050" dirty="0" err="1">
                  <a:solidFill>
                    <a:schemeClr val="tx1"/>
                  </a:solidFill>
                  <a:latin typeface="Tomorrow" pitchFamily="34" charset="0"/>
                </a:rPr>
                <a:t>candidat</a:t>
              </a:r>
              <a:r>
                <a:rPr lang="en-US" sz="1050" dirty="0">
                  <a:solidFill>
                    <a:schemeClr val="tx1"/>
                  </a:solidFill>
                  <a:latin typeface="Tomorrow" pitchFamily="34" charset="0"/>
                </a:rPr>
                <a:t> et à la </a:t>
              </a:r>
              <a:r>
                <a:rPr lang="en-US" sz="1050" dirty="0" err="1">
                  <a:solidFill>
                    <a:schemeClr val="tx1"/>
                  </a:solidFill>
                  <a:latin typeface="Tomorrow" pitchFamily="34" charset="0"/>
                </a:rPr>
                <a:t>réputation</a:t>
              </a:r>
              <a:r>
                <a:rPr lang="en-US" sz="1050" dirty="0">
                  <a:solidFill>
                    <a:schemeClr val="tx1"/>
                  </a:solidFill>
                  <a:latin typeface="Tomorrow" pitchFamily="34" charset="0"/>
                </a:rPr>
                <a:t> de </a:t>
              </a:r>
              <a:r>
                <a:rPr lang="en-US" sz="1050" dirty="0" err="1">
                  <a:solidFill>
                    <a:schemeClr val="tx1"/>
                  </a:solidFill>
                  <a:latin typeface="Tomorrow" pitchFamily="34" charset="0"/>
                </a:rPr>
                <a:t>l'entreprise</a:t>
              </a:r>
              <a:r>
                <a:rPr lang="en-US" sz="1050" dirty="0">
                  <a:solidFill>
                    <a:schemeClr val="tx1"/>
                  </a:solidFill>
                  <a:latin typeface="Tomorrow" pitchFamily="34" charset="0"/>
                </a:rPr>
                <a:t>.</a:t>
              </a:r>
            </a:p>
          </p:txBody>
        </p:sp>
        <p:sp>
          <p:nvSpPr>
            <p:cNvPr id="444" name="Google Shape;444;p18"/>
            <p:cNvSpPr txBox="1"/>
            <p:nvPr/>
          </p:nvSpPr>
          <p:spPr>
            <a:xfrm>
              <a:off x="4035100" y="4400167"/>
              <a:ext cx="2233599" cy="331800"/>
            </a:xfrm>
            <a:prstGeom prst="rect">
              <a:avLst/>
            </a:prstGeom>
            <a:noFill/>
            <a:ln>
              <a:noFill/>
            </a:ln>
          </p:spPr>
          <p:txBody>
            <a:bodyPr spcFirstLastPara="1" wrap="square" lIns="91425" tIns="91425" rIns="91425" bIns="91425" anchor="ctr" anchorCtr="0">
              <a:noAutofit/>
            </a:bodyPr>
            <a:lstStyle/>
            <a:p>
              <a:r>
                <a:rPr lang="en-US" b="1" dirty="0">
                  <a:solidFill>
                    <a:schemeClr val="lt1"/>
                  </a:solidFill>
                  <a:latin typeface="Fira Sans Extra Condensed"/>
                </a:rPr>
                <a:t>Manque de Transparence</a:t>
              </a:r>
            </a:p>
          </p:txBody>
        </p:sp>
      </p:grpSp>
      <p:sp>
        <p:nvSpPr>
          <p:cNvPr id="445" name="Google Shape;445;p18"/>
          <p:cNvSpPr/>
          <p:nvPr/>
        </p:nvSpPr>
        <p:spPr>
          <a:xfrm>
            <a:off x="1766614" y="3455665"/>
            <a:ext cx="231000" cy="2310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pic>
        <p:nvPicPr>
          <p:cNvPr id="2050" name="Picture 2" descr="Images de Objectifs – Téléchargement gratuit sur Freepik">
            <a:extLst>
              <a:ext uri="{FF2B5EF4-FFF2-40B4-BE49-F238E27FC236}">
                <a16:creationId xmlns:a16="http://schemas.microsoft.com/office/drawing/2014/main" id="{407BD2CB-703E-17EE-AE6F-3FE7C51E2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8075" y="962387"/>
            <a:ext cx="3218725" cy="3218725"/>
          </a:xfrm>
          <a:prstGeom prst="rect">
            <a:avLst/>
          </a:prstGeom>
          <a:noFill/>
          <a:extLst>
            <a:ext uri="{909E8E84-426E-40DD-AFC4-6F175D3DCCD1}">
              <a14:hiddenFill xmlns:a14="http://schemas.microsoft.com/office/drawing/2010/main">
                <a:solidFill>
                  <a:srgbClr val="FFFFFF"/>
                </a:solidFill>
              </a14:hiddenFill>
            </a:ext>
          </a:extLst>
        </p:spPr>
      </p:pic>
      <p:sp>
        <p:nvSpPr>
          <p:cNvPr id="936" name="Google Shape;936;p2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algn="l"/>
            <a:r>
              <a:rPr lang="en-US" sz="2400" dirty="0" err="1">
                <a:solidFill>
                  <a:srgbClr val="1D1D1B"/>
                </a:solidFill>
                <a:latin typeface="Tomorrow Semi Bold" pitchFamily="34" charset="0"/>
                <a:ea typeface="Tomorrow Semi Bold" pitchFamily="34" charset="-122"/>
              </a:rPr>
              <a:t>Objectifs</a:t>
            </a:r>
            <a:r>
              <a:rPr lang="en-US" sz="2400" dirty="0">
                <a:solidFill>
                  <a:srgbClr val="1D1D1B"/>
                </a:solidFill>
                <a:latin typeface="Tomorrow Semi Bold" pitchFamily="34" charset="0"/>
                <a:ea typeface="Tomorrow Semi Bold" pitchFamily="34" charset="-122"/>
              </a:rPr>
              <a:t> du </a:t>
            </a:r>
            <a:r>
              <a:rPr lang="en-US" sz="2400" dirty="0" err="1">
                <a:solidFill>
                  <a:srgbClr val="1D1D1B"/>
                </a:solidFill>
                <a:latin typeface="Tomorrow Semi Bold" pitchFamily="34" charset="0"/>
                <a:ea typeface="Tomorrow Semi Bold" pitchFamily="34" charset="-122"/>
              </a:rPr>
              <a:t>Projet</a:t>
            </a:r>
            <a:r>
              <a:rPr lang="en-US" sz="2400" dirty="0">
                <a:solidFill>
                  <a:srgbClr val="1D1D1B"/>
                </a:solidFill>
                <a:latin typeface="Tomorrow Semi Bold" pitchFamily="34" charset="0"/>
                <a:ea typeface="Tomorrow Semi Bold" pitchFamily="34" charset="-122"/>
              </a:rPr>
              <a:t> : </a:t>
            </a:r>
            <a:r>
              <a:rPr lang="en-US" sz="2400" dirty="0" err="1">
                <a:solidFill>
                  <a:srgbClr val="1D1D1B"/>
                </a:solidFill>
                <a:latin typeface="Tomorrow Semi Bold" pitchFamily="34" charset="0"/>
                <a:ea typeface="Tomorrow Semi Bold" pitchFamily="34" charset="-122"/>
              </a:rPr>
              <a:t>Vers</a:t>
            </a:r>
            <a:r>
              <a:rPr lang="en-US" sz="2400" dirty="0">
                <a:solidFill>
                  <a:srgbClr val="1D1D1B"/>
                </a:solidFill>
                <a:latin typeface="Tomorrow Semi Bold" pitchFamily="34" charset="0"/>
                <a:ea typeface="Tomorrow Semi Bold" pitchFamily="34" charset="-122"/>
              </a:rPr>
              <a:t> un Recrutement </a:t>
            </a:r>
            <a:r>
              <a:rPr lang="en-US" sz="2400" dirty="0" err="1">
                <a:solidFill>
                  <a:srgbClr val="1D1D1B"/>
                </a:solidFill>
                <a:latin typeface="Tomorrow Semi Bold" pitchFamily="34" charset="0"/>
                <a:ea typeface="Tomorrow Semi Bold" pitchFamily="34" charset="-122"/>
              </a:rPr>
              <a:t>Équitable</a:t>
            </a:r>
            <a:r>
              <a:rPr lang="en-US" sz="2400" dirty="0">
                <a:solidFill>
                  <a:srgbClr val="1D1D1B"/>
                </a:solidFill>
                <a:latin typeface="Tomorrow Semi Bold" pitchFamily="34" charset="0"/>
                <a:ea typeface="Tomorrow Semi Bold" pitchFamily="34" charset="-122"/>
              </a:rPr>
              <a:t> et </a:t>
            </a:r>
            <a:r>
              <a:rPr lang="en-US" sz="2400" dirty="0" err="1">
                <a:solidFill>
                  <a:srgbClr val="1D1D1B"/>
                </a:solidFill>
                <a:latin typeface="Tomorrow Semi Bold" pitchFamily="34" charset="0"/>
                <a:ea typeface="Tomorrow Semi Bold" pitchFamily="34" charset="-122"/>
              </a:rPr>
              <a:t>Efficace</a:t>
            </a:r>
            <a:endParaRPr lang="en-US" sz="2400" dirty="0">
              <a:solidFill>
                <a:srgbClr val="1D1D1B"/>
              </a:solidFill>
              <a:latin typeface="Tomorrow Semi Bold" pitchFamily="34" charset="0"/>
              <a:ea typeface="Tomorrow Semi Bold" pitchFamily="34" charset="-122"/>
            </a:endParaRPr>
          </a:p>
        </p:txBody>
      </p:sp>
      <p:grpSp>
        <p:nvGrpSpPr>
          <p:cNvPr id="978" name="Google Shape;978;p26"/>
          <p:cNvGrpSpPr/>
          <p:nvPr/>
        </p:nvGrpSpPr>
        <p:grpSpPr>
          <a:xfrm>
            <a:off x="375275" y="1190950"/>
            <a:ext cx="3478425" cy="604500"/>
            <a:chOff x="375325" y="1191038"/>
            <a:chExt cx="3478425" cy="604500"/>
          </a:xfrm>
        </p:grpSpPr>
        <p:sp>
          <p:nvSpPr>
            <p:cNvPr id="979" name="Google Shape;979;p26"/>
            <p:cNvSpPr/>
            <p:nvPr/>
          </p:nvSpPr>
          <p:spPr>
            <a:xfrm>
              <a:off x="3249250" y="1191038"/>
              <a:ext cx="604500" cy="60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Fira Sans Extra Condensed"/>
                  <a:ea typeface="Fira Sans Extra Condensed"/>
                  <a:cs typeface="Fira Sans Extra Condensed"/>
                  <a:sym typeface="Fira Sans Extra Condensed"/>
                </a:rPr>
                <a:t>01</a:t>
              </a:r>
              <a:endParaRPr sz="1800" b="1">
                <a:solidFill>
                  <a:schemeClr val="lt1"/>
                </a:solidFill>
                <a:latin typeface="Fira Sans Extra Condensed"/>
                <a:ea typeface="Fira Sans Extra Condensed"/>
                <a:cs typeface="Fira Sans Extra Condensed"/>
                <a:sym typeface="Fira Sans Extra Condensed"/>
              </a:endParaRPr>
            </a:p>
          </p:txBody>
        </p:sp>
        <p:sp>
          <p:nvSpPr>
            <p:cNvPr id="980" name="Google Shape;980;p26"/>
            <p:cNvSpPr txBox="1"/>
            <p:nvPr/>
          </p:nvSpPr>
          <p:spPr>
            <a:xfrm>
              <a:off x="375325" y="1259438"/>
              <a:ext cx="3396549" cy="331800"/>
            </a:xfrm>
            <a:prstGeom prst="rect">
              <a:avLst/>
            </a:prstGeom>
            <a:noFill/>
            <a:ln>
              <a:noFill/>
            </a:ln>
          </p:spPr>
          <p:txBody>
            <a:bodyPr spcFirstLastPara="1" wrap="square" lIns="91425" tIns="91425" rIns="91425" bIns="91425" anchor="ctr" anchorCtr="0">
              <a:noAutofit/>
            </a:bodyPr>
            <a:lstStyle/>
            <a:p>
              <a:r>
                <a:rPr lang="en-US" sz="1600" dirty="0" err="1">
                  <a:latin typeface="Fira Sans Extra Condensed"/>
                </a:rPr>
                <a:t>Automatisation</a:t>
              </a:r>
              <a:r>
                <a:rPr lang="en-US" sz="1600" dirty="0">
                  <a:latin typeface="Fira Sans Extra Condensed"/>
                </a:rPr>
                <a:t> de la </a:t>
              </a:r>
              <a:r>
                <a:rPr lang="en-US" sz="1600" dirty="0" err="1">
                  <a:latin typeface="Fira Sans Extra Condensed"/>
                </a:rPr>
                <a:t>Présélection</a:t>
              </a:r>
              <a:endParaRPr lang="en-US" sz="1600" dirty="0">
                <a:latin typeface="Fira Sans Extra Condensed"/>
              </a:endParaRPr>
            </a:p>
          </p:txBody>
        </p:sp>
      </p:grpSp>
      <p:grpSp>
        <p:nvGrpSpPr>
          <p:cNvPr id="982" name="Google Shape;982;p26"/>
          <p:cNvGrpSpPr/>
          <p:nvPr/>
        </p:nvGrpSpPr>
        <p:grpSpPr>
          <a:xfrm>
            <a:off x="148124" y="2156825"/>
            <a:ext cx="3705626" cy="604500"/>
            <a:chOff x="148124" y="2156825"/>
            <a:chExt cx="3705626" cy="604500"/>
          </a:xfrm>
        </p:grpSpPr>
        <p:sp>
          <p:nvSpPr>
            <p:cNvPr id="983" name="Google Shape;983;p26"/>
            <p:cNvSpPr/>
            <p:nvPr/>
          </p:nvSpPr>
          <p:spPr>
            <a:xfrm>
              <a:off x="3249250" y="2156825"/>
              <a:ext cx="604500" cy="6045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Fira Sans Extra Condensed"/>
                  <a:ea typeface="Fira Sans Extra Condensed"/>
                  <a:cs typeface="Fira Sans Extra Condensed"/>
                  <a:sym typeface="Fira Sans Extra Condensed"/>
                </a:rPr>
                <a:t>02</a:t>
              </a:r>
              <a:endParaRPr sz="1800" b="1">
                <a:solidFill>
                  <a:schemeClr val="lt1"/>
                </a:solidFill>
                <a:latin typeface="Fira Sans Extra Condensed"/>
                <a:ea typeface="Fira Sans Extra Condensed"/>
                <a:cs typeface="Fira Sans Extra Condensed"/>
                <a:sym typeface="Fira Sans Extra Condensed"/>
              </a:endParaRPr>
            </a:p>
          </p:txBody>
        </p:sp>
        <p:sp>
          <p:nvSpPr>
            <p:cNvPr id="984" name="Google Shape;984;p26"/>
            <p:cNvSpPr txBox="1"/>
            <p:nvPr/>
          </p:nvSpPr>
          <p:spPr>
            <a:xfrm>
              <a:off x="148124" y="2386497"/>
              <a:ext cx="3271942" cy="331800"/>
            </a:xfrm>
            <a:prstGeom prst="rect">
              <a:avLst/>
            </a:prstGeom>
            <a:noFill/>
            <a:ln>
              <a:noFill/>
            </a:ln>
          </p:spPr>
          <p:txBody>
            <a:bodyPr spcFirstLastPara="1" wrap="square" lIns="91425" tIns="91425" rIns="91425" bIns="91425" anchor="ctr" anchorCtr="0">
              <a:noAutofit/>
            </a:bodyPr>
            <a:lstStyle/>
            <a:p>
              <a:pPr algn="ctr"/>
              <a:r>
                <a:rPr lang="en-US" sz="1600" dirty="0" err="1">
                  <a:latin typeface="Fira Sans Extra Condensed"/>
                </a:rPr>
                <a:t>Amélioration</a:t>
              </a:r>
              <a:r>
                <a:rPr lang="en-US" sz="1600" dirty="0">
                  <a:latin typeface="Fira Sans Extra Condensed"/>
                </a:rPr>
                <a:t> de </a:t>
              </a:r>
              <a:r>
                <a:rPr lang="en-US" sz="1600" dirty="0" err="1">
                  <a:latin typeface="Fira Sans Extra Condensed"/>
                </a:rPr>
                <a:t>l'Objectivité</a:t>
              </a:r>
              <a:r>
                <a:rPr lang="en-US" sz="1600" dirty="0">
                  <a:latin typeface="Fira Sans Extra Condensed"/>
                </a:rPr>
                <a:t> et de </a:t>
              </a:r>
              <a:r>
                <a:rPr lang="en-US" sz="1600" dirty="0" err="1">
                  <a:latin typeface="Fira Sans Extra Condensed"/>
                </a:rPr>
                <a:t>l'Équité</a:t>
              </a:r>
              <a:endParaRPr lang="en-US" sz="1600" dirty="0">
                <a:latin typeface="Fira Sans Extra Condensed"/>
              </a:endParaRPr>
            </a:p>
          </p:txBody>
        </p:sp>
      </p:grpSp>
      <p:grpSp>
        <p:nvGrpSpPr>
          <p:cNvPr id="986" name="Google Shape;986;p26"/>
          <p:cNvGrpSpPr/>
          <p:nvPr/>
        </p:nvGrpSpPr>
        <p:grpSpPr>
          <a:xfrm>
            <a:off x="414804" y="3122613"/>
            <a:ext cx="3438946" cy="604500"/>
            <a:chOff x="414804" y="3122613"/>
            <a:chExt cx="3438946" cy="604500"/>
          </a:xfrm>
        </p:grpSpPr>
        <p:sp>
          <p:nvSpPr>
            <p:cNvPr id="987" name="Google Shape;987;p26"/>
            <p:cNvSpPr/>
            <p:nvPr/>
          </p:nvSpPr>
          <p:spPr>
            <a:xfrm>
              <a:off x="3249250" y="3122613"/>
              <a:ext cx="604500" cy="6045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Fira Sans Extra Condensed"/>
                  <a:ea typeface="Fira Sans Extra Condensed"/>
                  <a:cs typeface="Fira Sans Extra Condensed"/>
                  <a:sym typeface="Fira Sans Extra Condensed"/>
                </a:rPr>
                <a:t>03</a:t>
              </a:r>
              <a:endParaRPr sz="1800" b="1">
                <a:solidFill>
                  <a:schemeClr val="lt1"/>
                </a:solidFill>
                <a:latin typeface="Fira Sans Extra Condensed"/>
                <a:ea typeface="Fira Sans Extra Condensed"/>
                <a:cs typeface="Fira Sans Extra Condensed"/>
                <a:sym typeface="Fira Sans Extra Condensed"/>
              </a:endParaRPr>
            </a:p>
          </p:txBody>
        </p:sp>
        <p:sp>
          <p:nvSpPr>
            <p:cNvPr id="988" name="Google Shape;988;p26"/>
            <p:cNvSpPr txBox="1"/>
            <p:nvPr/>
          </p:nvSpPr>
          <p:spPr>
            <a:xfrm>
              <a:off x="414804" y="3234645"/>
              <a:ext cx="3136696" cy="331800"/>
            </a:xfrm>
            <a:prstGeom prst="rect">
              <a:avLst/>
            </a:prstGeom>
            <a:noFill/>
            <a:ln>
              <a:noFill/>
            </a:ln>
          </p:spPr>
          <p:txBody>
            <a:bodyPr spcFirstLastPara="1" wrap="square" lIns="91425" tIns="91425" rIns="91425" bIns="91425" anchor="ctr" anchorCtr="0">
              <a:noAutofit/>
            </a:bodyPr>
            <a:lstStyle/>
            <a:p>
              <a:r>
                <a:rPr lang="en-US" sz="1600" dirty="0" err="1">
                  <a:latin typeface="Fira Sans Extra Condensed"/>
                </a:rPr>
                <a:t>Décisions</a:t>
              </a:r>
              <a:r>
                <a:rPr lang="en-US" sz="1600" dirty="0">
                  <a:latin typeface="Fira Sans Extra Condensed"/>
                </a:rPr>
                <a:t> </a:t>
              </a:r>
              <a:r>
                <a:rPr lang="en-US" sz="1600" dirty="0" err="1">
                  <a:latin typeface="Fira Sans Extra Condensed"/>
                </a:rPr>
                <a:t>Explicables</a:t>
              </a:r>
              <a:r>
                <a:rPr lang="en-US" sz="1600" dirty="0">
                  <a:latin typeface="Fira Sans Extra Condensed"/>
                </a:rPr>
                <a:t> et </a:t>
              </a:r>
              <a:r>
                <a:rPr lang="en-US" sz="1600" dirty="0" err="1">
                  <a:latin typeface="Fira Sans Extra Condensed"/>
                </a:rPr>
                <a:t>Justifiées</a:t>
              </a:r>
              <a:endParaRPr lang="en-US" sz="1600" dirty="0">
                <a:latin typeface="Fira Sans Extra Condensed"/>
              </a:endParaRPr>
            </a:p>
          </p:txBody>
        </p:sp>
      </p:grpSp>
      <p:grpSp>
        <p:nvGrpSpPr>
          <p:cNvPr id="990" name="Google Shape;990;p26"/>
          <p:cNvGrpSpPr/>
          <p:nvPr/>
        </p:nvGrpSpPr>
        <p:grpSpPr>
          <a:xfrm>
            <a:off x="-21102" y="4088400"/>
            <a:ext cx="3874852" cy="604500"/>
            <a:chOff x="-21102" y="4088400"/>
            <a:chExt cx="3874852" cy="604500"/>
          </a:xfrm>
        </p:grpSpPr>
        <p:sp>
          <p:nvSpPr>
            <p:cNvPr id="991" name="Google Shape;991;p26"/>
            <p:cNvSpPr/>
            <p:nvPr/>
          </p:nvSpPr>
          <p:spPr>
            <a:xfrm>
              <a:off x="3249250" y="4088400"/>
              <a:ext cx="604500" cy="604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Fira Sans Extra Condensed"/>
                  <a:ea typeface="Fira Sans Extra Condensed"/>
                  <a:cs typeface="Fira Sans Extra Condensed"/>
                  <a:sym typeface="Fira Sans Extra Condensed"/>
                </a:rPr>
                <a:t>04</a:t>
              </a:r>
              <a:endParaRPr sz="1800" b="1">
                <a:solidFill>
                  <a:schemeClr val="lt1"/>
                </a:solidFill>
                <a:latin typeface="Fira Sans Extra Condensed"/>
                <a:ea typeface="Fira Sans Extra Condensed"/>
                <a:cs typeface="Fira Sans Extra Condensed"/>
                <a:sym typeface="Fira Sans Extra Condensed"/>
              </a:endParaRPr>
            </a:p>
          </p:txBody>
        </p:sp>
        <p:sp>
          <p:nvSpPr>
            <p:cNvPr id="992" name="Google Shape;992;p26"/>
            <p:cNvSpPr txBox="1"/>
            <p:nvPr/>
          </p:nvSpPr>
          <p:spPr>
            <a:xfrm>
              <a:off x="-21102" y="4265211"/>
              <a:ext cx="3372493" cy="331800"/>
            </a:xfrm>
            <a:prstGeom prst="rect">
              <a:avLst/>
            </a:prstGeom>
            <a:noFill/>
            <a:ln>
              <a:noFill/>
            </a:ln>
          </p:spPr>
          <p:txBody>
            <a:bodyPr spcFirstLastPara="1" wrap="square" lIns="91425" tIns="91425" rIns="91425" bIns="91425" anchor="ctr" anchorCtr="0">
              <a:noAutofit/>
            </a:bodyPr>
            <a:lstStyle/>
            <a:p>
              <a:pPr algn="ctr"/>
              <a:r>
                <a:rPr lang="en-US" sz="1600" dirty="0">
                  <a:latin typeface="Fira Sans Extra Condensed"/>
                </a:rPr>
                <a:t>Simulation d'un </a:t>
              </a:r>
              <a:r>
                <a:rPr lang="en-US" sz="1600" dirty="0" err="1">
                  <a:latin typeface="Fira Sans Extra Condensed"/>
                </a:rPr>
                <a:t>Comité</a:t>
              </a:r>
              <a:r>
                <a:rPr lang="en-US" sz="1600" dirty="0">
                  <a:latin typeface="Fira Sans Extra Condensed"/>
                </a:rPr>
                <a:t> de Recrutement </a:t>
              </a:r>
              <a:r>
                <a:rPr lang="en-US" sz="1600" dirty="0" err="1">
                  <a:latin typeface="Fira Sans Extra Condensed"/>
                </a:rPr>
                <a:t>Virtuel</a:t>
              </a:r>
              <a:endParaRPr lang="en-US" sz="1600" dirty="0">
                <a:latin typeface="Fira Sans Extra Condensed"/>
              </a:endParaRPr>
            </a:p>
          </p:txBody>
        </p:sp>
      </p:grpSp>
      <p:sp>
        <p:nvSpPr>
          <p:cNvPr id="995" name="Google Shape;995;p26"/>
          <p:cNvSpPr/>
          <p:nvPr/>
        </p:nvSpPr>
        <p:spPr>
          <a:xfrm>
            <a:off x="6906650" y="2375375"/>
            <a:ext cx="167400" cy="167400"/>
          </a:xfrm>
          <a:prstGeom prst="ellipse">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96" name="Google Shape;996;p26"/>
          <p:cNvCxnSpPr>
            <a:cxnSpLocks/>
            <a:stCxn id="995" idx="2"/>
            <a:endCxn id="979" idx="6"/>
          </p:cNvCxnSpPr>
          <p:nvPr/>
        </p:nvCxnSpPr>
        <p:spPr>
          <a:xfrm flipH="1" flipV="1">
            <a:off x="3853700" y="1493200"/>
            <a:ext cx="3052950" cy="965875"/>
          </a:xfrm>
          <a:prstGeom prst="straightConnector1">
            <a:avLst/>
          </a:prstGeom>
          <a:noFill/>
          <a:ln w="9525" cap="flat" cmpd="sng">
            <a:solidFill>
              <a:schemeClr val="lt2"/>
            </a:solidFill>
            <a:prstDash val="solid"/>
            <a:round/>
            <a:headEnd type="none" w="med" len="med"/>
            <a:tailEnd type="none" w="med" len="med"/>
          </a:ln>
        </p:spPr>
      </p:cxnSp>
      <p:cxnSp>
        <p:nvCxnSpPr>
          <p:cNvPr id="997" name="Google Shape;997;p26"/>
          <p:cNvCxnSpPr>
            <a:stCxn id="995" idx="2"/>
            <a:endCxn id="983" idx="6"/>
          </p:cNvCxnSpPr>
          <p:nvPr/>
        </p:nvCxnSpPr>
        <p:spPr>
          <a:xfrm rot="10800000">
            <a:off x="3853850" y="2459075"/>
            <a:ext cx="3052800" cy="0"/>
          </a:xfrm>
          <a:prstGeom prst="straightConnector1">
            <a:avLst/>
          </a:prstGeom>
          <a:noFill/>
          <a:ln w="9525" cap="flat" cmpd="sng">
            <a:solidFill>
              <a:schemeClr val="lt2"/>
            </a:solidFill>
            <a:prstDash val="solid"/>
            <a:round/>
            <a:headEnd type="none" w="med" len="med"/>
            <a:tailEnd type="none" w="med" len="med"/>
          </a:ln>
        </p:spPr>
      </p:cxnSp>
      <p:cxnSp>
        <p:nvCxnSpPr>
          <p:cNvPr id="998" name="Google Shape;998;p26"/>
          <p:cNvCxnSpPr>
            <a:stCxn id="995" idx="2"/>
            <a:endCxn id="987" idx="6"/>
          </p:cNvCxnSpPr>
          <p:nvPr/>
        </p:nvCxnSpPr>
        <p:spPr>
          <a:xfrm flipH="1">
            <a:off x="3853850" y="2459075"/>
            <a:ext cx="3052800" cy="965700"/>
          </a:xfrm>
          <a:prstGeom prst="straightConnector1">
            <a:avLst/>
          </a:prstGeom>
          <a:noFill/>
          <a:ln w="9525" cap="flat" cmpd="sng">
            <a:solidFill>
              <a:schemeClr val="lt2"/>
            </a:solidFill>
            <a:prstDash val="solid"/>
            <a:round/>
            <a:headEnd type="none" w="med" len="med"/>
            <a:tailEnd type="none" w="med" len="med"/>
          </a:ln>
        </p:spPr>
      </p:cxnSp>
      <p:cxnSp>
        <p:nvCxnSpPr>
          <p:cNvPr id="999" name="Google Shape;999;p26"/>
          <p:cNvCxnSpPr>
            <a:stCxn id="995" idx="2"/>
            <a:endCxn id="991" idx="6"/>
          </p:cNvCxnSpPr>
          <p:nvPr/>
        </p:nvCxnSpPr>
        <p:spPr>
          <a:xfrm flipH="1">
            <a:off x="3853850" y="2459075"/>
            <a:ext cx="3052800" cy="193170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2" name="Google Shape;532;p20">
            <a:extLst>
              <a:ext uri="{FF2B5EF4-FFF2-40B4-BE49-F238E27FC236}">
                <a16:creationId xmlns:a16="http://schemas.microsoft.com/office/drawing/2014/main" id="{00F67BC1-4FAF-4F12-E0E9-077F67D98C83}"/>
              </a:ext>
            </a:extLst>
          </p:cNvPr>
          <p:cNvSpPr/>
          <p:nvPr/>
        </p:nvSpPr>
        <p:spPr>
          <a:xfrm>
            <a:off x="3512512" y="1620895"/>
            <a:ext cx="2125304" cy="3058016"/>
          </a:xfrm>
          <a:custGeom>
            <a:avLst/>
            <a:gdLst/>
            <a:ahLst/>
            <a:cxnLst/>
            <a:rect l="l" t="t" r="r" b="b"/>
            <a:pathLst>
              <a:path w="49706" h="71520" extrusionOk="0">
                <a:moveTo>
                  <a:pt x="2960" y="0"/>
                </a:moveTo>
                <a:lnTo>
                  <a:pt x="2789" y="14"/>
                </a:lnTo>
                <a:lnTo>
                  <a:pt x="2604" y="43"/>
                </a:lnTo>
                <a:lnTo>
                  <a:pt x="2434" y="85"/>
                </a:lnTo>
                <a:lnTo>
                  <a:pt x="2263" y="128"/>
                </a:lnTo>
                <a:lnTo>
                  <a:pt x="2106" y="171"/>
                </a:lnTo>
                <a:lnTo>
                  <a:pt x="1936" y="242"/>
                </a:lnTo>
                <a:lnTo>
                  <a:pt x="1779" y="313"/>
                </a:lnTo>
                <a:lnTo>
                  <a:pt x="1637" y="384"/>
                </a:lnTo>
                <a:lnTo>
                  <a:pt x="1480" y="470"/>
                </a:lnTo>
                <a:lnTo>
                  <a:pt x="1338" y="569"/>
                </a:lnTo>
                <a:lnTo>
                  <a:pt x="1210" y="669"/>
                </a:lnTo>
                <a:lnTo>
                  <a:pt x="1082" y="783"/>
                </a:lnTo>
                <a:lnTo>
                  <a:pt x="954" y="897"/>
                </a:lnTo>
                <a:lnTo>
                  <a:pt x="840" y="1010"/>
                </a:lnTo>
                <a:lnTo>
                  <a:pt x="726" y="1138"/>
                </a:lnTo>
                <a:lnTo>
                  <a:pt x="555" y="1352"/>
                </a:lnTo>
                <a:lnTo>
                  <a:pt x="413" y="1580"/>
                </a:lnTo>
                <a:lnTo>
                  <a:pt x="299" y="1807"/>
                </a:lnTo>
                <a:lnTo>
                  <a:pt x="185" y="2063"/>
                </a:lnTo>
                <a:lnTo>
                  <a:pt x="114" y="2320"/>
                </a:lnTo>
                <a:lnTo>
                  <a:pt x="43" y="2590"/>
                </a:lnTo>
                <a:lnTo>
                  <a:pt x="15" y="2860"/>
                </a:lnTo>
                <a:lnTo>
                  <a:pt x="0" y="3145"/>
                </a:lnTo>
                <a:lnTo>
                  <a:pt x="0" y="43529"/>
                </a:lnTo>
                <a:lnTo>
                  <a:pt x="15" y="44042"/>
                </a:lnTo>
                <a:lnTo>
                  <a:pt x="57" y="44554"/>
                </a:lnTo>
                <a:lnTo>
                  <a:pt x="128" y="45080"/>
                </a:lnTo>
                <a:lnTo>
                  <a:pt x="228" y="45607"/>
                </a:lnTo>
                <a:lnTo>
                  <a:pt x="356" y="46133"/>
                </a:lnTo>
                <a:lnTo>
                  <a:pt x="498" y="46660"/>
                </a:lnTo>
                <a:lnTo>
                  <a:pt x="669" y="47201"/>
                </a:lnTo>
                <a:lnTo>
                  <a:pt x="868" y="47741"/>
                </a:lnTo>
                <a:lnTo>
                  <a:pt x="1082" y="48282"/>
                </a:lnTo>
                <a:lnTo>
                  <a:pt x="1324" y="48823"/>
                </a:lnTo>
                <a:lnTo>
                  <a:pt x="1594" y="49364"/>
                </a:lnTo>
                <a:lnTo>
                  <a:pt x="1864" y="49904"/>
                </a:lnTo>
                <a:lnTo>
                  <a:pt x="2163" y="50445"/>
                </a:lnTo>
                <a:lnTo>
                  <a:pt x="2491" y="50986"/>
                </a:lnTo>
                <a:lnTo>
                  <a:pt x="2818" y="51527"/>
                </a:lnTo>
                <a:lnTo>
                  <a:pt x="3174" y="52082"/>
                </a:lnTo>
                <a:lnTo>
                  <a:pt x="3529" y="52622"/>
                </a:lnTo>
                <a:lnTo>
                  <a:pt x="3914" y="53163"/>
                </a:lnTo>
                <a:lnTo>
                  <a:pt x="4312" y="53690"/>
                </a:lnTo>
                <a:lnTo>
                  <a:pt x="4710" y="54230"/>
                </a:lnTo>
                <a:lnTo>
                  <a:pt x="5137" y="54771"/>
                </a:lnTo>
                <a:lnTo>
                  <a:pt x="5564" y="55298"/>
                </a:lnTo>
                <a:lnTo>
                  <a:pt x="5991" y="55824"/>
                </a:lnTo>
                <a:lnTo>
                  <a:pt x="6446" y="56351"/>
                </a:lnTo>
                <a:lnTo>
                  <a:pt x="7357" y="57389"/>
                </a:lnTo>
                <a:lnTo>
                  <a:pt x="8311" y="58400"/>
                </a:lnTo>
                <a:lnTo>
                  <a:pt x="9264" y="59396"/>
                </a:lnTo>
                <a:lnTo>
                  <a:pt x="10246" y="60363"/>
                </a:lnTo>
                <a:lnTo>
                  <a:pt x="11213" y="61317"/>
                </a:lnTo>
                <a:lnTo>
                  <a:pt x="12195" y="62228"/>
                </a:lnTo>
                <a:lnTo>
                  <a:pt x="13149" y="63096"/>
                </a:lnTo>
                <a:lnTo>
                  <a:pt x="14102" y="63935"/>
                </a:lnTo>
                <a:lnTo>
                  <a:pt x="15013" y="64746"/>
                </a:lnTo>
                <a:lnTo>
                  <a:pt x="15909" y="65500"/>
                </a:lnTo>
                <a:lnTo>
                  <a:pt x="16763" y="66212"/>
                </a:lnTo>
                <a:lnTo>
                  <a:pt x="17560" y="66881"/>
                </a:lnTo>
                <a:lnTo>
                  <a:pt x="19011" y="68048"/>
                </a:lnTo>
                <a:lnTo>
                  <a:pt x="20178" y="68987"/>
                </a:lnTo>
                <a:lnTo>
                  <a:pt x="21032" y="69670"/>
                </a:lnTo>
                <a:lnTo>
                  <a:pt x="21317" y="69897"/>
                </a:lnTo>
                <a:lnTo>
                  <a:pt x="21487" y="70068"/>
                </a:lnTo>
                <a:lnTo>
                  <a:pt x="21672" y="70239"/>
                </a:lnTo>
                <a:lnTo>
                  <a:pt x="21872" y="70410"/>
                </a:lnTo>
                <a:lnTo>
                  <a:pt x="22071" y="70566"/>
                </a:lnTo>
                <a:lnTo>
                  <a:pt x="22270" y="70709"/>
                </a:lnTo>
                <a:lnTo>
                  <a:pt x="22484" y="70837"/>
                </a:lnTo>
                <a:lnTo>
                  <a:pt x="22697" y="70950"/>
                </a:lnTo>
                <a:lnTo>
                  <a:pt x="22910" y="71064"/>
                </a:lnTo>
                <a:lnTo>
                  <a:pt x="23138" y="71164"/>
                </a:lnTo>
                <a:lnTo>
                  <a:pt x="23366" y="71249"/>
                </a:lnTo>
                <a:lnTo>
                  <a:pt x="23593" y="71320"/>
                </a:lnTo>
                <a:lnTo>
                  <a:pt x="23821" y="71377"/>
                </a:lnTo>
                <a:lnTo>
                  <a:pt x="24049" y="71434"/>
                </a:lnTo>
                <a:lnTo>
                  <a:pt x="24291" y="71477"/>
                </a:lnTo>
                <a:lnTo>
                  <a:pt x="24533" y="71505"/>
                </a:lnTo>
                <a:lnTo>
                  <a:pt x="24760" y="71520"/>
                </a:lnTo>
                <a:lnTo>
                  <a:pt x="25244" y="71520"/>
                </a:lnTo>
                <a:lnTo>
                  <a:pt x="25472" y="71505"/>
                </a:lnTo>
                <a:lnTo>
                  <a:pt x="25714" y="71477"/>
                </a:lnTo>
                <a:lnTo>
                  <a:pt x="25956" y="71434"/>
                </a:lnTo>
                <a:lnTo>
                  <a:pt x="26183" y="71377"/>
                </a:lnTo>
                <a:lnTo>
                  <a:pt x="26411" y="71320"/>
                </a:lnTo>
                <a:lnTo>
                  <a:pt x="26639" y="71249"/>
                </a:lnTo>
                <a:lnTo>
                  <a:pt x="26866" y="71164"/>
                </a:lnTo>
                <a:lnTo>
                  <a:pt x="27094" y="71064"/>
                </a:lnTo>
                <a:lnTo>
                  <a:pt x="27307" y="70950"/>
                </a:lnTo>
                <a:lnTo>
                  <a:pt x="27521" y="70837"/>
                </a:lnTo>
                <a:lnTo>
                  <a:pt x="27734" y="70709"/>
                </a:lnTo>
                <a:lnTo>
                  <a:pt x="27934" y="70566"/>
                </a:lnTo>
                <a:lnTo>
                  <a:pt x="28133" y="70410"/>
                </a:lnTo>
                <a:lnTo>
                  <a:pt x="28318" y="70253"/>
                </a:lnTo>
                <a:lnTo>
                  <a:pt x="28503" y="70068"/>
                </a:lnTo>
                <a:lnTo>
                  <a:pt x="28645" y="69926"/>
                </a:lnTo>
                <a:lnTo>
                  <a:pt x="28787" y="69798"/>
                </a:lnTo>
                <a:lnTo>
                  <a:pt x="29001" y="69613"/>
                </a:lnTo>
                <a:lnTo>
                  <a:pt x="29627" y="69101"/>
                </a:lnTo>
                <a:lnTo>
                  <a:pt x="31548" y="67535"/>
                </a:lnTo>
                <a:lnTo>
                  <a:pt x="32786" y="66511"/>
                </a:lnTo>
                <a:lnTo>
                  <a:pt x="34166" y="65344"/>
                </a:lnTo>
                <a:lnTo>
                  <a:pt x="35646" y="64049"/>
                </a:lnTo>
                <a:lnTo>
                  <a:pt x="36415" y="63352"/>
                </a:lnTo>
                <a:lnTo>
                  <a:pt x="37197" y="62640"/>
                </a:lnTo>
                <a:lnTo>
                  <a:pt x="37994" y="61900"/>
                </a:lnTo>
                <a:lnTo>
                  <a:pt x="38791" y="61132"/>
                </a:lnTo>
                <a:lnTo>
                  <a:pt x="39602" y="60335"/>
                </a:lnTo>
                <a:lnTo>
                  <a:pt x="40399" y="59538"/>
                </a:lnTo>
                <a:lnTo>
                  <a:pt x="41196" y="58713"/>
                </a:lnTo>
                <a:lnTo>
                  <a:pt x="41978" y="57873"/>
                </a:lnTo>
                <a:lnTo>
                  <a:pt x="42747" y="57019"/>
                </a:lnTo>
                <a:lnTo>
                  <a:pt x="43487" y="56151"/>
                </a:lnTo>
                <a:lnTo>
                  <a:pt x="44213" y="55269"/>
                </a:lnTo>
                <a:lnTo>
                  <a:pt x="44910" y="54373"/>
                </a:lnTo>
                <a:lnTo>
                  <a:pt x="45579" y="53490"/>
                </a:lnTo>
                <a:lnTo>
                  <a:pt x="46219" y="52580"/>
                </a:lnTo>
                <a:lnTo>
                  <a:pt x="46518" y="52139"/>
                </a:lnTo>
                <a:lnTo>
                  <a:pt x="46817" y="51683"/>
                </a:lnTo>
                <a:lnTo>
                  <a:pt x="47087" y="51228"/>
                </a:lnTo>
                <a:lnTo>
                  <a:pt x="47357" y="50772"/>
                </a:lnTo>
                <a:lnTo>
                  <a:pt x="47614" y="50331"/>
                </a:lnTo>
                <a:lnTo>
                  <a:pt x="47870" y="49876"/>
                </a:lnTo>
                <a:lnTo>
                  <a:pt x="48097" y="49421"/>
                </a:lnTo>
                <a:lnTo>
                  <a:pt x="48311" y="48965"/>
                </a:lnTo>
                <a:lnTo>
                  <a:pt x="48624" y="48268"/>
                </a:lnTo>
                <a:lnTo>
                  <a:pt x="48894" y="47585"/>
                </a:lnTo>
                <a:lnTo>
                  <a:pt x="49022" y="47229"/>
                </a:lnTo>
                <a:lnTo>
                  <a:pt x="49136" y="46888"/>
                </a:lnTo>
                <a:lnTo>
                  <a:pt x="49250" y="46546"/>
                </a:lnTo>
                <a:lnTo>
                  <a:pt x="49335" y="46205"/>
                </a:lnTo>
                <a:lnTo>
                  <a:pt x="49421" y="45863"/>
                </a:lnTo>
                <a:lnTo>
                  <a:pt x="49492" y="45522"/>
                </a:lnTo>
                <a:lnTo>
                  <a:pt x="49563" y="45194"/>
                </a:lnTo>
                <a:lnTo>
                  <a:pt x="49606" y="44853"/>
                </a:lnTo>
                <a:lnTo>
                  <a:pt x="49648" y="44526"/>
                </a:lnTo>
                <a:lnTo>
                  <a:pt x="49677" y="44184"/>
                </a:lnTo>
                <a:lnTo>
                  <a:pt x="49705" y="43857"/>
                </a:lnTo>
                <a:lnTo>
                  <a:pt x="49705" y="43529"/>
                </a:lnTo>
                <a:lnTo>
                  <a:pt x="49705" y="3145"/>
                </a:lnTo>
                <a:lnTo>
                  <a:pt x="49691" y="2818"/>
                </a:lnTo>
                <a:lnTo>
                  <a:pt x="49648" y="2505"/>
                </a:lnTo>
                <a:lnTo>
                  <a:pt x="49563" y="2206"/>
                </a:lnTo>
                <a:lnTo>
                  <a:pt x="49463" y="1921"/>
                </a:lnTo>
                <a:lnTo>
                  <a:pt x="49321" y="1651"/>
                </a:lnTo>
                <a:lnTo>
                  <a:pt x="49165" y="1380"/>
                </a:lnTo>
                <a:lnTo>
                  <a:pt x="48994" y="1138"/>
                </a:lnTo>
                <a:lnTo>
                  <a:pt x="48780" y="925"/>
                </a:lnTo>
                <a:lnTo>
                  <a:pt x="48567" y="712"/>
                </a:lnTo>
                <a:lnTo>
                  <a:pt x="48325" y="541"/>
                </a:lnTo>
                <a:lnTo>
                  <a:pt x="48055" y="384"/>
                </a:lnTo>
                <a:lnTo>
                  <a:pt x="47784" y="242"/>
                </a:lnTo>
                <a:lnTo>
                  <a:pt x="47500" y="142"/>
                </a:lnTo>
                <a:lnTo>
                  <a:pt x="47201" y="57"/>
                </a:lnTo>
                <a:lnTo>
                  <a:pt x="46888" y="14"/>
                </a:lnTo>
                <a:lnTo>
                  <a:pt x="46561" y="0"/>
                </a:lnTo>
                <a:close/>
              </a:path>
            </a:pathLst>
          </a:custGeom>
          <a:solidFill>
            <a:srgbClr val="2776EA">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5" name="Google Shape;525;p20"/>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algn="l"/>
            <a:r>
              <a:rPr lang="en-US" sz="2400" dirty="0" err="1">
                <a:solidFill>
                  <a:srgbClr val="1D1D1B"/>
                </a:solidFill>
                <a:latin typeface="Tomorrow Semi Bold" pitchFamily="34" charset="0"/>
                <a:ea typeface="Tomorrow Semi Bold" pitchFamily="34" charset="-122"/>
              </a:rPr>
              <a:t>Pourquoi</a:t>
            </a:r>
            <a:r>
              <a:rPr lang="en-US" sz="2400" dirty="0">
                <a:solidFill>
                  <a:srgbClr val="1D1D1B"/>
                </a:solidFill>
                <a:latin typeface="Tomorrow Semi Bold" pitchFamily="34" charset="0"/>
                <a:ea typeface="Tomorrow Semi Bold" pitchFamily="34" charset="-122"/>
              </a:rPr>
              <a:t> </a:t>
            </a:r>
            <a:r>
              <a:rPr lang="en-US" sz="2400" dirty="0" err="1">
                <a:solidFill>
                  <a:srgbClr val="1D1D1B"/>
                </a:solidFill>
                <a:latin typeface="Tomorrow Semi Bold" pitchFamily="34" charset="0"/>
                <a:ea typeface="Tomorrow Semi Bold" pitchFamily="34" charset="-122"/>
              </a:rPr>
              <a:t>l'Intelligence</a:t>
            </a:r>
            <a:r>
              <a:rPr lang="en-US" sz="2400" dirty="0">
                <a:solidFill>
                  <a:srgbClr val="1D1D1B"/>
                </a:solidFill>
                <a:latin typeface="Tomorrow Semi Bold" pitchFamily="34" charset="0"/>
                <a:ea typeface="Tomorrow Semi Bold" pitchFamily="34" charset="-122"/>
              </a:rPr>
              <a:t> </a:t>
            </a:r>
            <a:r>
              <a:rPr lang="en-US" sz="2400" dirty="0" err="1">
                <a:solidFill>
                  <a:srgbClr val="1D1D1B"/>
                </a:solidFill>
                <a:latin typeface="Tomorrow Semi Bold" pitchFamily="34" charset="0"/>
                <a:ea typeface="Tomorrow Semi Bold" pitchFamily="34" charset="-122"/>
              </a:rPr>
              <a:t>Artificielle</a:t>
            </a:r>
            <a:r>
              <a:rPr lang="en-US" sz="2400" dirty="0">
                <a:solidFill>
                  <a:srgbClr val="1D1D1B"/>
                </a:solidFill>
                <a:latin typeface="Tomorrow Semi Bold" pitchFamily="34" charset="0"/>
                <a:ea typeface="Tomorrow Semi Bold" pitchFamily="34" charset="-122"/>
              </a:rPr>
              <a:t> ? Levier de Transformation</a:t>
            </a:r>
          </a:p>
        </p:txBody>
      </p:sp>
      <p:grpSp>
        <p:nvGrpSpPr>
          <p:cNvPr id="529" name="Google Shape;529;p20"/>
          <p:cNvGrpSpPr/>
          <p:nvPr/>
        </p:nvGrpSpPr>
        <p:grpSpPr>
          <a:xfrm>
            <a:off x="2777948" y="1007398"/>
            <a:ext cx="3515750" cy="3719409"/>
            <a:chOff x="2788540" y="1012550"/>
            <a:chExt cx="3515750" cy="3719409"/>
          </a:xfrm>
        </p:grpSpPr>
        <p:sp>
          <p:nvSpPr>
            <p:cNvPr id="530" name="Google Shape;530;p20"/>
            <p:cNvSpPr/>
            <p:nvPr/>
          </p:nvSpPr>
          <p:spPr>
            <a:xfrm>
              <a:off x="2788540" y="3035010"/>
              <a:ext cx="247800" cy="2478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sp>
          <p:nvSpPr>
            <p:cNvPr id="531" name="Google Shape;531;p20"/>
            <p:cNvSpPr/>
            <p:nvPr/>
          </p:nvSpPr>
          <p:spPr>
            <a:xfrm>
              <a:off x="5947002" y="1913635"/>
              <a:ext cx="247800" cy="2478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sp>
          <p:nvSpPr>
            <p:cNvPr id="533" name="Google Shape;533;p20"/>
            <p:cNvSpPr/>
            <p:nvPr/>
          </p:nvSpPr>
          <p:spPr>
            <a:xfrm>
              <a:off x="3509017" y="1622848"/>
              <a:ext cx="2125304" cy="3058016"/>
            </a:xfrm>
            <a:custGeom>
              <a:avLst/>
              <a:gdLst/>
              <a:ahLst/>
              <a:cxnLst/>
              <a:rect l="l" t="t" r="r" b="b"/>
              <a:pathLst>
                <a:path w="49706" h="71520" fill="none" extrusionOk="0">
                  <a:moveTo>
                    <a:pt x="46561" y="0"/>
                  </a:moveTo>
                  <a:lnTo>
                    <a:pt x="3145" y="0"/>
                  </a:lnTo>
                  <a:lnTo>
                    <a:pt x="3145" y="0"/>
                  </a:lnTo>
                  <a:lnTo>
                    <a:pt x="2960" y="0"/>
                  </a:lnTo>
                  <a:lnTo>
                    <a:pt x="2789" y="14"/>
                  </a:lnTo>
                  <a:lnTo>
                    <a:pt x="2604" y="43"/>
                  </a:lnTo>
                  <a:lnTo>
                    <a:pt x="2434" y="85"/>
                  </a:lnTo>
                  <a:lnTo>
                    <a:pt x="2263" y="128"/>
                  </a:lnTo>
                  <a:lnTo>
                    <a:pt x="2106" y="171"/>
                  </a:lnTo>
                  <a:lnTo>
                    <a:pt x="1936" y="242"/>
                  </a:lnTo>
                  <a:lnTo>
                    <a:pt x="1779" y="313"/>
                  </a:lnTo>
                  <a:lnTo>
                    <a:pt x="1637" y="384"/>
                  </a:lnTo>
                  <a:lnTo>
                    <a:pt x="1480" y="470"/>
                  </a:lnTo>
                  <a:lnTo>
                    <a:pt x="1338" y="569"/>
                  </a:lnTo>
                  <a:lnTo>
                    <a:pt x="1210" y="669"/>
                  </a:lnTo>
                  <a:lnTo>
                    <a:pt x="1082" y="783"/>
                  </a:lnTo>
                  <a:lnTo>
                    <a:pt x="954" y="897"/>
                  </a:lnTo>
                  <a:lnTo>
                    <a:pt x="840" y="1010"/>
                  </a:lnTo>
                  <a:lnTo>
                    <a:pt x="726" y="1138"/>
                  </a:lnTo>
                  <a:lnTo>
                    <a:pt x="726" y="1138"/>
                  </a:lnTo>
                  <a:lnTo>
                    <a:pt x="555" y="1352"/>
                  </a:lnTo>
                  <a:lnTo>
                    <a:pt x="413" y="1580"/>
                  </a:lnTo>
                  <a:lnTo>
                    <a:pt x="299" y="1807"/>
                  </a:lnTo>
                  <a:lnTo>
                    <a:pt x="185" y="2063"/>
                  </a:lnTo>
                  <a:lnTo>
                    <a:pt x="114" y="2320"/>
                  </a:lnTo>
                  <a:lnTo>
                    <a:pt x="43" y="2590"/>
                  </a:lnTo>
                  <a:lnTo>
                    <a:pt x="15" y="2860"/>
                  </a:lnTo>
                  <a:lnTo>
                    <a:pt x="0" y="3145"/>
                  </a:lnTo>
                  <a:lnTo>
                    <a:pt x="0" y="43529"/>
                  </a:lnTo>
                  <a:lnTo>
                    <a:pt x="0" y="43529"/>
                  </a:lnTo>
                  <a:lnTo>
                    <a:pt x="15" y="44042"/>
                  </a:lnTo>
                  <a:lnTo>
                    <a:pt x="57" y="44554"/>
                  </a:lnTo>
                  <a:lnTo>
                    <a:pt x="128" y="45080"/>
                  </a:lnTo>
                  <a:lnTo>
                    <a:pt x="228" y="45607"/>
                  </a:lnTo>
                  <a:lnTo>
                    <a:pt x="356" y="46133"/>
                  </a:lnTo>
                  <a:lnTo>
                    <a:pt x="498" y="46660"/>
                  </a:lnTo>
                  <a:lnTo>
                    <a:pt x="669" y="47201"/>
                  </a:lnTo>
                  <a:lnTo>
                    <a:pt x="868" y="47741"/>
                  </a:lnTo>
                  <a:lnTo>
                    <a:pt x="1082" y="48282"/>
                  </a:lnTo>
                  <a:lnTo>
                    <a:pt x="1324" y="48823"/>
                  </a:lnTo>
                  <a:lnTo>
                    <a:pt x="1594" y="49364"/>
                  </a:lnTo>
                  <a:lnTo>
                    <a:pt x="1864" y="49904"/>
                  </a:lnTo>
                  <a:lnTo>
                    <a:pt x="2163" y="50445"/>
                  </a:lnTo>
                  <a:lnTo>
                    <a:pt x="2491" y="50986"/>
                  </a:lnTo>
                  <a:lnTo>
                    <a:pt x="2818" y="51527"/>
                  </a:lnTo>
                  <a:lnTo>
                    <a:pt x="3174" y="52082"/>
                  </a:lnTo>
                  <a:lnTo>
                    <a:pt x="3529" y="52622"/>
                  </a:lnTo>
                  <a:lnTo>
                    <a:pt x="3914" y="53163"/>
                  </a:lnTo>
                  <a:lnTo>
                    <a:pt x="4312" y="53690"/>
                  </a:lnTo>
                  <a:lnTo>
                    <a:pt x="4710" y="54230"/>
                  </a:lnTo>
                  <a:lnTo>
                    <a:pt x="5137" y="54771"/>
                  </a:lnTo>
                  <a:lnTo>
                    <a:pt x="5564" y="55298"/>
                  </a:lnTo>
                  <a:lnTo>
                    <a:pt x="5991" y="55824"/>
                  </a:lnTo>
                  <a:lnTo>
                    <a:pt x="6446" y="56351"/>
                  </a:lnTo>
                  <a:lnTo>
                    <a:pt x="7357" y="57389"/>
                  </a:lnTo>
                  <a:lnTo>
                    <a:pt x="8311" y="58400"/>
                  </a:lnTo>
                  <a:lnTo>
                    <a:pt x="9264" y="59396"/>
                  </a:lnTo>
                  <a:lnTo>
                    <a:pt x="10246" y="60363"/>
                  </a:lnTo>
                  <a:lnTo>
                    <a:pt x="11213" y="61317"/>
                  </a:lnTo>
                  <a:lnTo>
                    <a:pt x="12195" y="62228"/>
                  </a:lnTo>
                  <a:lnTo>
                    <a:pt x="13149" y="63096"/>
                  </a:lnTo>
                  <a:lnTo>
                    <a:pt x="14102" y="63935"/>
                  </a:lnTo>
                  <a:lnTo>
                    <a:pt x="15013" y="64746"/>
                  </a:lnTo>
                  <a:lnTo>
                    <a:pt x="15909" y="65500"/>
                  </a:lnTo>
                  <a:lnTo>
                    <a:pt x="16763" y="66212"/>
                  </a:lnTo>
                  <a:lnTo>
                    <a:pt x="17560" y="66881"/>
                  </a:lnTo>
                  <a:lnTo>
                    <a:pt x="19011" y="68048"/>
                  </a:lnTo>
                  <a:lnTo>
                    <a:pt x="20178" y="68987"/>
                  </a:lnTo>
                  <a:lnTo>
                    <a:pt x="21032" y="69670"/>
                  </a:lnTo>
                  <a:lnTo>
                    <a:pt x="21317" y="69897"/>
                  </a:lnTo>
                  <a:lnTo>
                    <a:pt x="21487" y="70068"/>
                  </a:lnTo>
                  <a:lnTo>
                    <a:pt x="21487" y="70068"/>
                  </a:lnTo>
                  <a:lnTo>
                    <a:pt x="21672" y="70239"/>
                  </a:lnTo>
                  <a:lnTo>
                    <a:pt x="21872" y="70410"/>
                  </a:lnTo>
                  <a:lnTo>
                    <a:pt x="22071" y="70566"/>
                  </a:lnTo>
                  <a:lnTo>
                    <a:pt x="22270" y="70709"/>
                  </a:lnTo>
                  <a:lnTo>
                    <a:pt x="22484" y="70837"/>
                  </a:lnTo>
                  <a:lnTo>
                    <a:pt x="22697" y="70950"/>
                  </a:lnTo>
                  <a:lnTo>
                    <a:pt x="22910" y="71064"/>
                  </a:lnTo>
                  <a:lnTo>
                    <a:pt x="23138" y="71164"/>
                  </a:lnTo>
                  <a:lnTo>
                    <a:pt x="23366" y="71249"/>
                  </a:lnTo>
                  <a:lnTo>
                    <a:pt x="23593" y="71320"/>
                  </a:lnTo>
                  <a:lnTo>
                    <a:pt x="23821" y="71377"/>
                  </a:lnTo>
                  <a:lnTo>
                    <a:pt x="24049" y="71434"/>
                  </a:lnTo>
                  <a:lnTo>
                    <a:pt x="24291" y="71477"/>
                  </a:lnTo>
                  <a:lnTo>
                    <a:pt x="24533" y="71505"/>
                  </a:lnTo>
                  <a:lnTo>
                    <a:pt x="24760" y="71520"/>
                  </a:lnTo>
                  <a:lnTo>
                    <a:pt x="25002" y="71520"/>
                  </a:lnTo>
                  <a:lnTo>
                    <a:pt x="25002" y="71520"/>
                  </a:lnTo>
                  <a:lnTo>
                    <a:pt x="25244" y="71520"/>
                  </a:lnTo>
                  <a:lnTo>
                    <a:pt x="25472" y="71505"/>
                  </a:lnTo>
                  <a:lnTo>
                    <a:pt x="25714" y="71477"/>
                  </a:lnTo>
                  <a:lnTo>
                    <a:pt x="25956" y="71434"/>
                  </a:lnTo>
                  <a:lnTo>
                    <a:pt x="26183" y="71377"/>
                  </a:lnTo>
                  <a:lnTo>
                    <a:pt x="26411" y="71320"/>
                  </a:lnTo>
                  <a:lnTo>
                    <a:pt x="26639" y="71249"/>
                  </a:lnTo>
                  <a:lnTo>
                    <a:pt x="26866" y="71164"/>
                  </a:lnTo>
                  <a:lnTo>
                    <a:pt x="27094" y="71064"/>
                  </a:lnTo>
                  <a:lnTo>
                    <a:pt x="27307" y="70950"/>
                  </a:lnTo>
                  <a:lnTo>
                    <a:pt x="27521" y="70837"/>
                  </a:lnTo>
                  <a:lnTo>
                    <a:pt x="27734" y="70709"/>
                  </a:lnTo>
                  <a:lnTo>
                    <a:pt x="27934" y="70566"/>
                  </a:lnTo>
                  <a:lnTo>
                    <a:pt x="28133" y="70410"/>
                  </a:lnTo>
                  <a:lnTo>
                    <a:pt x="28318" y="70253"/>
                  </a:lnTo>
                  <a:lnTo>
                    <a:pt x="28503" y="70068"/>
                  </a:lnTo>
                  <a:lnTo>
                    <a:pt x="28503" y="70068"/>
                  </a:lnTo>
                  <a:lnTo>
                    <a:pt x="28645" y="69926"/>
                  </a:lnTo>
                  <a:lnTo>
                    <a:pt x="28645" y="69926"/>
                  </a:lnTo>
                  <a:lnTo>
                    <a:pt x="28787" y="69798"/>
                  </a:lnTo>
                  <a:lnTo>
                    <a:pt x="29001" y="69613"/>
                  </a:lnTo>
                  <a:lnTo>
                    <a:pt x="29627" y="69101"/>
                  </a:lnTo>
                  <a:lnTo>
                    <a:pt x="31548" y="67535"/>
                  </a:lnTo>
                  <a:lnTo>
                    <a:pt x="32786" y="66511"/>
                  </a:lnTo>
                  <a:lnTo>
                    <a:pt x="34166" y="65344"/>
                  </a:lnTo>
                  <a:lnTo>
                    <a:pt x="35646" y="64049"/>
                  </a:lnTo>
                  <a:lnTo>
                    <a:pt x="36415" y="63352"/>
                  </a:lnTo>
                  <a:lnTo>
                    <a:pt x="37197" y="62640"/>
                  </a:lnTo>
                  <a:lnTo>
                    <a:pt x="37994" y="61900"/>
                  </a:lnTo>
                  <a:lnTo>
                    <a:pt x="38791" y="61132"/>
                  </a:lnTo>
                  <a:lnTo>
                    <a:pt x="39602" y="60335"/>
                  </a:lnTo>
                  <a:lnTo>
                    <a:pt x="40399" y="59538"/>
                  </a:lnTo>
                  <a:lnTo>
                    <a:pt x="41196" y="58713"/>
                  </a:lnTo>
                  <a:lnTo>
                    <a:pt x="41978" y="57873"/>
                  </a:lnTo>
                  <a:lnTo>
                    <a:pt x="42747" y="57019"/>
                  </a:lnTo>
                  <a:lnTo>
                    <a:pt x="43487" y="56151"/>
                  </a:lnTo>
                  <a:lnTo>
                    <a:pt x="44213" y="55269"/>
                  </a:lnTo>
                  <a:lnTo>
                    <a:pt x="44910" y="54373"/>
                  </a:lnTo>
                  <a:lnTo>
                    <a:pt x="45579" y="53490"/>
                  </a:lnTo>
                  <a:lnTo>
                    <a:pt x="46219" y="52580"/>
                  </a:lnTo>
                  <a:lnTo>
                    <a:pt x="46518" y="52139"/>
                  </a:lnTo>
                  <a:lnTo>
                    <a:pt x="46817" y="51683"/>
                  </a:lnTo>
                  <a:lnTo>
                    <a:pt x="47087" y="51228"/>
                  </a:lnTo>
                  <a:lnTo>
                    <a:pt x="47357" y="50772"/>
                  </a:lnTo>
                  <a:lnTo>
                    <a:pt x="47614" y="50331"/>
                  </a:lnTo>
                  <a:lnTo>
                    <a:pt x="47870" y="49876"/>
                  </a:lnTo>
                  <a:lnTo>
                    <a:pt x="48097" y="49421"/>
                  </a:lnTo>
                  <a:lnTo>
                    <a:pt x="48311" y="48965"/>
                  </a:lnTo>
                  <a:lnTo>
                    <a:pt x="48311" y="48965"/>
                  </a:lnTo>
                  <a:lnTo>
                    <a:pt x="48624" y="48268"/>
                  </a:lnTo>
                  <a:lnTo>
                    <a:pt x="48894" y="47585"/>
                  </a:lnTo>
                  <a:lnTo>
                    <a:pt x="49022" y="47229"/>
                  </a:lnTo>
                  <a:lnTo>
                    <a:pt x="49136" y="46888"/>
                  </a:lnTo>
                  <a:lnTo>
                    <a:pt x="49250" y="46546"/>
                  </a:lnTo>
                  <a:lnTo>
                    <a:pt x="49335" y="46205"/>
                  </a:lnTo>
                  <a:lnTo>
                    <a:pt x="49421" y="45863"/>
                  </a:lnTo>
                  <a:lnTo>
                    <a:pt x="49492" y="45522"/>
                  </a:lnTo>
                  <a:lnTo>
                    <a:pt x="49563" y="45194"/>
                  </a:lnTo>
                  <a:lnTo>
                    <a:pt x="49606" y="44853"/>
                  </a:lnTo>
                  <a:lnTo>
                    <a:pt x="49648" y="44526"/>
                  </a:lnTo>
                  <a:lnTo>
                    <a:pt x="49677" y="44184"/>
                  </a:lnTo>
                  <a:lnTo>
                    <a:pt x="49705" y="43857"/>
                  </a:lnTo>
                  <a:lnTo>
                    <a:pt x="49705" y="43529"/>
                  </a:lnTo>
                  <a:lnTo>
                    <a:pt x="49705" y="3145"/>
                  </a:lnTo>
                  <a:lnTo>
                    <a:pt x="49705" y="3145"/>
                  </a:lnTo>
                  <a:lnTo>
                    <a:pt x="49691" y="2818"/>
                  </a:lnTo>
                  <a:lnTo>
                    <a:pt x="49648" y="2505"/>
                  </a:lnTo>
                  <a:lnTo>
                    <a:pt x="49563" y="2206"/>
                  </a:lnTo>
                  <a:lnTo>
                    <a:pt x="49463" y="1921"/>
                  </a:lnTo>
                  <a:lnTo>
                    <a:pt x="49321" y="1651"/>
                  </a:lnTo>
                  <a:lnTo>
                    <a:pt x="49165" y="1380"/>
                  </a:lnTo>
                  <a:lnTo>
                    <a:pt x="48994" y="1138"/>
                  </a:lnTo>
                  <a:lnTo>
                    <a:pt x="48780" y="925"/>
                  </a:lnTo>
                  <a:lnTo>
                    <a:pt x="48567" y="712"/>
                  </a:lnTo>
                  <a:lnTo>
                    <a:pt x="48325" y="541"/>
                  </a:lnTo>
                  <a:lnTo>
                    <a:pt x="48055" y="384"/>
                  </a:lnTo>
                  <a:lnTo>
                    <a:pt x="47784" y="242"/>
                  </a:lnTo>
                  <a:lnTo>
                    <a:pt x="47500" y="142"/>
                  </a:lnTo>
                  <a:lnTo>
                    <a:pt x="47201" y="57"/>
                  </a:lnTo>
                  <a:lnTo>
                    <a:pt x="46888" y="14"/>
                  </a:lnTo>
                  <a:lnTo>
                    <a:pt x="465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3457878" y="1571709"/>
              <a:ext cx="2227537" cy="3160250"/>
            </a:xfrm>
            <a:custGeom>
              <a:avLst/>
              <a:gdLst/>
              <a:ahLst/>
              <a:cxnLst/>
              <a:rect l="l" t="t" r="r" b="b"/>
              <a:pathLst>
                <a:path w="52097" h="73911" extrusionOk="0">
                  <a:moveTo>
                    <a:pt x="47757" y="1196"/>
                  </a:moveTo>
                  <a:lnTo>
                    <a:pt x="48084" y="1210"/>
                  </a:lnTo>
                  <a:lnTo>
                    <a:pt x="48397" y="1253"/>
                  </a:lnTo>
                  <a:lnTo>
                    <a:pt x="48696" y="1338"/>
                  </a:lnTo>
                  <a:lnTo>
                    <a:pt x="48980" y="1438"/>
                  </a:lnTo>
                  <a:lnTo>
                    <a:pt x="49251" y="1580"/>
                  </a:lnTo>
                  <a:lnTo>
                    <a:pt x="49521" y="1737"/>
                  </a:lnTo>
                  <a:lnTo>
                    <a:pt x="49763" y="1908"/>
                  </a:lnTo>
                  <a:lnTo>
                    <a:pt x="49976" y="2121"/>
                  </a:lnTo>
                  <a:lnTo>
                    <a:pt x="50190" y="2334"/>
                  </a:lnTo>
                  <a:lnTo>
                    <a:pt x="50361" y="2576"/>
                  </a:lnTo>
                  <a:lnTo>
                    <a:pt x="50517" y="2847"/>
                  </a:lnTo>
                  <a:lnTo>
                    <a:pt x="50659" y="3117"/>
                  </a:lnTo>
                  <a:lnTo>
                    <a:pt x="50759" y="3402"/>
                  </a:lnTo>
                  <a:lnTo>
                    <a:pt x="50844" y="3701"/>
                  </a:lnTo>
                  <a:lnTo>
                    <a:pt x="50887" y="4014"/>
                  </a:lnTo>
                  <a:lnTo>
                    <a:pt x="50901" y="4341"/>
                  </a:lnTo>
                  <a:lnTo>
                    <a:pt x="50901" y="44725"/>
                  </a:lnTo>
                  <a:lnTo>
                    <a:pt x="50901" y="45053"/>
                  </a:lnTo>
                  <a:lnTo>
                    <a:pt x="50873" y="45380"/>
                  </a:lnTo>
                  <a:lnTo>
                    <a:pt x="50844" y="45722"/>
                  </a:lnTo>
                  <a:lnTo>
                    <a:pt x="50802" y="46049"/>
                  </a:lnTo>
                  <a:lnTo>
                    <a:pt x="50759" y="46390"/>
                  </a:lnTo>
                  <a:lnTo>
                    <a:pt x="50688" y="46718"/>
                  </a:lnTo>
                  <a:lnTo>
                    <a:pt x="50617" y="47059"/>
                  </a:lnTo>
                  <a:lnTo>
                    <a:pt x="50531" y="47401"/>
                  </a:lnTo>
                  <a:lnTo>
                    <a:pt x="50446" y="47742"/>
                  </a:lnTo>
                  <a:lnTo>
                    <a:pt x="50332" y="48084"/>
                  </a:lnTo>
                  <a:lnTo>
                    <a:pt x="50218" y="48425"/>
                  </a:lnTo>
                  <a:lnTo>
                    <a:pt x="50090" y="48781"/>
                  </a:lnTo>
                  <a:lnTo>
                    <a:pt x="49820" y="49464"/>
                  </a:lnTo>
                  <a:lnTo>
                    <a:pt x="49507" y="50161"/>
                  </a:lnTo>
                  <a:lnTo>
                    <a:pt x="49293" y="50617"/>
                  </a:lnTo>
                  <a:lnTo>
                    <a:pt x="49066" y="51072"/>
                  </a:lnTo>
                  <a:lnTo>
                    <a:pt x="48810" y="51527"/>
                  </a:lnTo>
                  <a:lnTo>
                    <a:pt x="48553" y="51968"/>
                  </a:lnTo>
                  <a:lnTo>
                    <a:pt x="48283" y="52424"/>
                  </a:lnTo>
                  <a:lnTo>
                    <a:pt x="48013" y="52879"/>
                  </a:lnTo>
                  <a:lnTo>
                    <a:pt x="47714" y="53335"/>
                  </a:lnTo>
                  <a:lnTo>
                    <a:pt x="47415" y="53776"/>
                  </a:lnTo>
                  <a:lnTo>
                    <a:pt x="46775" y="54686"/>
                  </a:lnTo>
                  <a:lnTo>
                    <a:pt x="46106" y="55569"/>
                  </a:lnTo>
                  <a:lnTo>
                    <a:pt x="45409" y="56465"/>
                  </a:lnTo>
                  <a:lnTo>
                    <a:pt x="44683" y="57347"/>
                  </a:lnTo>
                  <a:lnTo>
                    <a:pt x="43943" y="58215"/>
                  </a:lnTo>
                  <a:lnTo>
                    <a:pt x="43174" y="59069"/>
                  </a:lnTo>
                  <a:lnTo>
                    <a:pt x="42392" y="59909"/>
                  </a:lnTo>
                  <a:lnTo>
                    <a:pt x="41595" y="60734"/>
                  </a:lnTo>
                  <a:lnTo>
                    <a:pt x="40798" y="61531"/>
                  </a:lnTo>
                  <a:lnTo>
                    <a:pt x="39987" y="62328"/>
                  </a:lnTo>
                  <a:lnTo>
                    <a:pt x="39190" y="63096"/>
                  </a:lnTo>
                  <a:lnTo>
                    <a:pt x="38393" y="63836"/>
                  </a:lnTo>
                  <a:lnTo>
                    <a:pt x="37611" y="64548"/>
                  </a:lnTo>
                  <a:lnTo>
                    <a:pt x="36842" y="65245"/>
                  </a:lnTo>
                  <a:lnTo>
                    <a:pt x="35362" y="66540"/>
                  </a:lnTo>
                  <a:lnTo>
                    <a:pt x="33982" y="67707"/>
                  </a:lnTo>
                  <a:lnTo>
                    <a:pt x="32744" y="68731"/>
                  </a:lnTo>
                  <a:lnTo>
                    <a:pt x="30823" y="70297"/>
                  </a:lnTo>
                  <a:lnTo>
                    <a:pt x="30197" y="70809"/>
                  </a:lnTo>
                  <a:lnTo>
                    <a:pt x="29983" y="70994"/>
                  </a:lnTo>
                  <a:lnTo>
                    <a:pt x="29841" y="71122"/>
                  </a:lnTo>
                  <a:lnTo>
                    <a:pt x="29699" y="71264"/>
                  </a:lnTo>
                  <a:lnTo>
                    <a:pt x="29514" y="71449"/>
                  </a:lnTo>
                  <a:lnTo>
                    <a:pt x="29329" y="71606"/>
                  </a:lnTo>
                  <a:lnTo>
                    <a:pt x="29130" y="71762"/>
                  </a:lnTo>
                  <a:lnTo>
                    <a:pt x="28930" y="71905"/>
                  </a:lnTo>
                  <a:lnTo>
                    <a:pt x="28717" y="72033"/>
                  </a:lnTo>
                  <a:lnTo>
                    <a:pt x="28503" y="72146"/>
                  </a:lnTo>
                  <a:lnTo>
                    <a:pt x="28290" y="72260"/>
                  </a:lnTo>
                  <a:lnTo>
                    <a:pt x="28062" y="72360"/>
                  </a:lnTo>
                  <a:lnTo>
                    <a:pt x="27835" y="72445"/>
                  </a:lnTo>
                  <a:lnTo>
                    <a:pt x="27607" y="72516"/>
                  </a:lnTo>
                  <a:lnTo>
                    <a:pt x="27379" y="72573"/>
                  </a:lnTo>
                  <a:lnTo>
                    <a:pt x="27152" y="72630"/>
                  </a:lnTo>
                  <a:lnTo>
                    <a:pt x="26910" y="72673"/>
                  </a:lnTo>
                  <a:lnTo>
                    <a:pt x="26668" y="72701"/>
                  </a:lnTo>
                  <a:lnTo>
                    <a:pt x="26440" y="72716"/>
                  </a:lnTo>
                  <a:lnTo>
                    <a:pt x="25956" y="72716"/>
                  </a:lnTo>
                  <a:lnTo>
                    <a:pt x="25729" y="72701"/>
                  </a:lnTo>
                  <a:lnTo>
                    <a:pt x="25487" y="72673"/>
                  </a:lnTo>
                  <a:lnTo>
                    <a:pt x="25245" y="72630"/>
                  </a:lnTo>
                  <a:lnTo>
                    <a:pt x="25017" y="72573"/>
                  </a:lnTo>
                  <a:lnTo>
                    <a:pt x="24789" y="72516"/>
                  </a:lnTo>
                  <a:lnTo>
                    <a:pt x="24562" y="72445"/>
                  </a:lnTo>
                  <a:lnTo>
                    <a:pt x="24334" y="72360"/>
                  </a:lnTo>
                  <a:lnTo>
                    <a:pt x="24106" y="72260"/>
                  </a:lnTo>
                  <a:lnTo>
                    <a:pt x="23893" y="72146"/>
                  </a:lnTo>
                  <a:lnTo>
                    <a:pt x="23680" y="72033"/>
                  </a:lnTo>
                  <a:lnTo>
                    <a:pt x="23466" y="71905"/>
                  </a:lnTo>
                  <a:lnTo>
                    <a:pt x="23267" y="71762"/>
                  </a:lnTo>
                  <a:lnTo>
                    <a:pt x="23068" y="71606"/>
                  </a:lnTo>
                  <a:lnTo>
                    <a:pt x="22868" y="71435"/>
                  </a:lnTo>
                  <a:lnTo>
                    <a:pt x="22683" y="71264"/>
                  </a:lnTo>
                  <a:lnTo>
                    <a:pt x="22513" y="71093"/>
                  </a:lnTo>
                  <a:lnTo>
                    <a:pt x="22228" y="70866"/>
                  </a:lnTo>
                  <a:lnTo>
                    <a:pt x="21374" y="70183"/>
                  </a:lnTo>
                  <a:lnTo>
                    <a:pt x="20207" y="69244"/>
                  </a:lnTo>
                  <a:lnTo>
                    <a:pt x="18756" y="68077"/>
                  </a:lnTo>
                  <a:lnTo>
                    <a:pt x="17959" y="67408"/>
                  </a:lnTo>
                  <a:lnTo>
                    <a:pt x="17105" y="66696"/>
                  </a:lnTo>
                  <a:lnTo>
                    <a:pt x="16209" y="65942"/>
                  </a:lnTo>
                  <a:lnTo>
                    <a:pt x="15298" y="65131"/>
                  </a:lnTo>
                  <a:lnTo>
                    <a:pt x="14345" y="64292"/>
                  </a:lnTo>
                  <a:lnTo>
                    <a:pt x="13391" y="63424"/>
                  </a:lnTo>
                  <a:lnTo>
                    <a:pt x="12409" y="62513"/>
                  </a:lnTo>
                  <a:lnTo>
                    <a:pt x="11442" y="61559"/>
                  </a:lnTo>
                  <a:lnTo>
                    <a:pt x="10460" y="60592"/>
                  </a:lnTo>
                  <a:lnTo>
                    <a:pt x="9507" y="59596"/>
                  </a:lnTo>
                  <a:lnTo>
                    <a:pt x="8553" y="58585"/>
                  </a:lnTo>
                  <a:lnTo>
                    <a:pt x="7642" y="57547"/>
                  </a:lnTo>
                  <a:lnTo>
                    <a:pt x="7187" y="57020"/>
                  </a:lnTo>
                  <a:lnTo>
                    <a:pt x="6760" y="56494"/>
                  </a:lnTo>
                  <a:lnTo>
                    <a:pt x="6333" y="55967"/>
                  </a:lnTo>
                  <a:lnTo>
                    <a:pt x="5906" y="55426"/>
                  </a:lnTo>
                  <a:lnTo>
                    <a:pt x="5508" y="54886"/>
                  </a:lnTo>
                  <a:lnTo>
                    <a:pt x="5110" y="54359"/>
                  </a:lnTo>
                  <a:lnTo>
                    <a:pt x="4725" y="53818"/>
                  </a:lnTo>
                  <a:lnTo>
                    <a:pt x="4370" y="53278"/>
                  </a:lnTo>
                  <a:lnTo>
                    <a:pt x="4014" y="52723"/>
                  </a:lnTo>
                  <a:lnTo>
                    <a:pt x="3687" y="52182"/>
                  </a:lnTo>
                  <a:lnTo>
                    <a:pt x="3359" y="51641"/>
                  </a:lnTo>
                  <a:lnTo>
                    <a:pt x="3060" y="51100"/>
                  </a:lnTo>
                  <a:lnTo>
                    <a:pt x="2790" y="50560"/>
                  </a:lnTo>
                  <a:lnTo>
                    <a:pt x="2520" y="50019"/>
                  </a:lnTo>
                  <a:lnTo>
                    <a:pt x="2278" y="49478"/>
                  </a:lnTo>
                  <a:lnTo>
                    <a:pt x="2064" y="48937"/>
                  </a:lnTo>
                  <a:lnTo>
                    <a:pt x="1865" y="48397"/>
                  </a:lnTo>
                  <a:lnTo>
                    <a:pt x="1694" y="47856"/>
                  </a:lnTo>
                  <a:lnTo>
                    <a:pt x="1552" y="47329"/>
                  </a:lnTo>
                  <a:lnTo>
                    <a:pt x="1424" y="46803"/>
                  </a:lnTo>
                  <a:lnTo>
                    <a:pt x="1324" y="46276"/>
                  </a:lnTo>
                  <a:lnTo>
                    <a:pt x="1253" y="45750"/>
                  </a:lnTo>
                  <a:lnTo>
                    <a:pt x="1211" y="45238"/>
                  </a:lnTo>
                  <a:lnTo>
                    <a:pt x="1196" y="44725"/>
                  </a:lnTo>
                  <a:lnTo>
                    <a:pt x="1196" y="4341"/>
                  </a:lnTo>
                  <a:lnTo>
                    <a:pt x="1211" y="4056"/>
                  </a:lnTo>
                  <a:lnTo>
                    <a:pt x="1239" y="3786"/>
                  </a:lnTo>
                  <a:lnTo>
                    <a:pt x="1310" y="3516"/>
                  </a:lnTo>
                  <a:lnTo>
                    <a:pt x="1381" y="3259"/>
                  </a:lnTo>
                  <a:lnTo>
                    <a:pt x="1495" y="3003"/>
                  </a:lnTo>
                  <a:lnTo>
                    <a:pt x="1609" y="2776"/>
                  </a:lnTo>
                  <a:lnTo>
                    <a:pt x="1751" y="2548"/>
                  </a:lnTo>
                  <a:lnTo>
                    <a:pt x="1922" y="2334"/>
                  </a:lnTo>
                  <a:lnTo>
                    <a:pt x="2036" y="2206"/>
                  </a:lnTo>
                  <a:lnTo>
                    <a:pt x="2150" y="2093"/>
                  </a:lnTo>
                  <a:lnTo>
                    <a:pt x="2278" y="1979"/>
                  </a:lnTo>
                  <a:lnTo>
                    <a:pt x="2406" y="1865"/>
                  </a:lnTo>
                  <a:lnTo>
                    <a:pt x="2534" y="1765"/>
                  </a:lnTo>
                  <a:lnTo>
                    <a:pt x="2676" y="1666"/>
                  </a:lnTo>
                  <a:lnTo>
                    <a:pt x="2833" y="1580"/>
                  </a:lnTo>
                  <a:lnTo>
                    <a:pt x="2975" y="1509"/>
                  </a:lnTo>
                  <a:lnTo>
                    <a:pt x="3132" y="1438"/>
                  </a:lnTo>
                  <a:lnTo>
                    <a:pt x="3302" y="1367"/>
                  </a:lnTo>
                  <a:lnTo>
                    <a:pt x="3459" y="1324"/>
                  </a:lnTo>
                  <a:lnTo>
                    <a:pt x="3630" y="1281"/>
                  </a:lnTo>
                  <a:lnTo>
                    <a:pt x="3800" y="1239"/>
                  </a:lnTo>
                  <a:lnTo>
                    <a:pt x="3985" y="1210"/>
                  </a:lnTo>
                  <a:lnTo>
                    <a:pt x="4156" y="1196"/>
                  </a:lnTo>
                  <a:close/>
                  <a:moveTo>
                    <a:pt x="4341" y="1"/>
                  </a:moveTo>
                  <a:lnTo>
                    <a:pt x="4113" y="15"/>
                  </a:lnTo>
                  <a:lnTo>
                    <a:pt x="3900" y="29"/>
                  </a:lnTo>
                  <a:lnTo>
                    <a:pt x="3687" y="58"/>
                  </a:lnTo>
                  <a:lnTo>
                    <a:pt x="3473" y="86"/>
                  </a:lnTo>
                  <a:lnTo>
                    <a:pt x="3260" y="143"/>
                  </a:lnTo>
                  <a:lnTo>
                    <a:pt x="3046" y="200"/>
                  </a:lnTo>
                  <a:lnTo>
                    <a:pt x="2847" y="271"/>
                  </a:lnTo>
                  <a:lnTo>
                    <a:pt x="2662" y="342"/>
                  </a:lnTo>
                  <a:lnTo>
                    <a:pt x="2463" y="428"/>
                  </a:lnTo>
                  <a:lnTo>
                    <a:pt x="2278" y="527"/>
                  </a:lnTo>
                  <a:lnTo>
                    <a:pt x="2093" y="627"/>
                  </a:lnTo>
                  <a:lnTo>
                    <a:pt x="1922" y="741"/>
                  </a:lnTo>
                  <a:lnTo>
                    <a:pt x="1751" y="869"/>
                  </a:lnTo>
                  <a:lnTo>
                    <a:pt x="1581" y="997"/>
                  </a:lnTo>
                  <a:lnTo>
                    <a:pt x="1424" y="1125"/>
                  </a:lnTo>
                  <a:lnTo>
                    <a:pt x="1282" y="1281"/>
                  </a:lnTo>
                  <a:lnTo>
                    <a:pt x="1125" y="1424"/>
                  </a:lnTo>
                  <a:lnTo>
                    <a:pt x="997" y="1580"/>
                  </a:lnTo>
                  <a:lnTo>
                    <a:pt x="869" y="1751"/>
                  </a:lnTo>
                  <a:lnTo>
                    <a:pt x="741" y="1922"/>
                  </a:lnTo>
                  <a:lnTo>
                    <a:pt x="627" y="2093"/>
                  </a:lnTo>
                  <a:lnTo>
                    <a:pt x="527" y="2278"/>
                  </a:lnTo>
                  <a:lnTo>
                    <a:pt x="428" y="2463"/>
                  </a:lnTo>
                  <a:lnTo>
                    <a:pt x="343" y="2648"/>
                  </a:lnTo>
                  <a:lnTo>
                    <a:pt x="271" y="2847"/>
                  </a:lnTo>
                  <a:lnTo>
                    <a:pt x="200" y="3046"/>
                  </a:lnTo>
                  <a:lnTo>
                    <a:pt x="143" y="3259"/>
                  </a:lnTo>
                  <a:lnTo>
                    <a:pt x="86" y="3473"/>
                  </a:lnTo>
                  <a:lnTo>
                    <a:pt x="58" y="3686"/>
                  </a:lnTo>
                  <a:lnTo>
                    <a:pt x="29" y="3900"/>
                  </a:lnTo>
                  <a:lnTo>
                    <a:pt x="15" y="4113"/>
                  </a:lnTo>
                  <a:lnTo>
                    <a:pt x="1" y="4341"/>
                  </a:lnTo>
                  <a:lnTo>
                    <a:pt x="1" y="44725"/>
                  </a:lnTo>
                  <a:lnTo>
                    <a:pt x="15" y="45152"/>
                  </a:lnTo>
                  <a:lnTo>
                    <a:pt x="44" y="45565"/>
                  </a:lnTo>
                  <a:lnTo>
                    <a:pt x="72" y="45992"/>
                  </a:lnTo>
                  <a:lnTo>
                    <a:pt x="143" y="46419"/>
                  </a:lnTo>
                  <a:lnTo>
                    <a:pt x="214" y="46846"/>
                  </a:lnTo>
                  <a:lnTo>
                    <a:pt x="300" y="47273"/>
                  </a:lnTo>
                  <a:lnTo>
                    <a:pt x="399" y="47699"/>
                  </a:lnTo>
                  <a:lnTo>
                    <a:pt x="527" y="48126"/>
                  </a:lnTo>
                  <a:lnTo>
                    <a:pt x="656" y="48553"/>
                  </a:lnTo>
                  <a:lnTo>
                    <a:pt x="798" y="48994"/>
                  </a:lnTo>
                  <a:lnTo>
                    <a:pt x="969" y="49421"/>
                  </a:lnTo>
                  <a:lnTo>
                    <a:pt x="1139" y="49862"/>
                  </a:lnTo>
                  <a:lnTo>
                    <a:pt x="1324" y="50289"/>
                  </a:lnTo>
                  <a:lnTo>
                    <a:pt x="1524" y="50730"/>
                  </a:lnTo>
                  <a:lnTo>
                    <a:pt x="1737" y="51172"/>
                  </a:lnTo>
                  <a:lnTo>
                    <a:pt x="1965" y="51598"/>
                  </a:lnTo>
                  <a:lnTo>
                    <a:pt x="2192" y="52040"/>
                  </a:lnTo>
                  <a:lnTo>
                    <a:pt x="2449" y="52481"/>
                  </a:lnTo>
                  <a:lnTo>
                    <a:pt x="2705" y="52908"/>
                  </a:lnTo>
                  <a:lnTo>
                    <a:pt x="2975" y="53349"/>
                  </a:lnTo>
                  <a:lnTo>
                    <a:pt x="3245" y="53790"/>
                  </a:lnTo>
                  <a:lnTo>
                    <a:pt x="3544" y="54217"/>
                  </a:lnTo>
                  <a:lnTo>
                    <a:pt x="4156" y="55099"/>
                  </a:lnTo>
                  <a:lnTo>
                    <a:pt x="4796" y="55967"/>
                  </a:lnTo>
                  <a:lnTo>
                    <a:pt x="5480" y="56835"/>
                  </a:lnTo>
                  <a:lnTo>
                    <a:pt x="6177" y="57703"/>
                  </a:lnTo>
                  <a:lnTo>
                    <a:pt x="6917" y="58557"/>
                  </a:lnTo>
                  <a:lnTo>
                    <a:pt x="7685" y="59411"/>
                  </a:lnTo>
                  <a:lnTo>
                    <a:pt x="8468" y="60250"/>
                  </a:lnTo>
                  <a:lnTo>
                    <a:pt x="9279" y="61090"/>
                  </a:lnTo>
                  <a:lnTo>
                    <a:pt x="10104" y="61929"/>
                  </a:lnTo>
                  <a:lnTo>
                    <a:pt x="10944" y="62741"/>
                  </a:lnTo>
                  <a:lnTo>
                    <a:pt x="11798" y="63552"/>
                  </a:lnTo>
                  <a:lnTo>
                    <a:pt x="12651" y="64363"/>
                  </a:lnTo>
                  <a:lnTo>
                    <a:pt x="13519" y="65145"/>
                  </a:lnTo>
                  <a:lnTo>
                    <a:pt x="14402" y="65928"/>
                  </a:lnTo>
                  <a:lnTo>
                    <a:pt x="15270" y="66682"/>
                  </a:lnTo>
                  <a:lnTo>
                    <a:pt x="16152" y="67436"/>
                  </a:lnTo>
                  <a:lnTo>
                    <a:pt x="17020" y="68162"/>
                  </a:lnTo>
                  <a:lnTo>
                    <a:pt x="18742" y="69585"/>
                  </a:lnTo>
                  <a:lnTo>
                    <a:pt x="20407" y="70937"/>
                  </a:lnTo>
                  <a:lnTo>
                    <a:pt x="21317" y="71663"/>
                  </a:lnTo>
                  <a:lnTo>
                    <a:pt x="21659" y="71933"/>
                  </a:lnTo>
                  <a:lnTo>
                    <a:pt x="21844" y="72104"/>
                  </a:lnTo>
                  <a:lnTo>
                    <a:pt x="22072" y="72317"/>
                  </a:lnTo>
                  <a:lnTo>
                    <a:pt x="22299" y="72516"/>
                  </a:lnTo>
                  <a:lnTo>
                    <a:pt x="22541" y="72701"/>
                  </a:lnTo>
                  <a:lnTo>
                    <a:pt x="22783" y="72872"/>
                  </a:lnTo>
                  <a:lnTo>
                    <a:pt x="23039" y="73043"/>
                  </a:lnTo>
                  <a:lnTo>
                    <a:pt x="23295" y="73185"/>
                  </a:lnTo>
                  <a:lnTo>
                    <a:pt x="23566" y="73328"/>
                  </a:lnTo>
                  <a:lnTo>
                    <a:pt x="23836" y="73441"/>
                  </a:lnTo>
                  <a:lnTo>
                    <a:pt x="24121" y="73555"/>
                  </a:lnTo>
                  <a:lnTo>
                    <a:pt x="24405" y="73655"/>
                  </a:lnTo>
                  <a:lnTo>
                    <a:pt x="24690" y="73726"/>
                  </a:lnTo>
                  <a:lnTo>
                    <a:pt x="24989" y="73797"/>
                  </a:lnTo>
                  <a:lnTo>
                    <a:pt x="25288" y="73840"/>
                  </a:lnTo>
                  <a:lnTo>
                    <a:pt x="25586" y="73883"/>
                  </a:lnTo>
                  <a:lnTo>
                    <a:pt x="25885" y="73911"/>
                  </a:lnTo>
                  <a:lnTo>
                    <a:pt x="26511" y="73911"/>
                  </a:lnTo>
                  <a:lnTo>
                    <a:pt x="26810" y="73883"/>
                  </a:lnTo>
                  <a:lnTo>
                    <a:pt x="27109" y="73840"/>
                  </a:lnTo>
                  <a:lnTo>
                    <a:pt x="27408" y="73797"/>
                  </a:lnTo>
                  <a:lnTo>
                    <a:pt x="27707" y="73726"/>
                  </a:lnTo>
                  <a:lnTo>
                    <a:pt x="27991" y="73655"/>
                  </a:lnTo>
                  <a:lnTo>
                    <a:pt x="28276" y="73555"/>
                  </a:lnTo>
                  <a:lnTo>
                    <a:pt x="28560" y="73441"/>
                  </a:lnTo>
                  <a:lnTo>
                    <a:pt x="28831" y="73328"/>
                  </a:lnTo>
                  <a:lnTo>
                    <a:pt x="29101" y="73185"/>
                  </a:lnTo>
                  <a:lnTo>
                    <a:pt x="29357" y="73043"/>
                  </a:lnTo>
                  <a:lnTo>
                    <a:pt x="29613" y="72886"/>
                  </a:lnTo>
                  <a:lnTo>
                    <a:pt x="29855" y="72716"/>
                  </a:lnTo>
                  <a:lnTo>
                    <a:pt x="30097" y="72516"/>
                  </a:lnTo>
                  <a:lnTo>
                    <a:pt x="30325" y="72317"/>
                  </a:lnTo>
                  <a:lnTo>
                    <a:pt x="30553" y="72118"/>
                  </a:lnTo>
                  <a:lnTo>
                    <a:pt x="30681" y="71976"/>
                  </a:lnTo>
                  <a:lnTo>
                    <a:pt x="30866" y="71819"/>
                  </a:lnTo>
                  <a:lnTo>
                    <a:pt x="31164" y="71563"/>
                  </a:lnTo>
                  <a:lnTo>
                    <a:pt x="32018" y="70880"/>
                  </a:lnTo>
                  <a:lnTo>
                    <a:pt x="33029" y="70055"/>
                  </a:lnTo>
                  <a:lnTo>
                    <a:pt x="34252" y="69044"/>
                  </a:lnTo>
                  <a:lnTo>
                    <a:pt x="35633" y="67878"/>
                  </a:lnTo>
                  <a:lnTo>
                    <a:pt x="37155" y="66568"/>
                  </a:lnTo>
                  <a:lnTo>
                    <a:pt x="37938" y="65857"/>
                  </a:lnTo>
                  <a:lnTo>
                    <a:pt x="38763" y="65131"/>
                  </a:lnTo>
                  <a:lnTo>
                    <a:pt x="39589" y="64363"/>
                  </a:lnTo>
                  <a:lnTo>
                    <a:pt x="40428" y="63566"/>
                  </a:lnTo>
                  <a:lnTo>
                    <a:pt x="41268" y="62755"/>
                  </a:lnTo>
                  <a:lnTo>
                    <a:pt x="42107" y="61915"/>
                  </a:lnTo>
                  <a:lnTo>
                    <a:pt x="42933" y="61061"/>
                  </a:lnTo>
                  <a:lnTo>
                    <a:pt x="43758" y="60179"/>
                  </a:lnTo>
                  <a:lnTo>
                    <a:pt x="44270" y="59624"/>
                  </a:lnTo>
                  <a:lnTo>
                    <a:pt x="44768" y="59069"/>
                  </a:lnTo>
                  <a:lnTo>
                    <a:pt x="45252" y="58528"/>
                  </a:lnTo>
                  <a:lnTo>
                    <a:pt x="45707" y="57973"/>
                  </a:lnTo>
                  <a:lnTo>
                    <a:pt x="46149" y="57447"/>
                  </a:lnTo>
                  <a:lnTo>
                    <a:pt x="46590" y="56906"/>
                  </a:lnTo>
                  <a:lnTo>
                    <a:pt x="47002" y="56380"/>
                  </a:lnTo>
                  <a:lnTo>
                    <a:pt x="47401" y="55853"/>
                  </a:lnTo>
                  <a:lnTo>
                    <a:pt x="47785" y="55327"/>
                  </a:lnTo>
                  <a:lnTo>
                    <a:pt x="48141" y="54814"/>
                  </a:lnTo>
                  <a:lnTo>
                    <a:pt x="48496" y="54302"/>
                  </a:lnTo>
                  <a:lnTo>
                    <a:pt x="48824" y="53804"/>
                  </a:lnTo>
                  <a:lnTo>
                    <a:pt x="49151" y="53292"/>
                  </a:lnTo>
                  <a:lnTo>
                    <a:pt x="49450" y="52794"/>
                  </a:lnTo>
                  <a:lnTo>
                    <a:pt x="49734" y="52310"/>
                  </a:lnTo>
                  <a:lnTo>
                    <a:pt x="50005" y="51826"/>
                  </a:lnTo>
                  <a:lnTo>
                    <a:pt x="50261" y="51342"/>
                  </a:lnTo>
                  <a:lnTo>
                    <a:pt x="50489" y="50859"/>
                  </a:lnTo>
                  <a:lnTo>
                    <a:pt x="50716" y="50389"/>
                  </a:lnTo>
                  <a:lnTo>
                    <a:pt x="50916" y="49919"/>
                  </a:lnTo>
                  <a:lnTo>
                    <a:pt x="51101" y="49464"/>
                  </a:lnTo>
                  <a:lnTo>
                    <a:pt x="51271" y="49009"/>
                  </a:lnTo>
                  <a:lnTo>
                    <a:pt x="51428" y="48553"/>
                  </a:lnTo>
                  <a:lnTo>
                    <a:pt x="51570" y="48112"/>
                  </a:lnTo>
                  <a:lnTo>
                    <a:pt x="51698" y="47671"/>
                  </a:lnTo>
                  <a:lnTo>
                    <a:pt x="51798" y="47230"/>
                  </a:lnTo>
                  <a:lnTo>
                    <a:pt x="51897" y="46803"/>
                  </a:lnTo>
                  <a:lnTo>
                    <a:pt x="51969" y="46376"/>
                  </a:lnTo>
                  <a:lnTo>
                    <a:pt x="52025" y="45949"/>
                  </a:lnTo>
                  <a:lnTo>
                    <a:pt x="52068" y="45537"/>
                  </a:lnTo>
                  <a:lnTo>
                    <a:pt x="52082" y="45138"/>
                  </a:lnTo>
                  <a:lnTo>
                    <a:pt x="52097" y="44725"/>
                  </a:lnTo>
                  <a:lnTo>
                    <a:pt x="52097" y="4341"/>
                  </a:lnTo>
                  <a:lnTo>
                    <a:pt x="52097" y="4113"/>
                  </a:lnTo>
                  <a:lnTo>
                    <a:pt x="52068" y="3900"/>
                  </a:lnTo>
                  <a:lnTo>
                    <a:pt x="52040" y="3686"/>
                  </a:lnTo>
                  <a:lnTo>
                    <a:pt x="52011" y="3473"/>
                  </a:lnTo>
                  <a:lnTo>
                    <a:pt x="51954" y="3259"/>
                  </a:lnTo>
                  <a:lnTo>
                    <a:pt x="51897" y="3046"/>
                  </a:lnTo>
                  <a:lnTo>
                    <a:pt x="51826" y="2847"/>
                  </a:lnTo>
                  <a:lnTo>
                    <a:pt x="51755" y="2648"/>
                  </a:lnTo>
                  <a:lnTo>
                    <a:pt x="51670" y="2463"/>
                  </a:lnTo>
                  <a:lnTo>
                    <a:pt x="51570" y="2278"/>
                  </a:lnTo>
                  <a:lnTo>
                    <a:pt x="51471" y="2093"/>
                  </a:lnTo>
                  <a:lnTo>
                    <a:pt x="51357" y="1922"/>
                  </a:lnTo>
                  <a:lnTo>
                    <a:pt x="51229" y="1751"/>
                  </a:lnTo>
                  <a:lnTo>
                    <a:pt x="51101" y="1580"/>
                  </a:lnTo>
                  <a:lnTo>
                    <a:pt x="50972" y="1424"/>
                  </a:lnTo>
                  <a:lnTo>
                    <a:pt x="50830" y="1281"/>
                  </a:lnTo>
                  <a:lnTo>
                    <a:pt x="50674" y="1125"/>
                  </a:lnTo>
                  <a:lnTo>
                    <a:pt x="50517" y="997"/>
                  </a:lnTo>
                  <a:lnTo>
                    <a:pt x="50346" y="869"/>
                  </a:lnTo>
                  <a:lnTo>
                    <a:pt x="50176" y="741"/>
                  </a:lnTo>
                  <a:lnTo>
                    <a:pt x="50005" y="627"/>
                  </a:lnTo>
                  <a:lnTo>
                    <a:pt x="49820" y="527"/>
                  </a:lnTo>
                  <a:lnTo>
                    <a:pt x="49635" y="428"/>
                  </a:lnTo>
                  <a:lnTo>
                    <a:pt x="49450" y="342"/>
                  </a:lnTo>
                  <a:lnTo>
                    <a:pt x="49251" y="271"/>
                  </a:lnTo>
                  <a:lnTo>
                    <a:pt x="49051" y="200"/>
                  </a:lnTo>
                  <a:lnTo>
                    <a:pt x="48838" y="143"/>
                  </a:lnTo>
                  <a:lnTo>
                    <a:pt x="48625" y="86"/>
                  </a:lnTo>
                  <a:lnTo>
                    <a:pt x="48411" y="58"/>
                  </a:lnTo>
                  <a:lnTo>
                    <a:pt x="48198" y="29"/>
                  </a:lnTo>
                  <a:lnTo>
                    <a:pt x="47984" y="15"/>
                  </a:lnTo>
                  <a:lnTo>
                    <a:pt x="47757" y="1"/>
                  </a:lnTo>
                  <a:close/>
                </a:path>
              </a:pathLst>
            </a:custGeom>
            <a:solidFill>
              <a:srgbClr val="2776EA">
                <a:alpha val="376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3605738" y="1773103"/>
              <a:ext cx="1931827" cy="2757474"/>
            </a:xfrm>
            <a:custGeom>
              <a:avLst/>
              <a:gdLst/>
              <a:ahLst/>
              <a:cxnLst/>
              <a:rect l="l" t="t" r="r" b="b"/>
              <a:pathLst>
                <a:path w="45181" h="64491" extrusionOk="0">
                  <a:moveTo>
                    <a:pt x="41808" y="1196"/>
                  </a:moveTo>
                  <a:lnTo>
                    <a:pt x="42022" y="1210"/>
                  </a:lnTo>
                  <a:lnTo>
                    <a:pt x="42249" y="1239"/>
                  </a:lnTo>
                  <a:lnTo>
                    <a:pt x="42449" y="1296"/>
                  </a:lnTo>
                  <a:lnTo>
                    <a:pt x="42648" y="1367"/>
                  </a:lnTo>
                  <a:lnTo>
                    <a:pt x="42847" y="1467"/>
                  </a:lnTo>
                  <a:lnTo>
                    <a:pt x="43018" y="1566"/>
                  </a:lnTo>
                  <a:lnTo>
                    <a:pt x="43189" y="1694"/>
                  </a:lnTo>
                  <a:lnTo>
                    <a:pt x="43345" y="1837"/>
                  </a:lnTo>
                  <a:lnTo>
                    <a:pt x="43487" y="1993"/>
                  </a:lnTo>
                  <a:lnTo>
                    <a:pt x="43615" y="2164"/>
                  </a:lnTo>
                  <a:lnTo>
                    <a:pt x="43729" y="2349"/>
                  </a:lnTo>
                  <a:lnTo>
                    <a:pt x="43815" y="2534"/>
                  </a:lnTo>
                  <a:lnTo>
                    <a:pt x="43886" y="2733"/>
                  </a:lnTo>
                  <a:lnTo>
                    <a:pt x="43943" y="2946"/>
                  </a:lnTo>
                  <a:lnTo>
                    <a:pt x="43985" y="3160"/>
                  </a:lnTo>
                  <a:lnTo>
                    <a:pt x="43985" y="3388"/>
                  </a:lnTo>
                  <a:lnTo>
                    <a:pt x="43985" y="39119"/>
                  </a:lnTo>
                  <a:lnTo>
                    <a:pt x="43985" y="39503"/>
                  </a:lnTo>
                  <a:lnTo>
                    <a:pt x="43957" y="39873"/>
                  </a:lnTo>
                  <a:lnTo>
                    <a:pt x="43900" y="40257"/>
                  </a:lnTo>
                  <a:lnTo>
                    <a:pt x="43843" y="40642"/>
                  </a:lnTo>
                  <a:lnTo>
                    <a:pt x="43758" y="41026"/>
                  </a:lnTo>
                  <a:lnTo>
                    <a:pt x="43672" y="41424"/>
                  </a:lnTo>
                  <a:lnTo>
                    <a:pt x="43559" y="41808"/>
                  </a:lnTo>
                  <a:lnTo>
                    <a:pt x="43430" y="42207"/>
                  </a:lnTo>
                  <a:lnTo>
                    <a:pt x="43288" y="42605"/>
                  </a:lnTo>
                  <a:lnTo>
                    <a:pt x="43132" y="43004"/>
                  </a:lnTo>
                  <a:lnTo>
                    <a:pt x="42961" y="43402"/>
                  </a:lnTo>
                  <a:lnTo>
                    <a:pt x="42776" y="43801"/>
                  </a:lnTo>
                  <a:lnTo>
                    <a:pt x="42577" y="44199"/>
                  </a:lnTo>
                  <a:lnTo>
                    <a:pt x="42363" y="44612"/>
                  </a:lnTo>
                  <a:lnTo>
                    <a:pt x="42136" y="45010"/>
                  </a:lnTo>
                  <a:lnTo>
                    <a:pt x="41908" y="45409"/>
                  </a:lnTo>
                  <a:lnTo>
                    <a:pt x="41666" y="45821"/>
                  </a:lnTo>
                  <a:lnTo>
                    <a:pt x="41410" y="46220"/>
                  </a:lnTo>
                  <a:lnTo>
                    <a:pt x="40869" y="47031"/>
                  </a:lnTo>
                  <a:lnTo>
                    <a:pt x="40286" y="47828"/>
                  </a:lnTo>
                  <a:lnTo>
                    <a:pt x="39674" y="48639"/>
                  </a:lnTo>
                  <a:lnTo>
                    <a:pt x="39048" y="49421"/>
                  </a:lnTo>
                  <a:lnTo>
                    <a:pt x="38379" y="50204"/>
                  </a:lnTo>
                  <a:lnTo>
                    <a:pt x="37696" y="50987"/>
                  </a:lnTo>
                  <a:lnTo>
                    <a:pt x="36999" y="51755"/>
                  </a:lnTo>
                  <a:lnTo>
                    <a:pt x="36287" y="52495"/>
                  </a:lnTo>
                  <a:lnTo>
                    <a:pt x="35576" y="53235"/>
                  </a:lnTo>
                  <a:lnTo>
                    <a:pt x="34850" y="53947"/>
                  </a:lnTo>
                  <a:lnTo>
                    <a:pt x="34124" y="54658"/>
                  </a:lnTo>
                  <a:lnTo>
                    <a:pt x="33398" y="55327"/>
                  </a:lnTo>
                  <a:lnTo>
                    <a:pt x="32687" y="55996"/>
                  </a:lnTo>
                  <a:lnTo>
                    <a:pt x="31990" y="56622"/>
                  </a:lnTo>
                  <a:lnTo>
                    <a:pt x="31307" y="57234"/>
                  </a:lnTo>
                  <a:lnTo>
                    <a:pt x="29983" y="58372"/>
                  </a:lnTo>
                  <a:lnTo>
                    <a:pt x="28788" y="59382"/>
                  </a:lnTo>
                  <a:lnTo>
                    <a:pt x="27721" y="60250"/>
                  </a:lnTo>
                  <a:lnTo>
                    <a:pt x="26824" y="60976"/>
                  </a:lnTo>
                  <a:lnTo>
                    <a:pt x="25985" y="61673"/>
                  </a:lnTo>
                  <a:lnTo>
                    <a:pt x="25714" y="61901"/>
                  </a:lnTo>
                  <a:lnTo>
                    <a:pt x="25529" y="62072"/>
                  </a:lnTo>
                  <a:lnTo>
                    <a:pt x="25401" y="62186"/>
                  </a:lnTo>
                  <a:lnTo>
                    <a:pt x="25273" y="62314"/>
                  </a:lnTo>
                  <a:lnTo>
                    <a:pt x="25131" y="62442"/>
                  </a:lnTo>
                  <a:lnTo>
                    <a:pt x="24974" y="62556"/>
                  </a:lnTo>
                  <a:lnTo>
                    <a:pt x="24832" y="62669"/>
                  </a:lnTo>
                  <a:lnTo>
                    <a:pt x="24675" y="62769"/>
                  </a:lnTo>
                  <a:lnTo>
                    <a:pt x="24505" y="62854"/>
                  </a:lnTo>
                  <a:lnTo>
                    <a:pt x="24348" y="62940"/>
                  </a:lnTo>
                  <a:lnTo>
                    <a:pt x="24177" y="63011"/>
                  </a:lnTo>
                  <a:lnTo>
                    <a:pt x="24007" y="63082"/>
                  </a:lnTo>
                  <a:lnTo>
                    <a:pt x="23822" y="63139"/>
                  </a:lnTo>
                  <a:lnTo>
                    <a:pt x="23651" y="63182"/>
                  </a:lnTo>
                  <a:lnTo>
                    <a:pt x="23466" y="63224"/>
                  </a:lnTo>
                  <a:lnTo>
                    <a:pt x="23281" y="63253"/>
                  </a:lnTo>
                  <a:lnTo>
                    <a:pt x="23096" y="63281"/>
                  </a:lnTo>
                  <a:lnTo>
                    <a:pt x="22911" y="63296"/>
                  </a:lnTo>
                  <a:lnTo>
                    <a:pt x="22527" y="63296"/>
                  </a:lnTo>
                  <a:lnTo>
                    <a:pt x="22342" y="63281"/>
                  </a:lnTo>
                  <a:lnTo>
                    <a:pt x="22157" y="63253"/>
                  </a:lnTo>
                  <a:lnTo>
                    <a:pt x="21972" y="63224"/>
                  </a:lnTo>
                  <a:lnTo>
                    <a:pt x="21787" y="63182"/>
                  </a:lnTo>
                  <a:lnTo>
                    <a:pt x="21616" y="63139"/>
                  </a:lnTo>
                  <a:lnTo>
                    <a:pt x="21445" y="63082"/>
                  </a:lnTo>
                  <a:lnTo>
                    <a:pt x="21275" y="63011"/>
                  </a:lnTo>
                  <a:lnTo>
                    <a:pt x="21104" y="62940"/>
                  </a:lnTo>
                  <a:lnTo>
                    <a:pt x="20933" y="62854"/>
                  </a:lnTo>
                  <a:lnTo>
                    <a:pt x="20777" y="62755"/>
                  </a:lnTo>
                  <a:lnTo>
                    <a:pt x="20620" y="62655"/>
                  </a:lnTo>
                  <a:lnTo>
                    <a:pt x="20463" y="62556"/>
                  </a:lnTo>
                  <a:lnTo>
                    <a:pt x="20321" y="62442"/>
                  </a:lnTo>
                  <a:lnTo>
                    <a:pt x="20179" y="62314"/>
                  </a:lnTo>
                  <a:lnTo>
                    <a:pt x="20037" y="62186"/>
                  </a:lnTo>
                  <a:lnTo>
                    <a:pt x="19852" y="62015"/>
                  </a:lnTo>
                  <a:lnTo>
                    <a:pt x="19581" y="61787"/>
                  </a:lnTo>
                  <a:lnTo>
                    <a:pt x="18628" y="61019"/>
                  </a:lnTo>
                  <a:lnTo>
                    <a:pt x="17717" y="60293"/>
                  </a:lnTo>
                  <a:lnTo>
                    <a:pt x="16636" y="59425"/>
                  </a:lnTo>
                  <a:lnTo>
                    <a:pt x="15426" y="58415"/>
                  </a:lnTo>
                  <a:lnTo>
                    <a:pt x="14088" y="57276"/>
                  </a:lnTo>
                  <a:lnTo>
                    <a:pt x="13391" y="56664"/>
                  </a:lnTo>
                  <a:lnTo>
                    <a:pt x="12680" y="56038"/>
                  </a:lnTo>
                  <a:lnTo>
                    <a:pt x="11954" y="55370"/>
                  </a:lnTo>
                  <a:lnTo>
                    <a:pt x="11214" y="54701"/>
                  </a:lnTo>
                  <a:lnTo>
                    <a:pt x="10488" y="53989"/>
                  </a:lnTo>
                  <a:lnTo>
                    <a:pt x="9748" y="53278"/>
                  </a:lnTo>
                  <a:lnTo>
                    <a:pt x="9023" y="52538"/>
                  </a:lnTo>
                  <a:lnTo>
                    <a:pt x="8297" y="51784"/>
                  </a:lnTo>
                  <a:lnTo>
                    <a:pt x="7585" y="51015"/>
                  </a:lnTo>
                  <a:lnTo>
                    <a:pt x="6888" y="50247"/>
                  </a:lnTo>
                  <a:lnTo>
                    <a:pt x="6219" y="49464"/>
                  </a:lnTo>
                  <a:lnTo>
                    <a:pt x="5579" y="48667"/>
                  </a:lnTo>
                  <a:lnTo>
                    <a:pt x="4953" y="47870"/>
                  </a:lnTo>
                  <a:lnTo>
                    <a:pt x="4369" y="47059"/>
                  </a:lnTo>
                  <a:lnTo>
                    <a:pt x="3814" y="46248"/>
                  </a:lnTo>
                  <a:lnTo>
                    <a:pt x="3558" y="45850"/>
                  </a:lnTo>
                  <a:lnTo>
                    <a:pt x="3316" y="45437"/>
                  </a:lnTo>
                  <a:lnTo>
                    <a:pt x="3075" y="45039"/>
                  </a:lnTo>
                  <a:lnTo>
                    <a:pt x="2847" y="44626"/>
                  </a:lnTo>
                  <a:lnTo>
                    <a:pt x="2633" y="44227"/>
                  </a:lnTo>
                  <a:lnTo>
                    <a:pt x="2434" y="43829"/>
                  </a:lnTo>
                  <a:lnTo>
                    <a:pt x="2249" y="43416"/>
                  </a:lnTo>
                  <a:lnTo>
                    <a:pt x="2078" y="43018"/>
                  </a:lnTo>
                  <a:lnTo>
                    <a:pt x="1908" y="42619"/>
                  </a:lnTo>
                  <a:lnTo>
                    <a:pt x="1765" y="42221"/>
                  </a:lnTo>
                  <a:lnTo>
                    <a:pt x="1637" y="41823"/>
                  </a:lnTo>
                  <a:lnTo>
                    <a:pt x="1523" y="41438"/>
                  </a:lnTo>
                  <a:lnTo>
                    <a:pt x="1424" y="41040"/>
                  </a:lnTo>
                  <a:lnTo>
                    <a:pt x="1338" y="40656"/>
                  </a:lnTo>
                  <a:lnTo>
                    <a:pt x="1282" y="40272"/>
                  </a:lnTo>
                  <a:lnTo>
                    <a:pt x="1225" y="39887"/>
                  </a:lnTo>
                  <a:lnTo>
                    <a:pt x="1210" y="39503"/>
                  </a:lnTo>
                  <a:lnTo>
                    <a:pt x="1196" y="39119"/>
                  </a:lnTo>
                  <a:lnTo>
                    <a:pt x="1196" y="3388"/>
                  </a:lnTo>
                  <a:lnTo>
                    <a:pt x="1210" y="3160"/>
                  </a:lnTo>
                  <a:lnTo>
                    <a:pt x="1239" y="2946"/>
                  </a:lnTo>
                  <a:lnTo>
                    <a:pt x="1296" y="2733"/>
                  </a:lnTo>
                  <a:lnTo>
                    <a:pt x="1367" y="2534"/>
                  </a:lnTo>
                  <a:lnTo>
                    <a:pt x="1452" y="2349"/>
                  </a:lnTo>
                  <a:lnTo>
                    <a:pt x="1566" y="2164"/>
                  </a:lnTo>
                  <a:lnTo>
                    <a:pt x="1694" y="1993"/>
                  </a:lnTo>
                  <a:lnTo>
                    <a:pt x="1837" y="1837"/>
                  </a:lnTo>
                  <a:lnTo>
                    <a:pt x="1993" y="1694"/>
                  </a:lnTo>
                  <a:lnTo>
                    <a:pt x="2164" y="1566"/>
                  </a:lnTo>
                  <a:lnTo>
                    <a:pt x="2335" y="1467"/>
                  </a:lnTo>
                  <a:lnTo>
                    <a:pt x="2534" y="1367"/>
                  </a:lnTo>
                  <a:lnTo>
                    <a:pt x="2733" y="1296"/>
                  </a:lnTo>
                  <a:lnTo>
                    <a:pt x="2946" y="1239"/>
                  </a:lnTo>
                  <a:lnTo>
                    <a:pt x="3160" y="1210"/>
                  </a:lnTo>
                  <a:lnTo>
                    <a:pt x="3388" y="1196"/>
                  </a:lnTo>
                  <a:close/>
                  <a:moveTo>
                    <a:pt x="3203" y="1"/>
                  </a:moveTo>
                  <a:lnTo>
                    <a:pt x="3032" y="15"/>
                  </a:lnTo>
                  <a:lnTo>
                    <a:pt x="2861" y="44"/>
                  </a:lnTo>
                  <a:lnTo>
                    <a:pt x="2705" y="72"/>
                  </a:lnTo>
                  <a:lnTo>
                    <a:pt x="2377" y="157"/>
                  </a:lnTo>
                  <a:lnTo>
                    <a:pt x="2064" y="271"/>
                  </a:lnTo>
                  <a:lnTo>
                    <a:pt x="1765" y="414"/>
                  </a:lnTo>
                  <a:lnTo>
                    <a:pt x="1495" y="584"/>
                  </a:lnTo>
                  <a:lnTo>
                    <a:pt x="1239" y="769"/>
                  </a:lnTo>
                  <a:lnTo>
                    <a:pt x="997" y="997"/>
                  </a:lnTo>
                  <a:lnTo>
                    <a:pt x="769" y="1239"/>
                  </a:lnTo>
                  <a:lnTo>
                    <a:pt x="584" y="1495"/>
                  </a:lnTo>
                  <a:lnTo>
                    <a:pt x="414" y="1780"/>
                  </a:lnTo>
                  <a:lnTo>
                    <a:pt x="271" y="2064"/>
                  </a:lnTo>
                  <a:lnTo>
                    <a:pt x="157" y="2377"/>
                  </a:lnTo>
                  <a:lnTo>
                    <a:pt x="72" y="2705"/>
                  </a:lnTo>
                  <a:lnTo>
                    <a:pt x="44" y="2875"/>
                  </a:lnTo>
                  <a:lnTo>
                    <a:pt x="15" y="3032"/>
                  </a:lnTo>
                  <a:lnTo>
                    <a:pt x="1" y="3217"/>
                  </a:lnTo>
                  <a:lnTo>
                    <a:pt x="1" y="3388"/>
                  </a:lnTo>
                  <a:lnTo>
                    <a:pt x="1" y="39119"/>
                  </a:lnTo>
                  <a:lnTo>
                    <a:pt x="15" y="39532"/>
                  </a:lnTo>
                  <a:lnTo>
                    <a:pt x="44" y="39930"/>
                  </a:lnTo>
                  <a:lnTo>
                    <a:pt x="86" y="40343"/>
                  </a:lnTo>
                  <a:lnTo>
                    <a:pt x="157" y="40755"/>
                  </a:lnTo>
                  <a:lnTo>
                    <a:pt x="243" y="41168"/>
                  </a:lnTo>
                  <a:lnTo>
                    <a:pt x="342" y="41581"/>
                  </a:lnTo>
                  <a:lnTo>
                    <a:pt x="456" y="42008"/>
                  </a:lnTo>
                  <a:lnTo>
                    <a:pt x="584" y="42420"/>
                  </a:lnTo>
                  <a:lnTo>
                    <a:pt x="741" y="42847"/>
                  </a:lnTo>
                  <a:lnTo>
                    <a:pt x="897" y="43274"/>
                  </a:lnTo>
                  <a:lnTo>
                    <a:pt x="1082" y="43687"/>
                  </a:lnTo>
                  <a:lnTo>
                    <a:pt x="1267" y="44114"/>
                  </a:lnTo>
                  <a:lnTo>
                    <a:pt x="1481" y="44541"/>
                  </a:lnTo>
                  <a:lnTo>
                    <a:pt x="1694" y="44967"/>
                  </a:lnTo>
                  <a:lnTo>
                    <a:pt x="1936" y="45394"/>
                  </a:lnTo>
                  <a:lnTo>
                    <a:pt x="2178" y="45821"/>
                  </a:lnTo>
                  <a:lnTo>
                    <a:pt x="2434" y="46234"/>
                  </a:lnTo>
                  <a:lnTo>
                    <a:pt x="2690" y="46661"/>
                  </a:lnTo>
                  <a:lnTo>
                    <a:pt x="2975" y="47088"/>
                  </a:lnTo>
                  <a:lnTo>
                    <a:pt x="3260" y="47515"/>
                  </a:lnTo>
                  <a:lnTo>
                    <a:pt x="3857" y="48354"/>
                  </a:lnTo>
                  <a:lnTo>
                    <a:pt x="4498" y="49194"/>
                  </a:lnTo>
                  <a:lnTo>
                    <a:pt x="5152" y="50019"/>
                  </a:lnTo>
                  <a:lnTo>
                    <a:pt x="5849" y="50830"/>
                  </a:lnTo>
                  <a:lnTo>
                    <a:pt x="6561" y="51641"/>
                  </a:lnTo>
                  <a:lnTo>
                    <a:pt x="7287" y="52438"/>
                  </a:lnTo>
                  <a:lnTo>
                    <a:pt x="8027" y="53221"/>
                  </a:lnTo>
                  <a:lnTo>
                    <a:pt x="8781" y="53975"/>
                  </a:lnTo>
                  <a:lnTo>
                    <a:pt x="9535" y="54715"/>
                  </a:lnTo>
                  <a:lnTo>
                    <a:pt x="10289" y="55441"/>
                  </a:lnTo>
                  <a:lnTo>
                    <a:pt x="11029" y="56152"/>
                  </a:lnTo>
                  <a:lnTo>
                    <a:pt x="11783" y="56821"/>
                  </a:lnTo>
                  <a:lnTo>
                    <a:pt x="12509" y="57476"/>
                  </a:lnTo>
                  <a:lnTo>
                    <a:pt x="13220" y="58102"/>
                  </a:lnTo>
                  <a:lnTo>
                    <a:pt x="14586" y="59269"/>
                  </a:lnTo>
                  <a:lnTo>
                    <a:pt x="15853" y="60307"/>
                  </a:lnTo>
                  <a:lnTo>
                    <a:pt x="16963" y="61218"/>
                  </a:lnTo>
                  <a:lnTo>
                    <a:pt x="17888" y="61958"/>
                  </a:lnTo>
                  <a:lnTo>
                    <a:pt x="18727" y="62627"/>
                  </a:lnTo>
                  <a:lnTo>
                    <a:pt x="19026" y="62869"/>
                  </a:lnTo>
                  <a:lnTo>
                    <a:pt x="19197" y="63025"/>
                  </a:lnTo>
                  <a:lnTo>
                    <a:pt x="19368" y="63196"/>
                  </a:lnTo>
                  <a:lnTo>
                    <a:pt x="19567" y="63367"/>
                  </a:lnTo>
                  <a:lnTo>
                    <a:pt x="19752" y="63509"/>
                  </a:lnTo>
                  <a:lnTo>
                    <a:pt x="19951" y="63651"/>
                  </a:lnTo>
                  <a:lnTo>
                    <a:pt x="20165" y="63779"/>
                  </a:lnTo>
                  <a:lnTo>
                    <a:pt x="20378" y="63907"/>
                  </a:lnTo>
                  <a:lnTo>
                    <a:pt x="20592" y="64007"/>
                  </a:lnTo>
                  <a:lnTo>
                    <a:pt x="20805" y="64107"/>
                  </a:lnTo>
                  <a:lnTo>
                    <a:pt x="21033" y="64206"/>
                  </a:lnTo>
                  <a:lnTo>
                    <a:pt x="21260" y="64277"/>
                  </a:lnTo>
                  <a:lnTo>
                    <a:pt x="21502" y="64349"/>
                  </a:lnTo>
                  <a:lnTo>
                    <a:pt x="21744" y="64391"/>
                  </a:lnTo>
                  <a:lnTo>
                    <a:pt x="21986" y="64434"/>
                  </a:lnTo>
                  <a:lnTo>
                    <a:pt x="22228" y="64462"/>
                  </a:lnTo>
                  <a:lnTo>
                    <a:pt x="22470" y="64491"/>
                  </a:lnTo>
                  <a:lnTo>
                    <a:pt x="22968" y="64491"/>
                  </a:lnTo>
                  <a:lnTo>
                    <a:pt x="23224" y="64462"/>
                  </a:lnTo>
                  <a:lnTo>
                    <a:pt x="23466" y="64434"/>
                  </a:lnTo>
                  <a:lnTo>
                    <a:pt x="23708" y="64391"/>
                  </a:lnTo>
                  <a:lnTo>
                    <a:pt x="23936" y="64349"/>
                  </a:lnTo>
                  <a:lnTo>
                    <a:pt x="24177" y="64277"/>
                  </a:lnTo>
                  <a:lnTo>
                    <a:pt x="24405" y="64206"/>
                  </a:lnTo>
                  <a:lnTo>
                    <a:pt x="24633" y="64121"/>
                  </a:lnTo>
                  <a:lnTo>
                    <a:pt x="24860" y="64021"/>
                  </a:lnTo>
                  <a:lnTo>
                    <a:pt x="25074" y="63907"/>
                  </a:lnTo>
                  <a:lnTo>
                    <a:pt x="25287" y="63794"/>
                  </a:lnTo>
                  <a:lnTo>
                    <a:pt x="25487" y="63651"/>
                  </a:lnTo>
                  <a:lnTo>
                    <a:pt x="25686" y="63523"/>
                  </a:lnTo>
                  <a:lnTo>
                    <a:pt x="25885" y="63367"/>
                  </a:lnTo>
                  <a:lnTo>
                    <a:pt x="26070" y="63210"/>
                  </a:lnTo>
                  <a:lnTo>
                    <a:pt x="26241" y="63039"/>
                  </a:lnTo>
                  <a:lnTo>
                    <a:pt x="26369" y="62911"/>
                  </a:lnTo>
                  <a:lnTo>
                    <a:pt x="26525" y="62769"/>
                  </a:lnTo>
                  <a:lnTo>
                    <a:pt x="26796" y="62541"/>
                  </a:lnTo>
                  <a:lnTo>
                    <a:pt x="27578" y="61901"/>
                  </a:lnTo>
                  <a:lnTo>
                    <a:pt x="28489" y="61161"/>
                  </a:lnTo>
                  <a:lnTo>
                    <a:pt x="29585" y="60265"/>
                  </a:lnTo>
                  <a:lnTo>
                    <a:pt x="30823" y="59226"/>
                  </a:lnTo>
                  <a:lnTo>
                    <a:pt x="32160" y="58059"/>
                  </a:lnTo>
                  <a:lnTo>
                    <a:pt x="32872" y="57433"/>
                  </a:lnTo>
                  <a:lnTo>
                    <a:pt x="33598" y="56778"/>
                  </a:lnTo>
                  <a:lnTo>
                    <a:pt x="34323" y="56095"/>
                  </a:lnTo>
                  <a:lnTo>
                    <a:pt x="35063" y="55398"/>
                  </a:lnTo>
                  <a:lnTo>
                    <a:pt x="35803" y="54672"/>
                  </a:lnTo>
                  <a:lnTo>
                    <a:pt x="36543" y="53932"/>
                  </a:lnTo>
                  <a:lnTo>
                    <a:pt x="37283" y="53164"/>
                  </a:lnTo>
                  <a:lnTo>
                    <a:pt x="38009" y="52395"/>
                  </a:lnTo>
                  <a:lnTo>
                    <a:pt x="38735" y="51599"/>
                  </a:lnTo>
                  <a:lnTo>
                    <a:pt x="39432" y="50802"/>
                  </a:lnTo>
                  <a:lnTo>
                    <a:pt x="40101" y="49976"/>
                  </a:lnTo>
                  <a:lnTo>
                    <a:pt x="40755" y="49151"/>
                  </a:lnTo>
                  <a:lnTo>
                    <a:pt x="41381" y="48311"/>
                  </a:lnTo>
                  <a:lnTo>
                    <a:pt x="41979" y="47472"/>
                  </a:lnTo>
                  <a:lnTo>
                    <a:pt x="42264" y="47059"/>
                  </a:lnTo>
                  <a:lnTo>
                    <a:pt x="42534" y="46632"/>
                  </a:lnTo>
                  <a:lnTo>
                    <a:pt x="42790" y="46205"/>
                  </a:lnTo>
                  <a:lnTo>
                    <a:pt x="43046" y="45793"/>
                  </a:lnTo>
                  <a:lnTo>
                    <a:pt x="43288" y="45366"/>
                  </a:lnTo>
                  <a:lnTo>
                    <a:pt x="43516" y="44939"/>
                  </a:lnTo>
                  <a:lnTo>
                    <a:pt x="43729" y="44512"/>
                  </a:lnTo>
                  <a:lnTo>
                    <a:pt x="43929" y="44099"/>
                  </a:lnTo>
                  <a:lnTo>
                    <a:pt x="44114" y="43673"/>
                  </a:lnTo>
                  <a:lnTo>
                    <a:pt x="44299" y="43246"/>
                  </a:lnTo>
                  <a:lnTo>
                    <a:pt x="44455" y="42833"/>
                  </a:lnTo>
                  <a:lnTo>
                    <a:pt x="44612" y="42406"/>
                  </a:lnTo>
                  <a:lnTo>
                    <a:pt x="44740" y="41993"/>
                  </a:lnTo>
                  <a:lnTo>
                    <a:pt x="44853" y="41566"/>
                  </a:lnTo>
                  <a:lnTo>
                    <a:pt x="44953" y="41154"/>
                  </a:lnTo>
                  <a:lnTo>
                    <a:pt x="45038" y="40741"/>
                  </a:lnTo>
                  <a:lnTo>
                    <a:pt x="45095" y="40343"/>
                  </a:lnTo>
                  <a:lnTo>
                    <a:pt x="45138" y="39930"/>
                  </a:lnTo>
                  <a:lnTo>
                    <a:pt x="45167" y="39532"/>
                  </a:lnTo>
                  <a:lnTo>
                    <a:pt x="45181" y="39119"/>
                  </a:lnTo>
                  <a:lnTo>
                    <a:pt x="45181" y="3388"/>
                  </a:lnTo>
                  <a:lnTo>
                    <a:pt x="45181" y="3217"/>
                  </a:lnTo>
                  <a:lnTo>
                    <a:pt x="45167" y="3032"/>
                  </a:lnTo>
                  <a:lnTo>
                    <a:pt x="45138" y="2875"/>
                  </a:lnTo>
                  <a:lnTo>
                    <a:pt x="45110" y="2705"/>
                  </a:lnTo>
                  <a:lnTo>
                    <a:pt x="45024" y="2377"/>
                  </a:lnTo>
                  <a:lnTo>
                    <a:pt x="44910" y="2064"/>
                  </a:lnTo>
                  <a:lnTo>
                    <a:pt x="44768" y="1780"/>
                  </a:lnTo>
                  <a:lnTo>
                    <a:pt x="44597" y="1495"/>
                  </a:lnTo>
                  <a:lnTo>
                    <a:pt x="44412" y="1239"/>
                  </a:lnTo>
                  <a:lnTo>
                    <a:pt x="44185" y="997"/>
                  </a:lnTo>
                  <a:lnTo>
                    <a:pt x="43957" y="769"/>
                  </a:lnTo>
                  <a:lnTo>
                    <a:pt x="43687" y="584"/>
                  </a:lnTo>
                  <a:lnTo>
                    <a:pt x="43416" y="414"/>
                  </a:lnTo>
                  <a:lnTo>
                    <a:pt x="43117" y="271"/>
                  </a:lnTo>
                  <a:lnTo>
                    <a:pt x="42804" y="157"/>
                  </a:lnTo>
                  <a:lnTo>
                    <a:pt x="42477" y="72"/>
                  </a:lnTo>
                  <a:lnTo>
                    <a:pt x="42321" y="44"/>
                  </a:lnTo>
                  <a:lnTo>
                    <a:pt x="42150" y="15"/>
                  </a:lnTo>
                  <a:lnTo>
                    <a:pt x="41979" y="1"/>
                  </a:lnTo>
                  <a:close/>
                </a:path>
              </a:pathLst>
            </a:custGeom>
            <a:solidFill>
              <a:srgbClr val="2776EA">
                <a:alpha val="25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4100416" y="1183543"/>
              <a:ext cx="278095" cy="620625"/>
            </a:xfrm>
            <a:custGeom>
              <a:avLst/>
              <a:gdLst/>
              <a:ahLst/>
              <a:cxnLst/>
              <a:rect l="l" t="t" r="r" b="b"/>
              <a:pathLst>
                <a:path w="6504" h="14515" extrusionOk="0">
                  <a:moveTo>
                    <a:pt x="840" y="0"/>
                  </a:moveTo>
                  <a:lnTo>
                    <a:pt x="1" y="854"/>
                  </a:lnTo>
                  <a:lnTo>
                    <a:pt x="5309" y="6162"/>
                  </a:lnTo>
                  <a:lnTo>
                    <a:pt x="5309" y="14515"/>
                  </a:lnTo>
                  <a:lnTo>
                    <a:pt x="6504" y="14515"/>
                  </a:lnTo>
                  <a:lnTo>
                    <a:pt x="6504" y="5664"/>
                  </a:lnTo>
                  <a:lnTo>
                    <a:pt x="84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4136333" y="1502952"/>
              <a:ext cx="51138" cy="301227"/>
            </a:xfrm>
            <a:custGeom>
              <a:avLst/>
              <a:gdLst/>
              <a:ahLst/>
              <a:cxnLst/>
              <a:rect l="l" t="t" r="r" b="b"/>
              <a:pathLst>
                <a:path w="1196" h="7045" extrusionOk="0">
                  <a:moveTo>
                    <a:pt x="0" y="1"/>
                  </a:moveTo>
                  <a:lnTo>
                    <a:pt x="0" y="7045"/>
                  </a:lnTo>
                  <a:lnTo>
                    <a:pt x="1196" y="7045"/>
                  </a:lnTo>
                  <a:lnTo>
                    <a:pt x="11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4620663" y="1052700"/>
              <a:ext cx="254364" cy="751463"/>
            </a:xfrm>
            <a:custGeom>
              <a:avLst/>
              <a:gdLst/>
              <a:ahLst/>
              <a:cxnLst/>
              <a:rect l="l" t="t" r="r" b="b"/>
              <a:pathLst>
                <a:path w="5949" h="17575" extrusionOk="0">
                  <a:moveTo>
                    <a:pt x="5109" y="1"/>
                  </a:moveTo>
                  <a:lnTo>
                    <a:pt x="0" y="5123"/>
                  </a:lnTo>
                  <a:lnTo>
                    <a:pt x="0" y="17575"/>
                  </a:lnTo>
                  <a:lnTo>
                    <a:pt x="1181" y="17575"/>
                  </a:lnTo>
                  <a:lnTo>
                    <a:pt x="1181" y="5607"/>
                  </a:lnTo>
                  <a:lnTo>
                    <a:pt x="5948" y="854"/>
                  </a:lnTo>
                  <a:lnTo>
                    <a:pt x="51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4786781" y="1215142"/>
              <a:ext cx="247651" cy="589027"/>
            </a:xfrm>
            <a:custGeom>
              <a:avLst/>
              <a:gdLst/>
              <a:ahLst/>
              <a:cxnLst/>
              <a:rect l="l" t="t" r="r" b="b"/>
              <a:pathLst>
                <a:path w="5792" h="13776" extrusionOk="0">
                  <a:moveTo>
                    <a:pt x="4952" y="1"/>
                  </a:moveTo>
                  <a:lnTo>
                    <a:pt x="0" y="4953"/>
                  </a:lnTo>
                  <a:lnTo>
                    <a:pt x="0" y="13776"/>
                  </a:lnTo>
                  <a:lnTo>
                    <a:pt x="1195" y="13776"/>
                  </a:lnTo>
                  <a:lnTo>
                    <a:pt x="1195" y="5451"/>
                  </a:lnTo>
                  <a:lnTo>
                    <a:pt x="5792" y="855"/>
                  </a:lnTo>
                  <a:lnTo>
                    <a:pt x="495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4954097" y="1502952"/>
              <a:ext cx="51138" cy="301227"/>
            </a:xfrm>
            <a:custGeom>
              <a:avLst/>
              <a:gdLst/>
              <a:ahLst/>
              <a:cxnLst/>
              <a:rect l="l" t="t" r="r" b="b"/>
              <a:pathLst>
                <a:path w="1196" h="7045" extrusionOk="0">
                  <a:moveTo>
                    <a:pt x="0" y="1"/>
                  </a:moveTo>
                  <a:lnTo>
                    <a:pt x="0" y="7045"/>
                  </a:lnTo>
                  <a:lnTo>
                    <a:pt x="1196" y="7045"/>
                  </a:lnTo>
                  <a:lnTo>
                    <a:pt x="11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4935240" y="1173195"/>
              <a:ext cx="145461" cy="145461"/>
            </a:xfrm>
            <a:custGeom>
              <a:avLst/>
              <a:gdLst/>
              <a:ahLst/>
              <a:cxnLst/>
              <a:rect l="l" t="t" r="r" b="b"/>
              <a:pathLst>
                <a:path w="3402" h="3402" extrusionOk="0">
                  <a:moveTo>
                    <a:pt x="1523" y="0"/>
                  </a:moveTo>
                  <a:lnTo>
                    <a:pt x="1352" y="29"/>
                  </a:lnTo>
                  <a:lnTo>
                    <a:pt x="1195" y="71"/>
                  </a:lnTo>
                  <a:lnTo>
                    <a:pt x="1039" y="128"/>
                  </a:lnTo>
                  <a:lnTo>
                    <a:pt x="882" y="199"/>
                  </a:lnTo>
                  <a:lnTo>
                    <a:pt x="740" y="285"/>
                  </a:lnTo>
                  <a:lnTo>
                    <a:pt x="612" y="384"/>
                  </a:lnTo>
                  <a:lnTo>
                    <a:pt x="498" y="498"/>
                  </a:lnTo>
                  <a:lnTo>
                    <a:pt x="384" y="612"/>
                  </a:lnTo>
                  <a:lnTo>
                    <a:pt x="285" y="740"/>
                  </a:lnTo>
                  <a:lnTo>
                    <a:pt x="199" y="882"/>
                  </a:lnTo>
                  <a:lnTo>
                    <a:pt x="128" y="1039"/>
                  </a:lnTo>
                  <a:lnTo>
                    <a:pt x="71" y="1195"/>
                  </a:lnTo>
                  <a:lnTo>
                    <a:pt x="29" y="1352"/>
                  </a:lnTo>
                  <a:lnTo>
                    <a:pt x="0" y="1523"/>
                  </a:lnTo>
                  <a:lnTo>
                    <a:pt x="0" y="1693"/>
                  </a:lnTo>
                  <a:lnTo>
                    <a:pt x="0" y="1878"/>
                  </a:lnTo>
                  <a:lnTo>
                    <a:pt x="29" y="2035"/>
                  </a:lnTo>
                  <a:lnTo>
                    <a:pt x="71" y="2206"/>
                  </a:lnTo>
                  <a:lnTo>
                    <a:pt x="128" y="2362"/>
                  </a:lnTo>
                  <a:lnTo>
                    <a:pt x="199" y="2505"/>
                  </a:lnTo>
                  <a:lnTo>
                    <a:pt x="285" y="2647"/>
                  </a:lnTo>
                  <a:lnTo>
                    <a:pt x="384" y="2775"/>
                  </a:lnTo>
                  <a:lnTo>
                    <a:pt x="498" y="2903"/>
                  </a:lnTo>
                  <a:lnTo>
                    <a:pt x="612" y="3017"/>
                  </a:lnTo>
                  <a:lnTo>
                    <a:pt x="740" y="3102"/>
                  </a:lnTo>
                  <a:lnTo>
                    <a:pt x="882" y="3188"/>
                  </a:lnTo>
                  <a:lnTo>
                    <a:pt x="1039" y="3259"/>
                  </a:lnTo>
                  <a:lnTo>
                    <a:pt x="1195" y="3330"/>
                  </a:lnTo>
                  <a:lnTo>
                    <a:pt x="1352" y="3358"/>
                  </a:lnTo>
                  <a:lnTo>
                    <a:pt x="1523" y="3387"/>
                  </a:lnTo>
                  <a:lnTo>
                    <a:pt x="1694" y="3401"/>
                  </a:lnTo>
                  <a:lnTo>
                    <a:pt x="1879" y="3387"/>
                  </a:lnTo>
                  <a:lnTo>
                    <a:pt x="2035" y="3358"/>
                  </a:lnTo>
                  <a:lnTo>
                    <a:pt x="2206" y="3330"/>
                  </a:lnTo>
                  <a:lnTo>
                    <a:pt x="2362" y="3259"/>
                  </a:lnTo>
                  <a:lnTo>
                    <a:pt x="2505" y="3188"/>
                  </a:lnTo>
                  <a:lnTo>
                    <a:pt x="2647" y="3102"/>
                  </a:lnTo>
                  <a:lnTo>
                    <a:pt x="2775" y="3017"/>
                  </a:lnTo>
                  <a:lnTo>
                    <a:pt x="2903" y="2903"/>
                  </a:lnTo>
                  <a:lnTo>
                    <a:pt x="3017" y="2775"/>
                  </a:lnTo>
                  <a:lnTo>
                    <a:pt x="3102" y="2647"/>
                  </a:lnTo>
                  <a:lnTo>
                    <a:pt x="3188" y="2505"/>
                  </a:lnTo>
                  <a:lnTo>
                    <a:pt x="3259" y="2362"/>
                  </a:lnTo>
                  <a:lnTo>
                    <a:pt x="3330" y="2206"/>
                  </a:lnTo>
                  <a:lnTo>
                    <a:pt x="3358" y="2035"/>
                  </a:lnTo>
                  <a:lnTo>
                    <a:pt x="3387" y="1878"/>
                  </a:lnTo>
                  <a:lnTo>
                    <a:pt x="3401" y="1693"/>
                  </a:lnTo>
                  <a:lnTo>
                    <a:pt x="3387" y="1523"/>
                  </a:lnTo>
                  <a:lnTo>
                    <a:pt x="3358" y="1352"/>
                  </a:lnTo>
                  <a:lnTo>
                    <a:pt x="3330" y="1195"/>
                  </a:lnTo>
                  <a:lnTo>
                    <a:pt x="3259" y="1039"/>
                  </a:lnTo>
                  <a:lnTo>
                    <a:pt x="3188" y="882"/>
                  </a:lnTo>
                  <a:lnTo>
                    <a:pt x="3102" y="740"/>
                  </a:lnTo>
                  <a:lnTo>
                    <a:pt x="3017" y="612"/>
                  </a:lnTo>
                  <a:lnTo>
                    <a:pt x="2903" y="498"/>
                  </a:lnTo>
                  <a:lnTo>
                    <a:pt x="2775" y="384"/>
                  </a:lnTo>
                  <a:lnTo>
                    <a:pt x="2647" y="285"/>
                  </a:lnTo>
                  <a:lnTo>
                    <a:pt x="2505" y="199"/>
                  </a:lnTo>
                  <a:lnTo>
                    <a:pt x="2362" y="128"/>
                  </a:lnTo>
                  <a:lnTo>
                    <a:pt x="2206" y="71"/>
                  </a:lnTo>
                  <a:lnTo>
                    <a:pt x="2035" y="29"/>
                  </a:lnTo>
                  <a:lnTo>
                    <a:pt x="187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4774595" y="1012550"/>
              <a:ext cx="145461" cy="145461"/>
            </a:xfrm>
            <a:custGeom>
              <a:avLst/>
              <a:gdLst/>
              <a:ahLst/>
              <a:cxnLst/>
              <a:rect l="l" t="t" r="r" b="b"/>
              <a:pathLst>
                <a:path w="3402" h="3402" extrusionOk="0">
                  <a:moveTo>
                    <a:pt x="1708" y="0"/>
                  </a:moveTo>
                  <a:lnTo>
                    <a:pt x="1523" y="15"/>
                  </a:lnTo>
                  <a:lnTo>
                    <a:pt x="1352" y="29"/>
                  </a:lnTo>
                  <a:lnTo>
                    <a:pt x="1196" y="72"/>
                  </a:lnTo>
                  <a:lnTo>
                    <a:pt x="1039" y="128"/>
                  </a:lnTo>
                  <a:lnTo>
                    <a:pt x="897" y="200"/>
                  </a:lnTo>
                  <a:lnTo>
                    <a:pt x="755" y="285"/>
                  </a:lnTo>
                  <a:lnTo>
                    <a:pt x="612" y="385"/>
                  </a:lnTo>
                  <a:lnTo>
                    <a:pt x="499" y="498"/>
                  </a:lnTo>
                  <a:lnTo>
                    <a:pt x="385" y="612"/>
                  </a:lnTo>
                  <a:lnTo>
                    <a:pt x="285" y="755"/>
                  </a:lnTo>
                  <a:lnTo>
                    <a:pt x="200" y="897"/>
                  </a:lnTo>
                  <a:lnTo>
                    <a:pt x="129" y="1039"/>
                  </a:lnTo>
                  <a:lnTo>
                    <a:pt x="72" y="1196"/>
                  </a:lnTo>
                  <a:lnTo>
                    <a:pt x="29" y="1352"/>
                  </a:lnTo>
                  <a:lnTo>
                    <a:pt x="15" y="1523"/>
                  </a:lnTo>
                  <a:lnTo>
                    <a:pt x="0" y="1708"/>
                  </a:lnTo>
                  <a:lnTo>
                    <a:pt x="15" y="1879"/>
                  </a:lnTo>
                  <a:lnTo>
                    <a:pt x="29" y="2050"/>
                  </a:lnTo>
                  <a:lnTo>
                    <a:pt x="72" y="2206"/>
                  </a:lnTo>
                  <a:lnTo>
                    <a:pt x="129" y="2363"/>
                  </a:lnTo>
                  <a:lnTo>
                    <a:pt x="200" y="2519"/>
                  </a:lnTo>
                  <a:lnTo>
                    <a:pt x="285" y="2647"/>
                  </a:lnTo>
                  <a:lnTo>
                    <a:pt x="385" y="2789"/>
                  </a:lnTo>
                  <a:lnTo>
                    <a:pt x="499" y="2903"/>
                  </a:lnTo>
                  <a:lnTo>
                    <a:pt x="612" y="3017"/>
                  </a:lnTo>
                  <a:lnTo>
                    <a:pt x="755" y="3117"/>
                  </a:lnTo>
                  <a:lnTo>
                    <a:pt x="897" y="3202"/>
                  </a:lnTo>
                  <a:lnTo>
                    <a:pt x="1039" y="3273"/>
                  </a:lnTo>
                  <a:lnTo>
                    <a:pt x="1196" y="3330"/>
                  </a:lnTo>
                  <a:lnTo>
                    <a:pt x="1352" y="3373"/>
                  </a:lnTo>
                  <a:lnTo>
                    <a:pt x="1523" y="3387"/>
                  </a:lnTo>
                  <a:lnTo>
                    <a:pt x="1708" y="3401"/>
                  </a:lnTo>
                  <a:lnTo>
                    <a:pt x="1879" y="3387"/>
                  </a:lnTo>
                  <a:lnTo>
                    <a:pt x="2050" y="3373"/>
                  </a:lnTo>
                  <a:lnTo>
                    <a:pt x="2206" y="3330"/>
                  </a:lnTo>
                  <a:lnTo>
                    <a:pt x="2363" y="3273"/>
                  </a:lnTo>
                  <a:lnTo>
                    <a:pt x="2519" y="3202"/>
                  </a:lnTo>
                  <a:lnTo>
                    <a:pt x="2647" y="3117"/>
                  </a:lnTo>
                  <a:lnTo>
                    <a:pt x="2790" y="3017"/>
                  </a:lnTo>
                  <a:lnTo>
                    <a:pt x="2903" y="2903"/>
                  </a:lnTo>
                  <a:lnTo>
                    <a:pt x="3017" y="2789"/>
                  </a:lnTo>
                  <a:lnTo>
                    <a:pt x="3117" y="2647"/>
                  </a:lnTo>
                  <a:lnTo>
                    <a:pt x="3202" y="2519"/>
                  </a:lnTo>
                  <a:lnTo>
                    <a:pt x="3273" y="2363"/>
                  </a:lnTo>
                  <a:lnTo>
                    <a:pt x="3330" y="2206"/>
                  </a:lnTo>
                  <a:lnTo>
                    <a:pt x="3373" y="2050"/>
                  </a:lnTo>
                  <a:lnTo>
                    <a:pt x="3387" y="1879"/>
                  </a:lnTo>
                  <a:lnTo>
                    <a:pt x="3401" y="1708"/>
                  </a:lnTo>
                  <a:lnTo>
                    <a:pt x="3387" y="1523"/>
                  </a:lnTo>
                  <a:lnTo>
                    <a:pt x="3373" y="1352"/>
                  </a:lnTo>
                  <a:lnTo>
                    <a:pt x="3330" y="1196"/>
                  </a:lnTo>
                  <a:lnTo>
                    <a:pt x="3273" y="1039"/>
                  </a:lnTo>
                  <a:lnTo>
                    <a:pt x="3202" y="897"/>
                  </a:lnTo>
                  <a:lnTo>
                    <a:pt x="3117" y="755"/>
                  </a:lnTo>
                  <a:lnTo>
                    <a:pt x="3017" y="612"/>
                  </a:lnTo>
                  <a:lnTo>
                    <a:pt x="2903" y="498"/>
                  </a:lnTo>
                  <a:lnTo>
                    <a:pt x="2790" y="385"/>
                  </a:lnTo>
                  <a:lnTo>
                    <a:pt x="2647" y="285"/>
                  </a:lnTo>
                  <a:lnTo>
                    <a:pt x="2519" y="200"/>
                  </a:lnTo>
                  <a:lnTo>
                    <a:pt x="2363" y="128"/>
                  </a:lnTo>
                  <a:lnTo>
                    <a:pt x="2206" y="72"/>
                  </a:lnTo>
                  <a:lnTo>
                    <a:pt x="2050" y="29"/>
                  </a:lnTo>
                  <a:lnTo>
                    <a:pt x="1879" y="15"/>
                  </a:lnTo>
                  <a:lnTo>
                    <a:pt x="17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4062702" y="1161009"/>
              <a:ext cx="145461" cy="145461"/>
            </a:xfrm>
            <a:custGeom>
              <a:avLst/>
              <a:gdLst/>
              <a:ahLst/>
              <a:cxnLst/>
              <a:rect l="l" t="t" r="r" b="b"/>
              <a:pathLst>
                <a:path w="3402" h="3402" extrusionOk="0">
                  <a:moveTo>
                    <a:pt x="1537" y="1"/>
                  </a:moveTo>
                  <a:lnTo>
                    <a:pt x="1367" y="29"/>
                  </a:lnTo>
                  <a:lnTo>
                    <a:pt x="1196" y="72"/>
                  </a:lnTo>
                  <a:lnTo>
                    <a:pt x="1039" y="129"/>
                  </a:lnTo>
                  <a:lnTo>
                    <a:pt x="897" y="200"/>
                  </a:lnTo>
                  <a:lnTo>
                    <a:pt x="755" y="285"/>
                  </a:lnTo>
                  <a:lnTo>
                    <a:pt x="627" y="385"/>
                  </a:lnTo>
                  <a:lnTo>
                    <a:pt x="499" y="499"/>
                  </a:lnTo>
                  <a:lnTo>
                    <a:pt x="399" y="612"/>
                  </a:lnTo>
                  <a:lnTo>
                    <a:pt x="299" y="740"/>
                  </a:lnTo>
                  <a:lnTo>
                    <a:pt x="214" y="883"/>
                  </a:lnTo>
                  <a:lnTo>
                    <a:pt x="143" y="1039"/>
                  </a:lnTo>
                  <a:lnTo>
                    <a:pt x="86" y="1196"/>
                  </a:lnTo>
                  <a:lnTo>
                    <a:pt x="43" y="1352"/>
                  </a:lnTo>
                  <a:lnTo>
                    <a:pt x="15" y="1523"/>
                  </a:lnTo>
                  <a:lnTo>
                    <a:pt x="1" y="1694"/>
                  </a:lnTo>
                  <a:lnTo>
                    <a:pt x="15" y="1865"/>
                  </a:lnTo>
                  <a:lnTo>
                    <a:pt x="43" y="2035"/>
                  </a:lnTo>
                  <a:lnTo>
                    <a:pt x="86" y="2206"/>
                  </a:lnTo>
                  <a:lnTo>
                    <a:pt x="143" y="2363"/>
                  </a:lnTo>
                  <a:lnTo>
                    <a:pt x="214" y="2505"/>
                  </a:lnTo>
                  <a:lnTo>
                    <a:pt x="299" y="2647"/>
                  </a:lnTo>
                  <a:lnTo>
                    <a:pt x="399" y="2775"/>
                  </a:lnTo>
                  <a:lnTo>
                    <a:pt x="499" y="2903"/>
                  </a:lnTo>
                  <a:lnTo>
                    <a:pt x="627" y="3003"/>
                  </a:lnTo>
                  <a:lnTo>
                    <a:pt x="755" y="3103"/>
                  </a:lnTo>
                  <a:lnTo>
                    <a:pt x="897" y="3188"/>
                  </a:lnTo>
                  <a:lnTo>
                    <a:pt x="1039" y="3259"/>
                  </a:lnTo>
                  <a:lnTo>
                    <a:pt x="1196" y="3316"/>
                  </a:lnTo>
                  <a:lnTo>
                    <a:pt x="1367" y="3359"/>
                  </a:lnTo>
                  <a:lnTo>
                    <a:pt x="1537" y="3387"/>
                  </a:lnTo>
                  <a:lnTo>
                    <a:pt x="1708" y="3401"/>
                  </a:lnTo>
                  <a:lnTo>
                    <a:pt x="1879" y="3387"/>
                  </a:lnTo>
                  <a:lnTo>
                    <a:pt x="2050" y="3359"/>
                  </a:lnTo>
                  <a:lnTo>
                    <a:pt x="2206" y="3316"/>
                  </a:lnTo>
                  <a:lnTo>
                    <a:pt x="2363" y="3259"/>
                  </a:lnTo>
                  <a:lnTo>
                    <a:pt x="2519" y="3188"/>
                  </a:lnTo>
                  <a:lnTo>
                    <a:pt x="2661" y="3103"/>
                  </a:lnTo>
                  <a:lnTo>
                    <a:pt x="2790" y="3003"/>
                  </a:lnTo>
                  <a:lnTo>
                    <a:pt x="2903" y="2903"/>
                  </a:lnTo>
                  <a:lnTo>
                    <a:pt x="3017" y="2775"/>
                  </a:lnTo>
                  <a:lnTo>
                    <a:pt x="3117" y="2647"/>
                  </a:lnTo>
                  <a:lnTo>
                    <a:pt x="3202" y="2505"/>
                  </a:lnTo>
                  <a:lnTo>
                    <a:pt x="3273" y="2363"/>
                  </a:lnTo>
                  <a:lnTo>
                    <a:pt x="3330" y="2206"/>
                  </a:lnTo>
                  <a:lnTo>
                    <a:pt x="3373" y="2035"/>
                  </a:lnTo>
                  <a:lnTo>
                    <a:pt x="3401" y="1865"/>
                  </a:lnTo>
                  <a:lnTo>
                    <a:pt x="3401" y="1694"/>
                  </a:lnTo>
                  <a:lnTo>
                    <a:pt x="3401" y="1523"/>
                  </a:lnTo>
                  <a:lnTo>
                    <a:pt x="3373" y="1352"/>
                  </a:lnTo>
                  <a:lnTo>
                    <a:pt x="3330" y="1196"/>
                  </a:lnTo>
                  <a:lnTo>
                    <a:pt x="3273" y="1039"/>
                  </a:lnTo>
                  <a:lnTo>
                    <a:pt x="3202" y="883"/>
                  </a:lnTo>
                  <a:lnTo>
                    <a:pt x="3117" y="740"/>
                  </a:lnTo>
                  <a:lnTo>
                    <a:pt x="3017" y="612"/>
                  </a:lnTo>
                  <a:lnTo>
                    <a:pt x="2903" y="499"/>
                  </a:lnTo>
                  <a:lnTo>
                    <a:pt x="2790" y="385"/>
                  </a:lnTo>
                  <a:lnTo>
                    <a:pt x="2661" y="285"/>
                  </a:lnTo>
                  <a:lnTo>
                    <a:pt x="2519" y="200"/>
                  </a:lnTo>
                  <a:lnTo>
                    <a:pt x="2363" y="129"/>
                  </a:lnTo>
                  <a:lnTo>
                    <a:pt x="2206" y="72"/>
                  </a:lnTo>
                  <a:lnTo>
                    <a:pt x="2050" y="29"/>
                  </a:lnTo>
                  <a:lnTo>
                    <a:pt x="18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5512058" y="2002208"/>
              <a:ext cx="620625" cy="278095"/>
            </a:xfrm>
            <a:custGeom>
              <a:avLst/>
              <a:gdLst/>
              <a:ahLst/>
              <a:cxnLst/>
              <a:rect l="l" t="t" r="r" b="b"/>
              <a:pathLst>
                <a:path w="14515" h="6504" extrusionOk="0">
                  <a:moveTo>
                    <a:pt x="13675" y="0"/>
                  </a:moveTo>
                  <a:lnTo>
                    <a:pt x="8367" y="5308"/>
                  </a:lnTo>
                  <a:lnTo>
                    <a:pt x="0" y="5308"/>
                  </a:lnTo>
                  <a:lnTo>
                    <a:pt x="0" y="6503"/>
                  </a:lnTo>
                  <a:lnTo>
                    <a:pt x="8865" y="6503"/>
                  </a:lnTo>
                  <a:lnTo>
                    <a:pt x="14515" y="840"/>
                  </a:lnTo>
                  <a:lnTo>
                    <a:pt x="1367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5512058" y="2038083"/>
              <a:ext cx="301184" cy="51181"/>
            </a:xfrm>
            <a:custGeom>
              <a:avLst/>
              <a:gdLst/>
              <a:ahLst/>
              <a:cxnLst/>
              <a:rect l="l" t="t" r="r" b="b"/>
              <a:pathLst>
                <a:path w="7044" h="1197" extrusionOk="0">
                  <a:moveTo>
                    <a:pt x="0" y="1"/>
                  </a:moveTo>
                  <a:lnTo>
                    <a:pt x="0" y="1196"/>
                  </a:lnTo>
                  <a:lnTo>
                    <a:pt x="7044" y="1196"/>
                  </a:lnTo>
                  <a:lnTo>
                    <a:pt x="70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5512058" y="2522413"/>
              <a:ext cx="751463" cy="254364"/>
            </a:xfrm>
            <a:custGeom>
              <a:avLst/>
              <a:gdLst/>
              <a:ahLst/>
              <a:cxnLst/>
              <a:rect l="l" t="t" r="r" b="b"/>
              <a:pathLst>
                <a:path w="17575" h="5949" extrusionOk="0">
                  <a:moveTo>
                    <a:pt x="0" y="1"/>
                  </a:moveTo>
                  <a:lnTo>
                    <a:pt x="0" y="1182"/>
                  </a:lnTo>
                  <a:lnTo>
                    <a:pt x="11967" y="1182"/>
                  </a:lnTo>
                  <a:lnTo>
                    <a:pt x="16734" y="5949"/>
                  </a:lnTo>
                  <a:lnTo>
                    <a:pt x="17574" y="5109"/>
                  </a:lnTo>
                  <a:lnTo>
                    <a:pt x="124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5512058" y="2688532"/>
              <a:ext cx="588985" cy="248293"/>
            </a:xfrm>
            <a:custGeom>
              <a:avLst/>
              <a:gdLst/>
              <a:ahLst/>
              <a:cxnLst/>
              <a:rect l="l" t="t" r="r" b="b"/>
              <a:pathLst>
                <a:path w="13775" h="5807" extrusionOk="0">
                  <a:moveTo>
                    <a:pt x="0" y="1"/>
                  </a:moveTo>
                  <a:lnTo>
                    <a:pt x="0" y="1196"/>
                  </a:lnTo>
                  <a:lnTo>
                    <a:pt x="8325" y="1196"/>
                  </a:lnTo>
                  <a:lnTo>
                    <a:pt x="12935" y="5806"/>
                  </a:lnTo>
                  <a:lnTo>
                    <a:pt x="13775" y="4953"/>
                  </a:lnTo>
                  <a:lnTo>
                    <a:pt x="88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5512058" y="2855848"/>
              <a:ext cx="301184" cy="51181"/>
            </a:xfrm>
            <a:custGeom>
              <a:avLst/>
              <a:gdLst/>
              <a:ahLst/>
              <a:cxnLst/>
              <a:rect l="l" t="t" r="r" b="b"/>
              <a:pathLst>
                <a:path w="7044" h="1197" extrusionOk="0">
                  <a:moveTo>
                    <a:pt x="0" y="1"/>
                  </a:moveTo>
                  <a:lnTo>
                    <a:pt x="0" y="1196"/>
                  </a:lnTo>
                  <a:lnTo>
                    <a:pt x="7044" y="1196"/>
                  </a:lnTo>
                  <a:lnTo>
                    <a:pt x="704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5998184" y="2836991"/>
              <a:ext cx="145461" cy="145461"/>
            </a:xfrm>
            <a:custGeom>
              <a:avLst/>
              <a:gdLst/>
              <a:ahLst/>
              <a:cxnLst/>
              <a:rect l="l" t="t" r="r" b="b"/>
              <a:pathLst>
                <a:path w="3402" h="3402" extrusionOk="0">
                  <a:moveTo>
                    <a:pt x="1523" y="1"/>
                  </a:moveTo>
                  <a:lnTo>
                    <a:pt x="1353" y="29"/>
                  </a:lnTo>
                  <a:lnTo>
                    <a:pt x="1196" y="72"/>
                  </a:lnTo>
                  <a:lnTo>
                    <a:pt x="1040" y="129"/>
                  </a:lnTo>
                  <a:lnTo>
                    <a:pt x="883" y="200"/>
                  </a:lnTo>
                  <a:lnTo>
                    <a:pt x="741" y="285"/>
                  </a:lnTo>
                  <a:lnTo>
                    <a:pt x="613" y="385"/>
                  </a:lnTo>
                  <a:lnTo>
                    <a:pt x="499" y="499"/>
                  </a:lnTo>
                  <a:lnTo>
                    <a:pt x="385" y="613"/>
                  </a:lnTo>
                  <a:lnTo>
                    <a:pt x="285" y="755"/>
                  </a:lnTo>
                  <a:lnTo>
                    <a:pt x="200" y="883"/>
                  </a:lnTo>
                  <a:lnTo>
                    <a:pt x="129" y="1040"/>
                  </a:lnTo>
                  <a:lnTo>
                    <a:pt x="72" y="1196"/>
                  </a:lnTo>
                  <a:lnTo>
                    <a:pt x="29" y="1353"/>
                  </a:lnTo>
                  <a:lnTo>
                    <a:pt x="1" y="1523"/>
                  </a:lnTo>
                  <a:lnTo>
                    <a:pt x="1" y="1694"/>
                  </a:lnTo>
                  <a:lnTo>
                    <a:pt x="1" y="1879"/>
                  </a:lnTo>
                  <a:lnTo>
                    <a:pt x="29" y="2050"/>
                  </a:lnTo>
                  <a:lnTo>
                    <a:pt x="72" y="2206"/>
                  </a:lnTo>
                  <a:lnTo>
                    <a:pt x="129" y="2363"/>
                  </a:lnTo>
                  <a:lnTo>
                    <a:pt x="200" y="2505"/>
                  </a:lnTo>
                  <a:lnTo>
                    <a:pt x="285" y="2648"/>
                  </a:lnTo>
                  <a:lnTo>
                    <a:pt x="385" y="2776"/>
                  </a:lnTo>
                  <a:lnTo>
                    <a:pt x="499" y="2904"/>
                  </a:lnTo>
                  <a:lnTo>
                    <a:pt x="613" y="3017"/>
                  </a:lnTo>
                  <a:lnTo>
                    <a:pt x="741" y="3117"/>
                  </a:lnTo>
                  <a:lnTo>
                    <a:pt x="883" y="3202"/>
                  </a:lnTo>
                  <a:lnTo>
                    <a:pt x="1040" y="3274"/>
                  </a:lnTo>
                  <a:lnTo>
                    <a:pt x="1196" y="3331"/>
                  </a:lnTo>
                  <a:lnTo>
                    <a:pt x="1353" y="3373"/>
                  </a:lnTo>
                  <a:lnTo>
                    <a:pt x="1523" y="3387"/>
                  </a:lnTo>
                  <a:lnTo>
                    <a:pt x="1694" y="3402"/>
                  </a:lnTo>
                  <a:lnTo>
                    <a:pt x="1865" y="3387"/>
                  </a:lnTo>
                  <a:lnTo>
                    <a:pt x="2036" y="3373"/>
                  </a:lnTo>
                  <a:lnTo>
                    <a:pt x="2206" y="3331"/>
                  </a:lnTo>
                  <a:lnTo>
                    <a:pt x="2363" y="3274"/>
                  </a:lnTo>
                  <a:lnTo>
                    <a:pt x="2505" y="3202"/>
                  </a:lnTo>
                  <a:lnTo>
                    <a:pt x="2648" y="3117"/>
                  </a:lnTo>
                  <a:lnTo>
                    <a:pt x="2776" y="3017"/>
                  </a:lnTo>
                  <a:lnTo>
                    <a:pt x="2904" y="2904"/>
                  </a:lnTo>
                  <a:lnTo>
                    <a:pt x="3003" y="2776"/>
                  </a:lnTo>
                  <a:lnTo>
                    <a:pt x="3103" y="2648"/>
                  </a:lnTo>
                  <a:lnTo>
                    <a:pt x="3188" y="2505"/>
                  </a:lnTo>
                  <a:lnTo>
                    <a:pt x="3259" y="2363"/>
                  </a:lnTo>
                  <a:lnTo>
                    <a:pt x="3316" y="2206"/>
                  </a:lnTo>
                  <a:lnTo>
                    <a:pt x="3359" y="2050"/>
                  </a:lnTo>
                  <a:lnTo>
                    <a:pt x="3388" y="1879"/>
                  </a:lnTo>
                  <a:lnTo>
                    <a:pt x="3402" y="1694"/>
                  </a:lnTo>
                  <a:lnTo>
                    <a:pt x="3388" y="1523"/>
                  </a:lnTo>
                  <a:lnTo>
                    <a:pt x="3359" y="1353"/>
                  </a:lnTo>
                  <a:lnTo>
                    <a:pt x="3316" y="1196"/>
                  </a:lnTo>
                  <a:lnTo>
                    <a:pt x="3259" y="1040"/>
                  </a:lnTo>
                  <a:lnTo>
                    <a:pt x="3188" y="883"/>
                  </a:lnTo>
                  <a:lnTo>
                    <a:pt x="3103" y="755"/>
                  </a:lnTo>
                  <a:lnTo>
                    <a:pt x="3003" y="613"/>
                  </a:lnTo>
                  <a:lnTo>
                    <a:pt x="2904" y="499"/>
                  </a:lnTo>
                  <a:lnTo>
                    <a:pt x="2776" y="385"/>
                  </a:lnTo>
                  <a:lnTo>
                    <a:pt x="2648" y="285"/>
                  </a:lnTo>
                  <a:lnTo>
                    <a:pt x="2505" y="200"/>
                  </a:lnTo>
                  <a:lnTo>
                    <a:pt x="2363" y="129"/>
                  </a:lnTo>
                  <a:lnTo>
                    <a:pt x="2206" y="72"/>
                  </a:lnTo>
                  <a:lnTo>
                    <a:pt x="2036" y="29"/>
                  </a:lnTo>
                  <a:lnTo>
                    <a:pt x="18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6158230" y="2676388"/>
              <a:ext cx="146060" cy="145418"/>
            </a:xfrm>
            <a:custGeom>
              <a:avLst/>
              <a:gdLst/>
              <a:ahLst/>
              <a:cxnLst/>
              <a:rect l="l" t="t" r="r" b="b"/>
              <a:pathLst>
                <a:path w="3416" h="3401" extrusionOk="0">
                  <a:moveTo>
                    <a:pt x="1708" y="0"/>
                  </a:moveTo>
                  <a:lnTo>
                    <a:pt x="1537" y="14"/>
                  </a:lnTo>
                  <a:lnTo>
                    <a:pt x="1366" y="43"/>
                  </a:lnTo>
                  <a:lnTo>
                    <a:pt x="1196" y="71"/>
                  </a:lnTo>
                  <a:lnTo>
                    <a:pt x="1039" y="128"/>
                  </a:lnTo>
                  <a:lnTo>
                    <a:pt x="897" y="213"/>
                  </a:lnTo>
                  <a:lnTo>
                    <a:pt x="754" y="285"/>
                  </a:lnTo>
                  <a:lnTo>
                    <a:pt x="626" y="384"/>
                  </a:lnTo>
                  <a:lnTo>
                    <a:pt x="498" y="498"/>
                  </a:lnTo>
                  <a:lnTo>
                    <a:pt x="399" y="626"/>
                  </a:lnTo>
                  <a:lnTo>
                    <a:pt x="299" y="754"/>
                  </a:lnTo>
                  <a:lnTo>
                    <a:pt x="214" y="897"/>
                  </a:lnTo>
                  <a:lnTo>
                    <a:pt x="143" y="1039"/>
                  </a:lnTo>
                  <a:lnTo>
                    <a:pt x="86" y="1195"/>
                  </a:lnTo>
                  <a:lnTo>
                    <a:pt x="43" y="1366"/>
                  </a:lnTo>
                  <a:lnTo>
                    <a:pt x="14" y="1523"/>
                  </a:lnTo>
                  <a:lnTo>
                    <a:pt x="0" y="1708"/>
                  </a:lnTo>
                  <a:lnTo>
                    <a:pt x="14" y="1878"/>
                  </a:lnTo>
                  <a:lnTo>
                    <a:pt x="43" y="2049"/>
                  </a:lnTo>
                  <a:lnTo>
                    <a:pt x="86" y="2206"/>
                  </a:lnTo>
                  <a:lnTo>
                    <a:pt x="143" y="2362"/>
                  </a:lnTo>
                  <a:lnTo>
                    <a:pt x="214" y="2519"/>
                  </a:lnTo>
                  <a:lnTo>
                    <a:pt x="299" y="2661"/>
                  </a:lnTo>
                  <a:lnTo>
                    <a:pt x="399" y="2789"/>
                  </a:lnTo>
                  <a:lnTo>
                    <a:pt x="498" y="2903"/>
                  </a:lnTo>
                  <a:lnTo>
                    <a:pt x="626" y="3017"/>
                  </a:lnTo>
                  <a:lnTo>
                    <a:pt x="754" y="3116"/>
                  </a:lnTo>
                  <a:lnTo>
                    <a:pt x="897" y="3202"/>
                  </a:lnTo>
                  <a:lnTo>
                    <a:pt x="1039" y="3273"/>
                  </a:lnTo>
                  <a:lnTo>
                    <a:pt x="1196" y="3330"/>
                  </a:lnTo>
                  <a:lnTo>
                    <a:pt x="1366" y="3373"/>
                  </a:lnTo>
                  <a:lnTo>
                    <a:pt x="1537" y="3401"/>
                  </a:lnTo>
                  <a:lnTo>
                    <a:pt x="1879" y="3401"/>
                  </a:lnTo>
                  <a:lnTo>
                    <a:pt x="2049" y="3373"/>
                  </a:lnTo>
                  <a:lnTo>
                    <a:pt x="2220" y="3330"/>
                  </a:lnTo>
                  <a:lnTo>
                    <a:pt x="2377" y="3273"/>
                  </a:lnTo>
                  <a:lnTo>
                    <a:pt x="2519" y="3202"/>
                  </a:lnTo>
                  <a:lnTo>
                    <a:pt x="2661" y="3116"/>
                  </a:lnTo>
                  <a:lnTo>
                    <a:pt x="2789" y="3017"/>
                  </a:lnTo>
                  <a:lnTo>
                    <a:pt x="2917" y="2903"/>
                  </a:lnTo>
                  <a:lnTo>
                    <a:pt x="3017" y="2789"/>
                  </a:lnTo>
                  <a:lnTo>
                    <a:pt x="3117" y="2661"/>
                  </a:lnTo>
                  <a:lnTo>
                    <a:pt x="3202" y="2519"/>
                  </a:lnTo>
                  <a:lnTo>
                    <a:pt x="3273" y="2362"/>
                  </a:lnTo>
                  <a:lnTo>
                    <a:pt x="3330" y="2206"/>
                  </a:lnTo>
                  <a:lnTo>
                    <a:pt x="3373" y="2049"/>
                  </a:lnTo>
                  <a:lnTo>
                    <a:pt x="3401" y="1878"/>
                  </a:lnTo>
                  <a:lnTo>
                    <a:pt x="3415" y="1708"/>
                  </a:lnTo>
                  <a:lnTo>
                    <a:pt x="3401" y="1523"/>
                  </a:lnTo>
                  <a:lnTo>
                    <a:pt x="3373" y="1366"/>
                  </a:lnTo>
                  <a:lnTo>
                    <a:pt x="3330" y="1195"/>
                  </a:lnTo>
                  <a:lnTo>
                    <a:pt x="3273" y="1039"/>
                  </a:lnTo>
                  <a:lnTo>
                    <a:pt x="3202" y="897"/>
                  </a:lnTo>
                  <a:lnTo>
                    <a:pt x="3117" y="754"/>
                  </a:lnTo>
                  <a:lnTo>
                    <a:pt x="3017" y="626"/>
                  </a:lnTo>
                  <a:lnTo>
                    <a:pt x="2917" y="498"/>
                  </a:lnTo>
                  <a:lnTo>
                    <a:pt x="2789" y="384"/>
                  </a:lnTo>
                  <a:lnTo>
                    <a:pt x="2661" y="285"/>
                  </a:lnTo>
                  <a:lnTo>
                    <a:pt x="2519" y="213"/>
                  </a:lnTo>
                  <a:lnTo>
                    <a:pt x="2377" y="128"/>
                  </a:lnTo>
                  <a:lnTo>
                    <a:pt x="2220" y="71"/>
                  </a:lnTo>
                  <a:lnTo>
                    <a:pt x="2049" y="43"/>
                  </a:lnTo>
                  <a:lnTo>
                    <a:pt x="1879" y="14"/>
                  </a:lnTo>
                  <a:lnTo>
                    <a:pt x="170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6010370" y="1964494"/>
              <a:ext cx="145461" cy="146060"/>
            </a:xfrm>
            <a:custGeom>
              <a:avLst/>
              <a:gdLst/>
              <a:ahLst/>
              <a:cxnLst/>
              <a:rect l="l" t="t" r="r" b="b"/>
              <a:pathLst>
                <a:path w="3402" h="3416" extrusionOk="0">
                  <a:moveTo>
                    <a:pt x="1694" y="0"/>
                  </a:moveTo>
                  <a:lnTo>
                    <a:pt x="1523" y="14"/>
                  </a:lnTo>
                  <a:lnTo>
                    <a:pt x="1352" y="43"/>
                  </a:lnTo>
                  <a:lnTo>
                    <a:pt x="1196" y="85"/>
                  </a:lnTo>
                  <a:lnTo>
                    <a:pt x="1039" y="142"/>
                  </a:lnTo>
                  <a:lnTo>
                    <a:pt x="883" y="213"/>
                  </a:lnTo>
                  <a:lnTo>
                    <a:pt x="755" y="299"/>
                  </a:lnTo>
                  <a:lnTo>
                    <a:pt x="612" y="398"/>
                  </a:lnTo>
                  <a:lnTo>
                    <a:pt x="498" y="498"/>
                  </a:lnTo>
                  <a:lnTo>
                    <a:pt x="385" y="626"/>
                  </a:lnTo>
                  <a:lnTo>
                    <a:pt x="285" y="754"/>
                  </a:lnTo>
                  <a:lnTo>
                    <a:pt x="200" y="897"/>
                  </a:lnTo>
                  <a:lnTo>
                    <a:pt x="128" y="1039"/>
                  </a:lnTo>
                  <a:lnTo>
                    <a:pt x="72" y="1195"/>
                  </a:lnTo>
                  <a:lnTo>
                    <a:pt x="29" y="1366"/>
                  </a:lnTo>
                  <a:lnTo>
                    <a:pt x="0" y="1537"/>
                  </a:lnTo>
                  <a:lnTo>
                    <a:pt x="0" y="1708"/>
                  </a:lnTo>
                  <a:lnTo>
                    <a:pt x="0" y="1878"/>
                  </a:lnTo>
                  <a:lnTo>
                    <a:pt x="29" y="2049"/>
                  </a:lnTo>
                  <a:lnTo>
                    <a:pt x="72" y="2220"/>
                  </a:lnTo>
                  <a:lnTo>
                    <a:pt x="128" y="2376"/>
                  </a:lnTo>
                  <a:lnTo>
                    <a:pt x="200" y="2519"/>
                  </a:lnTo>
                  <a:lnTo>
                    <a:pt x="285" y="2661"/>
                  </a:lnTo>
                  <a:lnTo>
                    <a:pt x="385" y="2789"/>
                  </a:lnTo>
                  <a:lnTo>
                    <a:pt x="498" y="2917"/>
                  </a:lnTo>
                  <a:lnTo>
                    <a:pt x="612" y="3017"/>
                  </a:lnTo>
                  <a:lnTo>
                    <a:pt x="755" y="3116"/>
                  </a:lnTo>
                  <a:lnTo>
                    <a:pt x="883" y="3202"/>
                  </a:lnTo>
                  <a:lnTo>
                    <a:pt x="1039" y="3273"/>
                  </a:lnTo>
                  <a:lnTo>
                    <a:pt x="1196" y="3330"/>
                  </a:lnTo>
                  <a:lnTo>
                    <a:pt x="1352" y="3373"/>
                  </a:lnTo>
                  <a:lnTo>
                    <a:pt x="1523" y="3401"/>
                  </a:lnTo>
                  <a:lnTo>
                    <a:pt x="1694" y="3415"/>
                  </a:lnTo>
                  <a:lnTo>
                    <a:pt x="1879" y="3401"/>
                  </a:lnTo>
                  <a:lnTo>
                    <a:pt x="2035" y="3373"/>
                  </a:lnTo>
                  <a:lnTo>
                    <a:pt x="2206" y="3330"/>
                  </a:lnTo>
                  <a:lnTo>
                    <a:pt x="2363" y="3273"/>
                  </a:lnTo>
                  <a:lnTo>
                    <a:pt x="2505" y="3202"/>
                  </a:lnTo>
                  <a:lnTo>
                    <a:pt x="2647" y="3116"/>
                  </a:lnTo>
                  <a:lnTo>
                    <a:pt x="2775" y="3017"/>
                  </a:lnTo>
                  <a:lnTo>
                    <a:pt x="2903" y="2917"/>
                  </a:lnTo>
                  <a:lnTo>
                    <a:pt x="3017" y="2789"/>
                  </a:lnTo>
                  <a:lnTo>
                    <a:pt x="3117" y="2661"/>
                  </a:lnTo>
                  <a:lnTo>
                    <a:pt x="3202" y="2519"/>
                  </a:lnTo>
                  <a:lnTo>
                    <a:pt x="3273" y="2376"/>
                  </a:lnTo>
                  <a:lnTo>
                    <a:pt x="3330" y="2220"/>
                  </a:lnTo>
                  <a:lnTo>
                    <a:pt x="3373" y="2049"/>
                  </a:lnTo>
                  <a:lnTo>
                    <a:pt x="3387" y="1878"/>
                  </a:lnTo>
                  <a:lnTo>
                    <a:pt x="3401" y="1708"/>
                  </a:lnTo>
                  <a:lnTo>
                    <a:pt x="3387" y="1537"/>
                  </a:lnTo>
                  <a:lnTo>
                    <a:pt x="3373" y="1366"/>
                  </a:lnTo>
                  <a:lnTo>
                    <a:pt x="3330" y="1195"/>
                  </a:lnTo>
                  <a:lnTo>
                    <a:pt x="3273" y="1039"/>
                  </a:lnTo>
                  <a:lnTo>
                    <a:pt x="3202" y="897"/>
                  </a:lnTo>
                  <a:lnTo>
                    <a:pt x="3117" y="754"/>
                  </a:lnTo>
                  <a:lnTo>
                    <a:pt x="3017" y="626"/>
                  </a:lnTo>
                  <a:lnTo>
                    <a:pt x="2903" y="498"/>
                  </a:lnTo>
                  <a:lnTo>
                    <a:pt x="2775" y="398"/>
                  </a:lnTo>
                  <a:lnTo>
                    <a:pt x="2647" y="299"/>
                  </a:lnTo>
                  <a:lnTo>
                    <a:pt x="2505" y="213"/>
                  </a:lnTo>
                  <a:lnTo>
                    <a:pt x="2363" y="142"/>
                  </a:lnTo>
                  <a:lnTo>
                    <a:pt x="2206" y="85"/>
                  </a:lnTo>
                  <a:lnTo>
                    <a:pt x="2035" y="43"/>
                  </a:lnTo>
                  <a:lnTo>
                    <a:pt x="1879" y="14"/>
                  </a:lnTo>
                  <a:lnTo>
                    <a:pt x="169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3010705" y="2412008"/>
              <a:ext cx="620625" cy="278095"/>
            </a:xfrm>
            <a:custGeom>
              <a:avLst/>
              <a:gdLst/>
              <a:ahLst/>
              <a:cxnLst/>
              <a:rect l="l" t="t" r="r" b="b"/>
              <a:pathLst>
                <a:path w="14515" h="6504" extrusionOk="0">
                  <a:moveTo>
                    <a:pt x="840" y="0"/>
                  </a:moveTo>
                  <a:lnTo>
                    <a:pt x="0" y="840"/>
                  </a:lnTo>
                  <a:lnTo>
                    <a:pt x="5664" y="6503"/>
                  </a:lnTo>
                  <a:lnTo>
                    <a:pt x="14515" y="6503"/>
                  </a:lnTo>
                  <a:lnTo>
                    <a:pt x="14515" y="5308"/>
                  </a:lnTo>
                  <a:lnTo>
                    <a:pt x="6147" y="5308"/>
                  </a:lnTo>
                  <a:lnTo>
                    <a:pt x="8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3330114" y="2447883"/>
              <a:ext cx="301227" cy="51181"/>
            </a:xfrm>
            <a:custGeom>
              <a:avLst/>
              <a:gdLst/>
              <a:ahLst/>
              <a:cxnLst/>
              <a:rect l="l" t="t" r="r" b="b"/>
              <a:pathLst>
                <a:path w="7045" h="1197" extrusionOk="0">
                  <a:moveTo>
                    <a:pt x="1" y="1"/>
                  </a:moveTo>
                  <a:lnTo>
                    <a:pt x="1" y="1196"/>
                  </a:lnTo>
                  <a:lnTo>
                    <a:pt x="7045" y="1196"/>
                  </a:lnTo>
                  <a:lnTo>
                    <a:pt x="70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2879863" y="2932213"/>
              <a:ext cx="751463" cy="254364"/>
            </a:xfrm>
            <a:custGeom>
              <a:avLst/>
              <a:gdLst/>
              <a:ahLst/>
              <a:cxnLst/>
              <a:rect l="l" t="t" r="r" b="b"/>
              <a:pathLst>
                <a:path w="17575" h="5949" extrusionOk="0">
                  <a:moveTo>
                    <a:pt x="5109" y="1"/>
                  </a:moveTo>
                  <a:lnTo>
                    <a:pt x="1" y="5109"/>
                  </a:lnTo>
                  <a:lnTo>
                    <a:pt x="840" y="5949"/>
                  </a:lnTo>
                  <a:lnTo>
                    <a:pt x="5607" y="1182"/>
                  </a:lnTo>
                  <a:lnTo>
                    <a:pt x="17575" y="1182"/>
                  </a:lnTo>
                  <a:lnTo>
                    <a:pt x="175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3042304" y="3098332"/>
              <a:ext cx="589027" cy="248293"/>
            </a:xfrm>
            <a:custGeom>
              <a:avLst/>
              <a:gdLst/>
              <a:ahLst/>
              <a:cxnLst/>
              <a:rect l="l" t="t" r="r" b="b"/>
              <a:pathLst>
                <a:path w="13776" h="5807" extrusionOk="0">
                  <a:moveTo>
                    <a:pt x="4953" y="1"/>
                  </a:moveTo>
                  <a:lnTo>
                    <a:pt x="1" y="4953"/>
                  </a:lnTo>
                  <a:lnTo>
                    <a:pt x="841" y="5806"/>
                  </a:lnTo>
                  <a:lnTo>
                    <a:pt x="5451" y="1196"/>
                  </a:lnTo>
                  <a:lnTo>
                    <a:pt x="13776" y="1196"/>
                  </a:lnTo>
                  <a:lnTo>
                    <a:pt x="1377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3330114" y="3265648"/>
              <a:ext cx="301227" cy="51181"/>
            </a:xfrm>
            <a:custGeom>
              <a:avLst/>
              <a:gdLst/>
              <a:ahLst/>
              <a:cxnLst/>
              <a:rect l="l" t="t" r="r" b="b"/>
              <a:pathLst>
                <a:path w="7045" h="1197" extrusionOk="0">
                  <a:moveTo>
                    <a:pt x="1" y="1"/>
                  </a:moveTo>
                  <a:lnTo>
                    <a:pt x="1" y="1196"/>
                  </a:lnTo>
                  <a:lnTo>
                    <a:pt x="7045" y="1196"/>
                  </a:lnTo>
                  <a:lnTo>
                    <a:pt x="70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2999716" y="3246791"/>
              <a:ext cx="146102" cy="145461"/>
            </a:xfrm>
            <a:custGeom>
              <a:avLst/>
              <a:gdLst/>
              <a:ahLst/>
              <a:cxnLst/>
              <a:rect l="l" t="t" r="r" b="b"/>
              <a:pathLst>
                <a:path w="3417" h="3402" extrusionOk="0">
                  <a:moveTo>
                    <a:pt x="1538" y="1"/>
                  </a:moveTo>
                  <a:lnTo>
                    <a:pt x="1367" y="29"/>
                  </a:lnTo>
                  <a:lnTo>
                    <a:pt x="1196" y="72"/>
                  </a:lnTo>
                  <a:lnTo>
                    <a:pt x="1040" y="129"/>
                  </a:lnTo>
                  <a:lnTo>
                    <a:pt x="897" y="200"/>
                  </a:lnTo>
                  <a:lnTo>
                    <a:pt x="755" y="285"/>
                  </a:lnTo>
                  <a:lnTo>
                    <a:pt x="627" y="385"/>
                  </a:lnTo>
                  <a:lnTo>
                    <a:pt x="499" y="499"/>
                  </a:lnTo>
                  <a:lnTo>
                    <a:pt x="399" y="613"/>
                  </a:lnTo>
                  <a:lnTo>
                    <a:pt x="300" y="755"/>
                  </a:lnTo>
                  <a:lnTo>
                    <a:pt x="214" y="883"/>
                  </a:lnTo>
                  <a:lnTo>
                    <a:pt x="143" y="1040"/>
                  </a:lnTo>
                  <a:lnTo>
                    <a:pt x="86" y="1196"/>
                  </a:lnTo>
                  <a:lnTo>
                    <a:pt x="44" y="1353"/>
                  </a:lnTo>
                  <a:lnTo>
                    <a:pt x="15" y="1523"/>
                  </a:lnTo>
                  <a:lnTo>
                    <a:pt x="1" y="1694"/>
                  </a:lnTo>
                  <a:lnTo>
                    <a:pt x="15" y="1879"/>
                  </a:lnTo>
                  <a:lnTo>
                    <a:pt x="44" y="2050"/>
                  </a:lnTo>
                  <a:lnTo>
                    <a:pt x="86" y="2206"/>
                  </a:lnTo>
                  <a:lnTo>
                    <a:pt x="143" y="2363"/>
                  </a:lnTo>
                  <a:lnTo>
                    <a:pt x="214" y="2505"/>
                  </a:lnTo>
                  <a:lnTo>
                    <a:pt x="300" y="2648"/>
                  </a:lnTo>
                  <a:lnTo>
                    <a:pt x="399" y="2776"/>
                  </a:lnTo>
                  <a:lnTo>
                    <a:pt x="499" y="2904"/>
                  </a:lnTo>
                  <a:lnTo>
                    <a:pt x="627" y="3017"/>
                  </a:lnTo>
                  <a:lnTo>
                    <a:pt x="755" y="3117"/>
                  </a:lnTo>
                  <a:lnTo>
                    <a:pt x="897" y="3202"/>
                  </a:lnTo>
                  <a:lnTo>
                    <a:pt x="1040" y="3274"/>
                  </a:lnTo>
                  <a:lnTo>
                    <a:pt x="1196" y="3331"/>
                  </a:lnTo>
                  <a:lnTo>
                    <a:pt x="1367" y="3373"/>
                  </a:lnTo>
                  <a:lnTo>
                    <a:pt x="1538" y="3387"/>
                  </a:lnTo>
                  <a:lnTo>
                    <a:pt x="1708" y="3402"/>
                  </a:lnTo>
                  <a:lnTo>
                    <a:pt x="1879" y="3387"/>
                  </a:lnTo>
                  <a:lnTo>
                    <a:pt x="2050" y="3373"/>
                  </a:lnTo>
                  <a:lnTo>
                    <a:pt x="2221" y="3331"/>
                  </a:lnTo>
                  <a:lnTo>
                    <a:pt x="2377" y="3274"/>
                  </a:lnTo>
                  <a:lnTo>
                    <a:pt x="2520" y="3202"/>
                  </a:lnTo>
                  <a:lnTo>
                    <a:pt x="2662" y="3117"/>
                  </a:lnTo>
                  <a:lnTo>
                    <a:pt x="2790" y="3017"/>
                  </a:lnTo>
                  <a:lnTo>
                    <a:pt x="2918" y="2904"/>
                  </a:lnTo>
                  <a:lnTo>
                    <a:pt x="3018" y="2776"/>
                  </a:lnTo>
                  <a:lnTo>
                    <a:pt x="3117" y="2648"/>
                  </a:lnTo>
                  <a:lnTo>
                    <a:pt x="3203" y="2505"/>
                  </a:lnTo>
                  <a:lnTo>
                    <a:pt x="3274" y="2363"/>
                  </a:lnTo>
                  <a:lnTo>
                    <a:pt x="3331" y="2206"/>
                  </a:lnTo>
                  <a:lnTo>
                    <a:pt x="3373" y="2050"/>
                  </a:lnTo>
                  <a:lnTo>
                    <a:pt x="3402" y="1879"/>
                  </a:lnTo>
                  <a:lnTo>
                    <a:pt x="3416" y="1694"/>
                  </a:lnTo>
                  <a:lnTo>
                    <a:pt x="3402" y="1523"/>
                  </a:lnTo>
                  <a:lnTo>
                    <a:pt x="3373" y="1353"/>
                  </a:lnTo>
                  <a:lnTo>
                    <a:pt x="3331" y="1196"/>
                  </a:lnTo>
                  <a:lnTo>
                    <a:pt x="3274" y="1040"/>
                  </a:lnTo>
                  <a:lnTo>
                    <a:pt x="3203" y="883"/>
                  </a:lnTo>
                  <a:lnTo>
                    <a:pt x="3117" y="755"/>
                  </a:lnTo>
                  <a:lnTo>
                    <a:pt x="3018" y="613"/>
                  </a:lnTo>
                  <a:lnTo>
                    <a:pt x="2918" y="499"/>
                  </a:lnTo>
                  <a:lnTo>
                    <a:pt x="2790" y="385"/>
                  </a:lnTo>
                  <a:lnTo>
                    <a:pt x="2662" y="285"/>
                  </a:lnTo>
                  <a:lnTo>
                    <a:pt x="2520" y="200"/>
                  </a:lnTo>
                  <a:lnTo>
                    <a:pt x="2377" y="129"/>
                  </a:lnTo>
                  <a:lnTo>
                    <a:pt x="2221" y="72"/>
                  </a:lnTo>
                  <a:lnTo>
                    <a:pt x="2050" y="29"/>
                  </a:lnTo>
                  <a:lnTo>
                    <a:pt x="187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2839712" y="3086188"/>
              <a:ext cx="145461" cy="145418"/>
            </a:xfrm>
            <a:custGeom>
              <a:avLst/>
              <a:gdLst/>
              <a:ahLst/>
              <a:cxnLst/>
              <a:rect l="l" t="t" r="r" b="b"/>
              <a:pathLst>
                <a:path w="3402" h="3401" extrusionOk="0">
                  <a:moveTo>
                    <a:pt x="1694" y="0"/>
                  </a:moveTo>
                  <a:lnTo>
                    <a:pt x="1523" y="14"/>
                  </a:lnTo>
                  <a:lnTo>
                    <a:pt x="1352" y="43"/>
                  </a:lnTo>
                  <a:lnTo>
                    <a:pt x="1196" y="71"/>
                  </a:lnTo>
                  <a:lnTo>
                    <a:pt x="1039" y="128"/>
                  </a:lnTo>
                  <a:lnTo>
                    <a:pt x="883" y="213"/>
                  </a:lnTo>
                  <a:lnTo>
                    <a:pt x="740" y="285"/>
                  </a:lnTo>
                  <a:lnTo>
                    <a:pt x="612" y="384"/>
                  </a:lnTo>
                  <a:lnTo>
                    <a:pt x="498" y="498"/>
                  </a:lnTo>
                  <a:lnTo>
                    <a:pt x="385" y="626"/>
                  </a:lnTo>
                  <a:lnTo>
                    <a:pt x="285" y="754"/>
                  </a:lnTo>
                  <a:lnTo>
                    <a:pt x="200" y="897"/>
                  </a:lnTo>
                  <a:lnTo>
                    <a:pt x="128" y="1039"/>
                  </a:lnTo>
                  <a:lnTo>
                    <a:pt x="72" y="1195"/>
                  </a:lnTo>
                  <a:lnTo>
                    <a:pt x="29" y="1366"/>
                  </a:lnTo>
                  <a:lnTo>
                    <a:pt x="0" y="1523"/>
                  </a:lnTo>
                  <a:lnTo>
                    <a:pt x="0" y="1708"/>
                  </a:lnTo>
                  <a:lnTo>
                    <a:pt x="0" y="1878"/>
                  </a:lnTo>
                  <a:lnTo>
                    <a:pt x="29" y="2049"/>
                  </a:lnTo>
                  <a:lnTo>
                    <a:pt x="72" y="2206"/>
                  </a:lnTo>
                  <a:lnTo>
                    <a:pt x="128" y="2362"/>
                  </a:lnTo>
                  <a:lnTo>
                    <a:pt x="200" y="2519"/>
                  </a:lnTo>
                  <a:lnTo>
                    <a:pt x="285" y="2661"/>
                  </a:lnTo>
                  <a:lnTo>
                    <a:pt x="385" y="2789"/>
                  </a:lnTo>
                  <a:lnTo>
                    <a:pt x="498" y="2903"/>
                  </a:lnTo>
                  <a:lnTo>
                    <a:pt x="612" y="3017"/>
                  </a:lnTo>
                  <a:lnTo>
                    <a:pt x="740" y="3116"/>
                  </a:lnTo>
                  <a:lnTo>
                    <a:pt x="883" y="3202"/>
                  </a:lnTo>
                  <a:lnTo>
                    <a:pt x="1039" y="3273"/>
                  </a:lnTo>
                  <a:lnTo>
                    <a:pt x="1196" y="3330"/>
                  </a:lnTo>
                  <a:lnTo>
                    <a:pt x="1352" y="3373"/>
                  </a:lnTo>
                  <a:lnTo>
                    <a:pt x="1523" y="3401"/>
                  </a:lnTo>
                  <a:lnTo>
                    <a:pt x="1865" y="3401"/>
                  </a:lnTo>
                  <a:lnTo>
                    <a:pt x="2035" y="3373"/>
                  </a:lnTo>
                  <a:lnTo>
                    <a:pt x="2206" y="3330"/>
                  </a:lnTo>
                  <a:lnTo>
                    <a:pt x="2363" y="3273"/>
                  </a:lnTo>
                  <a:lnTo>
                    <a:pt x="2505" y="3202"/>
                  </a:lnTo>
                  <a:lnTo>
                    <a:pt x="2647" y="3116"/>
                  </a:lnTo>
                  <a:lnTo>
                    <a:pt x="2775" y="3017"/>
                  </a:lnTo>
                  <a:lnTo>
                    <a:pt x="2903" y="2903"/>
                  </a:lnTo>
                  <a:lnTo>
                    <a:pt x="3003" y="2789"/>
                  </a:lnTo>
                  <a:lnTo>
                    <a:pt x="3103" y="2661"/>
                  </a:lnTo>
                  <a:lnTo>
                    <a:pt x="3188" y="2519"/>
                  </a:lnTo>
                  <a:lnTo>
                    <a:pt x="3259" y="2362"/>
                  </a:lnTo>
                  <a:lnTo>
                    <a:pt x="3316" y="2206"/>
                  </a:lnTo>
                  <a:lnTo>
                    <a:pt x="3359" y="2049"/>
                  </a:lnTo>
                  <a:lnTo>
                    <a:pt x="3387" y="1878"/>
                  </a:lnTo>
                  <a:lnTo>
                    <a:pt x="3401" y="1708"/>
                  </a:lnTo>
                  <a:lnTo>
                    <a:pt x="3387" y="1523"/>
                  </a:lnTo>
                  <a:lnTo>
                    <a:pt x="3359" y="1366"/>
                  </a:lnTo>
                  <a:lnTo>
                    <a:pt x="3316" y="1195"/>
                  </a:lnTo>
                  <a:lnTo>
                    <a:pt x="3259" y="1039"/>
                  </a:lnTo>
                  <a:lnTo>
                    <a:pt x="3188" y="897"/>
                  </a:lnTo>
                  <a:lnTo>
                    <a:pt x="3103" y="754"/>
                  </a:lnTo>
                  <a:lnTo>
                    <a:pt x="3003" y="626"/>
                  </a:lnTo>
                  <a:lnTo>
                    <a:pt x="2903" y="498"/>
                  </a:lnTo>
                  <a:lnTo>
                    <a:pt x="2775" y="384"/>
                  </a:lnTo>
                  <a:lnTo>
                    <a:pt x="2647" y="285"/>
                  </a:lnTo>
                  <a:lnTo>
                    <a:pt x="2505" y="213"/>
                  </a:lnTo>
                  <a:lnTo>
                    <a:pt x="2363" y="128"/>
                  </a:lnTo>
                  <a:lnTo>
                    <a:pt x="2206" y="71"/>
                  </a:lnTo>
                  <a:lnTo>
                    <a:pt x="2035" y="43"/>
                  </a:lnTo>
                  <a:lnTo>
                    <a:pt x="1865" y="14"/>
                  </a:lnTo>
                  <a:lnTo>
                    <a:pt x="16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2987573" y="2374294"/>
              <a:ext cx="145461" cy="146060"/>
            </a:xfrm>
            <a:custGeom>
              <a:avLst/>
              <a:gdLst/>
              <a:ahLst/>
              <a:cxnLst/>
              <a:rect l="l" t="t" r="r" b="b"/>
              <a:pathLst>
                <a:path w="3402" h="3416" extrusionOk="0">
                  <a:moveTo>
                    <a:pt x="1708" y="0"/>
                  </a:moveTo>
                  <a:lnTo>
                    <a:pt x="1537" y="14"/>
                  </a:lnTo>
                  <a:lnTo>
                    <a:pt x="1366" y="43"/>
                  </a:lnTo>
                  <a:lnTo>
                    <a:pt x="1196" y="85"/>
                  </a:lnTo>
                  <a:lnTo>
                    <a:pt x="1039" y="142"/>
                  </a:lnTo>
                  <a:lnTo>
                    <a:pt x="897" y="213"/>
                  </a:lnTo>
                  <a:lnTo>
                    <a:pt x="754" y="299"/>
                  </a:lnTo>
                  <a:lnTo>
                    <a:pt x="626" y="398"/>
                  </a:lnTo>
                  <a:lnTo>
                    <a:pt x="498" y="498"/>
                  </a:lnTo>
                  <a:lnTo>
                    <a:pt x="384" y="626"/>
                  </a:lnTo>
                  <a:lnTo>
                    <a:pt x="299" y="754"/>
                  </a:lnTo>
                  <a:lnTo>
                    <a:pt x="214" y="897"/>
                  </a:lnTo>
                  <a:lnTo>
                    <a:pt x="143" y="1039"/>
                  </a:lnTo>
                  <a:lnTo>
                    <a:pt x="86" y="1195"/>
                  </a:lnTo>
                  <a:lnTo>
                    <a:pt x="43" y="1366"/>
                  </a:lnTo>
                  <a:lnTo>
                    <a:pt x="15" y="1537"/>
                  </a:lnTo>
                  <a:lnTo>
                    <a:pt x="0" y="1708"/>
                  </a:lnTo>
                  <a:lnTo>
                    <a:pt x="15" y="1878"/>
                  </a:lnTo>
                  <a:lnTo>
                    <a:pt x="43" y="2049"/>
                  </a:lnTo>
                  <a:lnTo>
                    <a:pt x="86" y="2220"/>
                  </a:lnTo>
                  <a:lnTo>
                    <a:pt x="143" y="2376"/>
                  </a:lnTo>
                  <a:lnTo>
                    <a:pt x="214" y="2519"/>
                  </a:lnTo>
                  <a:lnTo>
                    <a:pt x="299" y="2661"/>
                  </a:lnTo>
                  <a:lnTo>
                    <a:pt x="384" y="2789"/>
                  </a:lnTo>
                  <a:lnTo>
                    <a:pt x="498" y="2917"/>
                  </a:lnTo>
                  <a:lnTo>
                    <a:pt x="626" y="3017"/>
                  </a:lnTo>
                  <a:lnTo>
                    <a:pt x="754" y="3116"/>
                  </a:lnTo>
                  <a:lnTo>
                    <a:pt x="897" y="3202"/>
                  </a:lnTo>
                  <a:lnTo>
                    <a:pt x="1039" y="3273"/>
                  </a:lnTo>
                  <a:lnTo>
                    <a:pt x="1196" y="3330"/>
                  </a:lnTo>
                  <a:lnTo>
                    <a:pt x="1366" y="3373"/>
                  </a:lnTo>
                  <a:lnTo>
                    <a:pt x="1537" y="3401"/>
                  </a:lnTo>
                  <a:lnTo>
                    <a:pt x="1708" y="3415"/>
                  </a:lnTo>
                  <a:lnTo>
                    <a:pt x="1879" y="3401"/>
                  </a:lnTo>
                  <a:lnTo>
                    <a:pt x="2049" y="3373"/>
                  </a:lnTo>
                  <a:lnTo>
                    <a:pt x="2206" y="3330"/>
                  </a:lnTo>
                  <a:lnTo>
                    <a:pt x="2362" y="3273"/>
                  </a:lnTo>
                  <a:lnTo>
                    <a:pt x="2519" y="3202"/>
                  </a:lnTo>
                  <a:lnTo>
                    <a:pt x="2661" y="3116"/>
                  </a:lnTo>
                  <a:lnTo>
                    <a:pt x="2789" y="3017"/>
                  </a:lnTo>
                  <a:lnTo>
                    <a:pt x="2903" y="2917"/>
                  </a:lnTo>
                  <a:lnTo>
                    <a:pt x="3017" y="2789"/>
                  </a:lnTo>
                  <a:lnTo>
                    <a:pt x="3117" y="2661"/>
                  </a:lnTo>
                  <a:lnTo>
                    <a:pt x="3202" y="2519"/>
                  </a:lnTo>
                  <a:lnTo>
                    <a:pt x="3273" y="2376"/>
                  </a:lnTo>
                  <a:lnTo>
                    <a:pt x="3330" y="2220"/>
                  </a:lnTo>
                  <a:lnTo>
                    <a:pt x="3373" y="2049"/>
                  </a:lnTo>
                  <a:lnTo>
                    <a:pt x="3401" y="1878"/>
                  </a:lnTo>
                  <a:lnTo>
                    <a:pt x="3401" y="1708"/>
                  </a:lnTo>
                  <a:lnTo>
                    <a:pt x="3401" y="1537"/>
                  </a:lnTo>
                  <a:lnTo>
                    <a:pt x="3373" y="1366"/>
                  </a:lnTo>
                  <a:lnTo>
                    <a:pt x="3330" y="1195"/>
                  </a:lnTo>
                  <a:lnTo>
                    <a:pt x="3273" y="1039"/>
                  </a:lnTo>
                  <a:lnTo>
                    <a:pt x="3202" y="897"/>
                  </a:lnTo>
                  <a:lnTo>
                    <a:pt x="3117" y="754"/>
                  </a:lnTo>
                  <a:lnTo>
                    <a:pt x="3017" y="626"/>
                  </a:lnTo>
                  <a:lnTo>
                    <a:pt x="2903" y="498"/>
                  </a:lnTo>
                  <a:lnTo>
                    <a:pt x="2789" y="398"/>
                  </a:lnTo>
                  <a:lnTo>
                    <a:pt x="2661" y="299"/>
                  </a:lnTo>
                  <a:lnTo>
                    <a:pt x="2519" y="213"/>
                  </a:lnTo>
                  <a:lnTo>
                    <a:pt x="2362" y="142"/>
                  </a:lnTo>
                  <a:lnTo>
                    <a:pt x="2206" y="85"/>
                  </a:lnTo>
                  <a:lnTo>
                    <a:pt x="2049" y="43"/>
                  </a:lnTo>
                  <a:lnTo>
                    <a:pt x="1879" y="14"/>
                  </a:lnTo>
                  <a:lnTo>
                    <a:pt x="170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4011527" y="1180122"/>
              <a:ext cx="247800" cy="2478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sp>
          <p:nvSpPr>
            <p:cNvPr id="561" name="Google Shape;561;p20"/>
            <p:cNvSpPr/>
            <p:nvPr/>
          </p:nvSpPr>
          <p:spPr>
            <a:xfrm>
              <a:off x="4179310" y="3452475"/>
              <a:ext cx="784800" cy="784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2" name="Google Shape;562;p20"/>
            <p:cNvGrpSpPr/>
            <p:nvPr/>
          </p:nvGrpSpPr>
          <p:grpSpPr>
            <a:xfrm>
              <a:off x="4333697" y="3608632"/>
              <a:ext cx="472142" cy="472112"/>
              <a:chOff x="-44512325" y="3176075"/>
              <a:chExt cx="300900" cy="300900"/>
            </a:xfrm>
          </p:grpSpPr>
          <p:sp>
            <p:nvSpPr>
              <p:cNvPr id="563" name="Google Shape;563;p20"/>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6" name="Google Shape;566;p20"/>
          <p:cNvGrpSpPr/>
          <p:nvPr/>
        </p:nvGrpSpPr>
        <p:grpSpPr>
          <a:xfrm>
            <a:off x="6686319" y="3042675"/>
            <a:ext cx="2258769" cy="1646832"/>
            <a:chOff x="6686319" y="3042675"/>
            <a:chExt cx="2258769" cy="1646832"/>
          </a:xfrm>
        </p:grpSpPr>
        <p:sp>
          <p:nvSpPr>
            <p:cNvPr id="567" name="Google Shape;567;p20"/>
            <p:cNvSpPr/>
            <p:nvPr/>
          </p:nvSpPr>
          <p:spPr>
            <a:xfrm>
              <a:off x="7514630" y="3042675"/>
              <a:ext cx="604500" cy="6045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Fira Sans Extra Condensed"/>
                  <a:ea typeface="Fira Sans Extra Condensed"/>
                  <a:cs typeface="Fira Sans Extra Condensed"/>
                  <a:sym typeface="Fira Sans Extra Condensed"/>
                </a:rPr>
                <a:t>04</a:t>
              </a:r>
              <a:endParaRPr sz="1800" b="1">
                <a:solidFill>
                  <a:schemeClr val="lt1"/>
                </a:solidFill>
                <a:latin typeface="Fira Sans Extra Condensed"/>
                <a:ea typeface="Fira Sans Extra Condensed"/>
                <a:cs typeface="Fira Sans Extra Condensed"/>
                <a:sym typeface="Fira Sans Extra Condensed"/>
              </a:endParaRPr>
            </a:p>
          </p:txBody>
        </p:sp>
        <p:sp>
          <p:nvSpPr>
            <p:cNvPr id="568" name="Google Shape;568;p20"/>
            <p:cNvSpPr txBox="1"/>
            <p:nvPr/>
          </p:nvSpPr>
          <p:spPr>
            <a:xfrm>
              <a:off x="6686319" y="3759203"/>
              <a:ext cx="2253344" cy="331800"/>
            </a:xfrm>
            <a:prstGeom prst="rect">
              <a:avLst/>
            </a:prstGeom>
            <a:noFill/>
            <a:ln>
              <a:noFill/>
            </a:ln>
          </p:spPr>
          <p:txBody>
            <a:bodyPr spcFirstLastPara="1" wrap="square" lIns="91425" tIns="91425" rIns="91425" bIns="91425" anchor="ctr" anchorCtr="0">
              <a:noAutofit/>
            </a:bodyPr>
            <a:lstStyle/>
            <a:p>
              <a:pPr algn="ctr"/>
              <a:r>
                <a:rPr lang="en-US" b="1" dirty="0" err="1">
                  <a:latin typeface="Fira Sans Extra Condensed"/>
                </a:rPr>
                <a:t>Automatisation</a:t>
              </a:r>
              <a:r>
                <a:rPr lang="en-US" b="1" dirty="0">
                  <a:latin typeface="Fira Sans Extra Condensed"/>
                </a:rPr>
                <a:t> et </a:t>
              </a:r>
              <a:r>
                <a:rPr lang="en-US" b="1" dirty="0" err="1">
                  <a:latin typeface="Fira Sans Extra Condensed"/>
                </a:rPr>
                <a:t>Scalabilité</a:t>
              </a:r>
              <a:endParaRPr lang="en-US" b="1" dirty="0">
                <a:latin typeface="Fira Sans Extra Condensed"/>
              </a:endParaRPr>
            </a:p>
            <a:p>
              <a:pPr marL="0" lvl="0" indent="0" algn="ctr" rtl="0">
                <a:spcBef>
                  <a:spcPts val="0"/>
                </a:spcBef>
                <a:spcAft>
                  <a:spcPts val="0"/>
                </a:spcAft>
                <a:buNone/>
              </a:pPr>
              <a:endParaRPr sz="1800" b="1" dirty="0">
                <a:solidFill>
                  <a:srgbClr val="000000"/>
                </a:solidFill>
                <a:latin typeface="Fira Sans Extra Condensed"/>
                <a:ea typeface="Fira Sans Extra Condensed"/>
                <a:cs typeface="Fira Sans Extra Condensed"/>
                <a:sym typeface="Fira Sans Extra Condensed"/>
              </a:endParaRPr>
            </a:p>
          </p:txBody>
        </p:sp>
        <p:sp>
          <p:nvSpPr>
            <p:cNvPr id="569" name="Google Shape;569;p20"/>
            <p:cNvSpPr txBox="1"/>
            <p:nvPr/>
          </p:nvSpPr>
          <p:spPr>
            <a:xfrm>
              <a:off x="6686319" y="4100607"/>
              <a:ext cx="2258769" cy="588900"/>
            </a:xfrm>
            <a:prstGeom prst="rect">
              <a:avLst/>
            </a:prstGeom>
            <a:noFill/>
            <a:ln>
              <a:noFill/>
            </a:ln>
          </p:spPr>
          <p:txBody>
            <a:bodyPr spcFirstLastPara="1" wrap="square" lIns="91425" tIns="91425" rIns="91425" bIns="91425" anchor="ctr" anchorCtr="0">
              <a:noAutofit/>
            </a:bodyPr>
            <a:lstStyle/>
            <a:p>
              <a:pPr algn="ctr"/>
              <a:r>
                <a:rPr lang="en-US" sz="1200" dirty="0" err="1">
                  <a:latin typeface="Roboto"/>
                  <a:ea typeface="Roboto"/>
                  <a:cs typeface="Roboto"/>
                </a:rPr>
                <a:t>Permettre</a:t>
              </a:r>
              <a:r>
                <a:rPr lang="en-US" sz="1200" dirty="0">
                  <a:latin typeface="Roboto"/>
                  <a:ea typeface="Roboto"/>
                  <a:cs typeface="Roboto"/>
                </a:rPr>
                <a:t> une gestion </a:t>
              </a:r>
              <a:r>
                <a:rPr lang="en-US" sz="1200" dirty="0" err="1">
                  <a:latin typeface="Roboto"/>
                  <a:ea typeface="Roboto"/>
                  <a:cs typeface="Roboto"/>
                </a:rPr>
                <a:t>efficace</a:t>
              </a:r>
              <a:r>
                <a:rPr lang="en-US" sz="1200" dirty="0">
                  <a:latin typeface="Roboto"/>
                  <a:ea typeface="Roboto"/>
                  <a:cs typeface="Roboto"/>
                </a:rPr>
                <a:t> d'un grand volume de candidatures avec une intervention humaine </a:t>
              </a:r>
              <a:r>
                <a:rPr lang="en-US" sz="1200" dirty="0" err="1">
                  <a:latin typeface="Roboto"/>
                  <a:ea typeface="Roboto"/>
                  <a:cs typeface="Roboto"/>
                </a:rPr>
                <a:t>minimale</a:t>
              </a:r>
              <a:r>
                <a:rPr lang="en-US" sz="1200" dirty="0">
                  <a:latin typeface="Roboto"/>
                  <a:ea typeface="Roboto"/>
                  <a:cs typeface="Roboto"/>
                </a:rPr>
                <a:t>.</a:t>
              </a:r>
            </a:p>
          </p:txBody>
        </p:sp>
      </p:grpSp>
      <p:grpSp>
        <p:nvGrpSpPr>
          <p:cNvPr id="570" name="Google Shape;570;p20"/>
          <p:cNvGrpSpPr/>
          <p:nvPr/>
        </p:nvGrpSpPr>
        <p:grpSpPr>
          <a:xfrm>
            <a:off x="6445797" y="1001783"/>
            <a:ext cx="2654273" cy="1551757"/>
            <a:chOff x="6445797" y="1001783"/>
            <a:chExt cx="2654273" cy="1551757"/>
          </a:xfrm>
        </p:grpSpPr>
        <p:sp>
          <p:nvSpPr>
            <p:cNvPr id="571" name="Google Shape;571;p20"/>
            <p:cNvSpPr/>
            <p:nvPr/>
          </p:nvSpPr>
          <p:spPr>
            <a:xfrm>
              <a:off x="7514630" y="1001783"/>
              <a:ext cx="604500" cy="6045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Fira Sans Extra Condensed"/>
                  <a:ea typeface="Fira Sans Extra Condensed"/>
                  <a:cs typeface="Fira Sans Extra Condensed"/>
                  <a:sym typeface="Fira Sans Extra Condensed"/>
                </a:rPr>
                <a:t>02</a:t>
              </a:r>
              <a:endParaRPr sz="1800" b="1">
                <a:solidFill>
                  <a:schemeClr val="lt1"/>
                </a:solidFill>
                <a:latin typeface="Fira Sans Extra Condensed"/>
                <a:ea typeface="Fira Sans Extra Condensed"/>
                <a:cs typeface="Fira Sans Extra Condensed"/>
                <a:sym typeface="Fira Sans Extra Condensed"/>
              </a:endParaRPr>
            </a:p>
          </p:txBody>
        </p:sp>
        <p:sp>
          <p:nvSpPr>
            <p:cNvPr id="572" name="Google Shape;572;p20"/>
            <p:cNvSpPr txBox="1"/>
            <p:nvPr/>
          </p:nvSpPr>
          <p:spPr>
            <a:xfrm>
              <a:off x="6535836" y="1752312"/>
              <a:ext cx="2562088" cy="331800"/>
            </a:xfrm>
            <a:prstGeom prst="rect">
              <a:avLst/>
            </a:prstGeom>
            <a:noFill/>
            <a:ln>
              <a:noFill/>
            </a:ln>
          </p:spPr>
          <p:txBody>
            <a:bodyPr spcFirstLastPara="1" wrap="square" lIns="91425" tIns="91425" rIns="91425" bIns="91425" anchor="ctr" anchorCtr="0">
              <a:noAutofit/>
            </a:bodyPr>
            <a:lstStyle/>
            <a:p>
              <a:pPr algn="ctr"/>
              <a:r>
                <a:rPr lang="en-US" b="1" dirty="0">
                  <a:latin typeface="Fira Sans Extra Condensed"/>
                </a:rPr>
                <a:t>Machine Learning pour le Scoring</a:t>
              </a:r>
            </a:p>
            <a:p>
              <a:pPr marL="0" lvl="0" indent="0" algn="ctr" rtl="0">
                <a:spcBef>
                  <a:spcPts val="0"/>
                </a:spcBef>
                <a:spcAft>
                  <a:spcPts val="0"/>
                </a:spcAft>
                <a:buNone/>
              </a:pPr>
              <a:endParaRPr sz="1800" b="1" dirty="0">
                <a:solidFill>
                  <a:srgbClr val="000000"/>
                </a:solidFill>
                <a:latin typeface="Fira Sans Extra Condensed"/>
                <a:ea typeface="Fira Sans Extra Condensed"/>
                <a:cs typeface="Fira Sans Extra Condensed"/>
                <a:sym typeface="Fira Sans Extra Condensed"/>
              </a:endParaRPr>
            </a:p>
          </p:txBody>
        </p:sp>
        <p:sp>
          <p:nvSpPr>
            <p:cNvPr id="573" name="Google Shape;573;p20"/>
            <p:cNvSpPr txBox="1"/>
            <p:nvPr/>
          </p:nvSpPr>
          <p:spPr>
            <a:xfrm>
              <a:off x="6445797" y="1964640"/>
              <a:ext cx="2654273" cy="588900"/>
            </a:xfrm>
            <a:prstGeom prst="rect">
              <a:avLst/>
            </a:prstGeom>
            <a:noFill/>
            <a:ln>
              <a:noFill/>
            </a:ln>
          </p:spPr>
          <p:txBody>
            <a:bodyPr spcFirstLastPara="1" wrap="square" lIns="91425" tIns="91425" rIns="91425" bIns="91425" anchor="ctr" anchorCtr="0">
              <a:noAutofit/>
            </a:bodyPr>
            <a:lstStyle/>
            <a:p>
              <a:pPr algn="ctr"/>
              <a:r>
                <a:rPr lang="en-US" sz="1200" dirty="0">
                  <a:latin typeface="Roboto"/>
                  <a:ea typeface="Roboto"/>
                  <a:cs typeface="Roboto"/>
                </a:rPr>
                <a:t>Développement de </a:t>
              </a:r>
              <a:r>
                <a:rPr lang="en-US" sz="1200" dirty="0" err="1">
                  <a:latin typeface="Roboto"/>
                  <a:ea typeface="Roboto"/>
                  <a:cs typeface="Roboto"/>
                </a:rPr>
                <a:t>modèles</a:t>
              </a:r>
              <a:r>
                <a:rPr lang="en-US" sz="1200" dirty="0">
                  <a:latin typeface="Roboto"/>
                  <a:ea typeface="Roboto"/>
                  <a:cs typeface="Roboto"/>
                </a:rPr>
                <a:t> </a:t>
              </a:r>
              <a:r>
                <a:rPr lang="en-US" sz="1200" dirty="0" err="1">
                  <a:latin typeface="Roboto"/>
                  <a:ea typeface="Roboto"/>
                  <a:cs typeface="Roboto"/>
                </a:rPr>
                <a:t>prédictifs</a:t>
              </a:r>
              <a:r>
                <a:rPr lang="en-US" sz="1200" dirty="0">
                  <a:latin typeface="Roboto"/>
                  <a:ea typeface="Roboto"/>
                  <a:cs typeface="Roboto"/>
                </a:rPr>
                <a:t> pour classer les </a:t>
              </a:r>
              <a:r>
                <a:rPr lang="en-US" sz="1200" dirty="0" err="1">
                  <a:latin typeface="Roboto"/>
                  <a:ea typeface="Roboto"/>
                  <a:cs typeface="Roboto"/>
                </a:rPr>
                <a:t>candidats</a:t>
              </a:r>
              <a:r>
                <a:rPr lang="en-US" sz="1200" dirty="0">
                  <a:latin typeface="Roboto"/>
                  <a:ea typeface="Roboto"/>
                  <a:cs typeface="Roboto"/>
                </a:rPr>
                <a:t> </a:t>
              </a:r>
              <a:r>
                <a:rPr lang="en-US" sz="1200" dirty="0" err="1">
                  <a:latin typeface="Roboto"/>
                  <a:ea typeface="Roboto"/>
                  <a:cs typeface="Roboto"/>
                </a:rPr>
                <a:t>en</a:t>
              </a:r>
              <a:r>
                <a:rPr lang="en-US" sz="1200" dirty="0">
                  <a:latin typeface="Roboto"/>
                  <a:ea typeface="Roboto"/>
                  <a:cs typeface="Roboto"/>
                </a:rPr>
                <a:t> </a:t>
              </a:r>
              <a:r>
                <a:rPr lang="en-US" sz="1200" dirty="0" err="1">
                  <a:latin typeface="Roboto"/>
                  <a:ea typeface="Roboto"/>
                  <a:cs typeface="Roboto"/>
                </a:rPr>
                <a:t>fonction</a:t>
              </a:r>
              <a:r>
                <a:rPr lang="en-US" sz="1200" dirty="0">
                  <a:latin typeface="Roboto"/>
                  <a:ea typeface="Roboto"/>
                  <a:cs typeface="Roboto"/>
                </a:rPr>
                <a:t> de </a:t>
              </a:r>
              <a:r>
                <a:rPr lang="en-US" sz="1200" dirty="0" err="1">
                  <a:latin typeface="Roboto"/>
                  <a:ea typeface="Roboto"/>
                  <a:cs typeface="Roboto"/>
                </a:rPr>
                <a:t>leur</a:t>
              </a:r>
              <a:r>
                <a:rPr lang="en-US" sz="1200" dirty="0">
                  <a:latin typeface="Roboto"/>
                  <a:ea typeface="Roboto"/>
                  <a:cs typeface="Roboto"/>
                </a:rPr>
                <a:t> </a:t>
              </a:r>
              <a:r>
                <a:rPr lang="en-US" sz="1200" dirty="0" err="1">
                  <a:latin typeface="Roboto"/>
                  <a:ea typeface="Roboto"/>
                  <a:cs typeface="Roboto"/>
                </a:rPr>
                <a:t>adéquation</a:t>
              </a:r>
              <a:r>
                <a:rPr lang="en-US" sz="1200" dirty="0">
                  <a:latin typeface="Roboto"/>
                  <a:ea typeface="Roboto"/>
                  <a:cs typeface="Roboto"/>
                </a:rPr>
                <a:t> avec le poste.</a:t>
              </a:r>
            </a:p>
          </p:txBody>
        </p:sp>
      </p:grpSp>
      <p:grpSp>
        <p:nvGrpSpPr>
          <p:cNvPr id="574" name="Google Shape;574;p20"/>
          <p:cNvGrpSpPr/>
          <p:nvPr/>
        </p:nvGrpSpPr>
        <p:grpSpPr>
          <a:xfrm>
            <a:off x="-177877" y="1001783"/>
            <a:ext cx="3226451" cy="1643359"/>
            <a:chOff x="-177877" y="1001783"/>
            <a:chExt cx="3226451" cy="1643359"/>
          </a:xfrm>
        </p:grpSpPr>
        <p:sp>
          <p:nvSpPr>
            <p:cNvPr id="575" name="Google Shape;575;p20"/>
            <p:cNvSpPr/>
            <p:nvPr/>
          </p:nvSpPr>
          <p:spPr>
            <a:xfrm>
              <a:off x="1021803" y="1001783"/>
              <a:ext cx="604500" cy="60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Fira Sans Extra Condensed"/>
                  <a:ea typeface="Fira Sans Extra Condensed"/>
                  <a:cs typeface="Fira Sans Extra Condensed"/>
                  <a:sym typeface="Fira Sans Extra Condensed"/>
                </a:rPr>
                <a:t>01</a:t>
              </a:r>
              <a:endParaRPr sz="1800" b="1">
                <a:solidFill>
                  <a:schemeClr val="lt1"/>
                </a:solidFill>
                <a:latin typeface="Fira Sans Extra Condensed"/>
                <a:ea typeface="Fira Sans Extra Condensed"/>
                <a:cs typeface="Fira Sans Extra Condensed"/>
                <a:sym typeface="Fira Sans Extra Condensed"/>
              </a:endParaRPr>
            </a:p>
          </p:txBody>
        </p:sp>
        <p:sp>
          <p:nvSpPr>
            <p:cNvPr id="576" name="Google Shape;576;p20"/>
            <p:cNvSpPr txBox="1"/>
            <p:nvPr/>
          </p:nvSpPr>
          <p:spPr>
            <a:xfrm>
              <a:off x="83582" y="1654127"/>
              <a:ext cx="2767232" cy="331800"/>
            </a:xfrm>
            <a:prstGeom prst="rect">
              <a:avLst/>
            </a:prstGeom>
            <a:noFill/>
            <a:ln>
              <a:noFill/>
            </a:ln>
          </p:spPr>
          <p:txBody>
            <a:bodyPr spcFirstLastPara="1" wrap="square" lIns="91425" tIns="91425" rIns="91425" bIns="91425" anchor="ctr" anchorCtr="0">
              <a:noAutofit/>
            </a:bodyPr>
            <a:lstStyle/>
            <a:p>
              <a:pPr algn="ctr"/>
              <a:r>
                <a:rPr lang="en-US" b="1" dirty="0" err="1">
                  <a:latin typeface="Fira Sans Extra Condensed"/>
                </a:rPr>
                <a:t>Traitement</a:t>
              </a:r>
              <a:r>
                <a:rPr lang="en-US" b="1" dirty="0">
                  <a:latin typeface="Fira Sans Extra Condensed"/>
                </a:rPr>
                <a:t> du </a:t>
              </a:r>
              <a:r>
                <a:rPr lang="en-US" b="1" dirty="0" err="1">
                  <a:latin typeface="Fira Sans Extra Condensed"/>
                </a:rPr>
                <a:t>Langage</a:t>
              </a:r>
              <a:r>
                <a:rPr lang="en-US" b="1" dirty="0">
                  <a:latin typeface="Fira Sans Extra Condensed"/>
                </a:rPr>
                <a:t> Naturel (NLP)</a:t>
              </a:r>
            </a:p>
          </p:txBody>
        </p:sp>
        <p:sp>
          <p:nvSpPr>
            <p:cNvPr id="577" name="Google Shape;577;p20"/>
            <p:cNvSpPr txBox="1"/>
            <p:nvPr/>
          </p:nvSpPr>
          <p:spPr>
            <a:xfrm>
              <a:off x="-177877" y="2056242"/>
              <a:ext cx="3226451" cy="588900"/>
            </a:xfrm>
            <a:prstGeom prst="rect">
              <a:avLst/>
            </a:prstGeom>
            <a:noFill/>
            <a:ln>
              <a:noFill/>
            </a:ln>
          </p:spPr>
          <p:txBody>
            <a:bodyPr spcFirstLastPara="1" wrap="square" lIns="91425" tIns="91425" rIns="91425" bIns="91425" anchor="ctr" anchorCtr="0">
              <a:noAutofit/>
            </a:bodyPr>
            <a:lstStyle/>
            <a:p>
              <a:pPr algn="ctr"/>
              <a:r>
                <a:rPr lang="en-US" sz="1200" dirty="0" err="1">
                  <a:latin typeface="Roboto"/>
                  <a:ea typeface="Roboto"/>
                  <a:cs typeface="Roboto"/>
                </a:rPr>
                <a:t>Analyse</a:t>
              </a:r>
              <a:r>
                <a:rPr lang="en-US" sz="1200" dirty="0">
                  <a:latin typeface="Roboto"/>
                  <a:ea typeface="Roboto"/>
                  <a:cs typeface="Roboto"/>
                </a:rPr>
                <a:t> </a:t>
              </a:r>
              <a:r>
                <a:rPr lang="en-US" sz="1200" dirty="0" err="1">
                  <a:latin typeface="Roboto"/>
                  <a:ea typeface="Roboto"/>
                  <a:cs typeface="Roboto"/>
                </a:rPr>
                <a:t>sémantique</a:t>
              </a:r>
              <a:r>
                <a:rPr lang="en-US" sz="1200" dirty="0">
                  <a:latin typeface="Roboto"/>
                  <a:ea typeface="Roboto"/>
                  <a:cs typeface="Roboto"/>
                </a:rPr>
                <a:t> des CV et des descriptions de poste pour </a:t>
              </a:r>
              <a:r>
                <a:rPr lang="en-US" sz="1200" dirty="0" err="1">
                  <a:latin typeface="Roboto"/>
                  <a:ea typeface="Roboto"/>
                  <a:cs typeface="Roboto"/>
                </a:rPr>
                <a:t>extraire</a:t>
              </a:r>
              <a:r>
                <a:rPr lang="en-US" sz="1200" dirty="0">
                  <a:latin typeface="Roboto"/>
                  <a:ea typeface="Roboto"/>
                  <a:cs typeface="Roboto"/>
                </a:rPr>
                <a:t> les </a:t>
              </a:r>
              <a:r>
                <a:rPr lang="en-US" sz="1200" dirty="0" err="1">
                  <a:latin typeface="Roboto"/>
                  <a:ea typeface="Roboto"/>
                  <a:cs typeface="Roboto"/>
                </a:rPr>
                <a:t>informations</a:t>
              </a:r>
              <a:r>
                <a:rPr lang="en-US" sz="1200" dirty="0">
                  <a:latin typeface="Roboto"/>
                  <a:ea typeface="Roboto"/>
                  <a:cs typeface="Roboto"/>
                </a:rPr>
                <a:t> </a:t>
              </a:r>
              <a:r>
                <a:rPr lang="en-US" sz="1200" dirty="0" err="1">
                  <a:latin typeface="Roboto"/>
                  <a:ea typeface="Roboto"/>
                  <a:cs typeface="Roboto"/>
                </a:rPr>
                <a:t>clés</a:t>
              </a:r>
              <a:r>
                <a:rPr lang="en-US" sz="1200" dirty="0">
                  <a:latin typeface="Roboto"/>
                  <a:ea typeface="Roboto"/>
                  <a:cs typeface="Roboto"/>
                </a:rPr>
                <a:t> et les compétences </a:t>
              </a:r>
              <a:r>
                <a:rPr lang="en-US" sz="1200" dirty="0" err="1">
                  <a:latin typeface="Roboto"/>
                  <a:ea typeface="Roboto"/>
                  <a:cs typeface="Roboto"/>
                </a:rPr>
                <a:t>pertinentes</a:t>
              </a:r>
              <a:r>
                <a:rPr lang="en-US" sz="1200" dirty="0">
                  <a:latin typeface="Roboto"/>
                  <a:ea typeface="Roboto"/>
                  <a:cs typeface="Roboto"/>
                </a:rPr>
                <a:t>.</a:t>
              </a:r>
            </a:p>
          </p:txBody>
        </p:sp>
      </p:grpSp>
      <p:grpSp>
        <p:nvGrpSpPr>
          <p:cNvPr id="578" name="Google Shape;578;p20"/>
          <p:cNvGrpSpPr/>
          <p:nvPr/>
        </p:nvGrpSpPr>
        <p:grpSpPr>
          <a:xfrm>
            <a:off x="-21815" y="3042675"/>
            <a:ext cx="2872629" cy="1590933"/>
            <a:chOff x="-21815" y="3042675"/>
            <a:chExt cx="2872629" cy="1590933"/>
          </a:xfrm>
        </p:grpSpPr>
        <p:sp>
          <p:nvSpPr>
            <p:cNvPr id="579" name="Google Shape;579;p20"/>
            <p:cNvSpPr/>
            <p:nvPr/>
          </p:nvSpPr>
          <p:spPr>
            <a:xfrm>
              <a:off x="1021803" y="3042675"/>
              <a:ext cx="604500" cy="6045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Fira Sans Extra Condensed"/>
                  <a:ea typeface="Fira Sans Extra Condensed"/>
                  <a:cs typeface="Fira Sans Extra Condensed"/>
                  <a:sym typeface="Fira Sans Extra Condensed"/>
                </a:rPr>
                <a:t>03</a:t>
              </a:r>
              <a:endParaRPr sz="1800" b="1">
                <a:solidFill>
                  <a:schemeClr val="lt1"/>
                </a:solidFill>
                <a:latin typeface="Fira Sans Extra Condensed"/>
                <a:ea typeface="Fira Sans Extra Condensed"/>
                <a:cs typeface="Fira Sans Extra Condensed"/>
                <a:sym typeface="Fira Sans Extra Condensed"/>
              </a:endParaRPr>
            </a:p>
          </p:txBody>
        </p:sp>
        <p:sp>
          <p:nvSpPr>
            <p:cNvPr id="580" name="Google Shape;580;p20"/>
            <p:cNvSpPr txBox="1"/>
            <p:nvPr/>
          </p:nvSpPr>
          <p:spPr>
            <a:xfrm>
              <a:off x="-21815" y="3774729"/>
              <a:ext cx="2872629" cy="331800"/>
            </a:xfrm>
            <a:prstGeom prst="rect">
              <a:avLst/>
            </a:prstGeom>
            <a:noFill/>
            <a:ln>
              <a:noFill/>
            </a:ln>
          </p:spPr>
          <p:txBody>
            <a:bodyPr spcFirstLastPara="1" wrap="square" lIns="91425" tIns="91425" rIns="91425" bIns="91425" anchor="ctr" anchorCtr="0">
              <a:noAutofit/>
            </a:bodyPr>
            <a:lstStyle/>
            <a:p>
              <a:pPr algn="ctr"/>
              <a:r>
                <a:rPr lang="en-US" b="1" dirty="0">
                  <a:latin typeface="Fira Sans Extra Condensed"/>
                </a:rPr>
                <a:t>IA </a:t>
              </a:r>
              <a:r>
                <a:rPr lang="en-US" b="1" dirty="0" err="1">
                  <a:latin typeface="Fira Sans Extra Condensed"/>
                </a:rPr>
                <a:t>Générative</a:t>
              </a:r>
              <a:r>
                <a:rPr lang="en-US" b="1" dirty="0">
                  <a:latin typeface="Fira Sans Extra Condensed"/>
                </a:rPr>
                <a:t> pour les Explications</a:t>
              </a:r>
            </a:p>
            <a:p>
              <a:pPr marL="0" lvl="0" indent="0" algn="ctr" rtl="0">
                <a:spcBef>
                  <a:spcPts val="0"/>
                </a:spcBef>
                <a:spcAft>
                  <a:spcPts val="0"/>
                </a:spcAft>
                <a:buNone/>
              </a:pPr>
              <a:endParaRPr sz="1800" b="1" dirty="0">
                <a:solidFill>
                  <a:srgbClr val="000000"/>
                </a:solidFill>
                <a:latin typeface="Fira Sans Extra Condensed"/>
                <a:ea typeface="Fira Sans Extra Condensed"/>
                <a:cs typeface="Fira Sans Extra Condensed"/>
                <a:sym typeface="Fira Sans Extra Condensed"/>
              </a:endParaRPr>
            </a:p>
          </p:txBody>
        </p:sp>
        <p:sp>
          <p:nvSpPr>
            <p:cNvPr id="581" name="Google Shape;581;p20"/>
            <p:cNvSpPr txBox="1"/>
            <p:nvPr/>
          </p:nvSpPr>
          <p:spPr>
            <a:xfrm>
              <a:off x="132037" y="4044708"/>
              <a:ext cx="2404758" cy="588900"/>
            </a:xfrm>
            <a:prstGeom prst="rect">
              <a:avLst/>
            </a:prstGeom>
            <a:noFill/>
            <a:ln>
              <a:noFill/>
            </a:ln>
          </p:spPr>
          <p:txBody>
            <a:bodyPr spcFirstLastPara="1" wrap="square" lIns="91425" tIns="91425" rIns="91425" bIns="91425" anchor="ctr" anchorCtr="0">
              <a:noAutofit/>
            </a:bodyPr>
            <a:lstStyle/>
            <a:p>
              <a:pPr algn="ctr"/>
              <a:r>
                <a:rPr lang="en-US" sz="1200" dirty="0" err="1">
                  <a:latin typeface="Roboto"/>
                  <a:ea typeface="Roboto"/>
                  <a:cs typeface="Roboto"/>
                </a:rPr>
                <a:t>Génération</a:t>
              </a:r>
              <a:r>
                <a:rPr lang="en-US" sz="1200" dirty="0">
                  <a:latin typeface="Roboto"/>
                  <a:ea typeface="Roboto"/>
                  <a:cs typeface="Roboto"/>
                </a:rPr>
                <a:t> de résumés et de justifications </a:t>
              </a:r>
              <a:r>
                <a:rPr lang="en-US" sz="1200" dirty="0" err="1">
                  <a:latin typeface="Roboto"/>
                  <a:ea typeface="Roboto"/>
                  <a:cs typeface="Roboto"/>
                </a:rPr>
                <a:t>claires</a:t>
              </a:r>
              <a:r>
                <a:rPr lang="en-US" sz="1200" dirty="0">
                  <a:latin typeface="Roboto"/>
                  <a:ea typeface="Roboto"/>
                  <a:cs typeface="Roboto"/>
                </a:rPr>
                <a:t> pour </a:t>
              </a:r>
              <a:r>
                <a:rPr lang="en-US" sz="1200" dirty="0" err="1">
                  <a:latin typeface="Roboto"/>
                  <a:ea typeface="Roboto"/>
                  <a:cs typeface="Roboto"/>
                </a:rPr>
                <a:t>chaque</a:t>
              </a:r>
              <a:r>
                <a:rPr lang="en-US" sz="1200" dirty="0">
                  <a:latin typeface="Roboto"/>
                  <a:ea typeface="Roboto"/>
                  <a:cs typeface="Roboto"/>
                </a:rPr>
                <a:t> </a:t>
              </a:r>
              <a:r>
                <a:rPr lang="en-US" sz="1200" dirty="0" err="1">
                  <a:latin typeface="Roboto"/>
                  <a:ea typeface="Roboto"/>
                  <a:cs typeface="Roboto"/>
                </a:rPr>
                <a:t>décision</a:t>
              </a:r>
              <a:r>
                <a:rPr lang="en-US" sz="1200" dirty="0">
                  <a:latin typeface="Roboto"/>
                  <a:ea typeface="Roboto"/>
                  <a:cs typeface="Roboto"/>
                </a:rPr>
                <a:t> de </a:t>
              </a:r>
              <a:r>
                <a:rPr lang="en-US" sz="1200" dirty="0" err="1">
                  <a:latin typeface="Roboto"/>
                  <a:ea typeface="Roboto"/>
                  <a:cs typeface="Roboto"/>
                </a:rPr>
                <a:t>recrutement</a:t>
              </a:r>
              <a:r>
                <a:rPr lang="en-US" sz="1200" dirty="0">
                  <a:latin typeface="Roboto"/>
                  <a:ea typeface="Roboto"/>
                  <a:cs typeface="Roboto"/>
                </a:rPr>
                <a:t>, renforçant la transparence.</a:t>
              </a:r>
            </a:p>
          </p:txBody>
        </p:sp>
      </p:grpSp>
      <p:cxnSp>
        <p:nvCxnSpPr>
          <p:cNvPr id="582" name="Google Shape;582;p20"/>
          <p:cNvCxnSpPr>
            <a:cxnSpLocks/>
            <a:stCxn id="560" idx="2"/>
            <a:endCxn id="575" idx="6"/>
          </p:cNvCxnSpPr>
          <p:nvPr/>
        </p:nvCxnSpPr>
        <p:spPr>
          <a:xfrm rot="10800000" flipV="1">
            <a:off x="1626303" y="1298869"/>
            <a:ext cx="2374632" cy="5163"/>
          </a:xfrm>
          <a:prstGeom prst="bentConnector3">
            <a:avLst>
              <a:gd name="adj1" fmla="val 50000"/>
            </a:avLst>
          </a:prstGeom>
          <a:noFill/>
          <a:ln w="9525" cap="flat" cmpd="sng">
            <a:solidFill>
              <a:schemeClr val="dk2"/>
            </a:solidFill>
            <a:prstDash val="solid"/>
            <a:round/>
            <a:headEnd type="oval" w="med" len="med"/>
            <a:tailEnd type="none" w="med" len="med"/>
          </a:ln>
        </p:spPr>
      </p:cxnSp>
      <p:cxnSp>
        <p:nvCxnSpPr>
          <p:cNvPr id="583" name="Google Shape;583;p20"/>
          <p:cNvCxnSpPr>
            <a:cxnSpLocks/>
            <a:stCxn id="579" idx="6"/>
            <a:endCxn id="530" idx="2"/>
          </p:cNvCxnSpPr>
          <p:nvPr/>
        </p:nvCxnSpPr>
        <p:spPr>
          <a:xfrm flipV="1">
            <a:off x="1626303" y="3153758"/>
            <a:ext cx="1151645" cy="191167"/>
          </a:xfrm>
          <a:prstGeom prst="bentConnector3">
            <a:avLst>
              <a:gd name="adj1" fmla="val 50000"/>
            </a:avLst>
          </a:prstGeom>
          <a:noFill/>
          <a:ln w="9525" cap="flat" cmpd="sng">
            <a:solidFill>
              <a:schemeClr val="dk2"/>
            </a:solidFill>
            <a:prstDash val="solid"/>
            <a:round/>
            <a:headEnd type="none" w="med" len="med"/>
            <a:tailEnd type="oval" w="med" len="med"/>
          </a:ln>
        </p:spPr>
      </p:cxnSp>
      <p:cxnSp>
        <p:nvCxnSpPr>
          <p:cNvPr id="584" name="Google Shape;584;p20"/>
          <p:cNvCxnSpPr>
            <a:cxnSpLocks/>
            <a:stCxn id="571" idx="2"/>
            <a:endCxn id="531" idx="6"/>
          </p:cNvCxnSpPr>
          <p:nvPr/>
        </p:nvCxnSpPr>
        <p:spPr>
          <a:xfrm rot="10800000" flipV="1">
            <a:off x="6184210" y="1304033"/>
            <a:ext cx="1330420" cy="728350"/>
          </a:xfrm>
          <a:prstGeom prst="bentConnector3">
            <a:avLst>
              <a:gd name="adj1" fmla="val 80001"/>
            </a:avLst>
          </a:prstGeom>
          <a:noFill/>
          <a:ln w="9525" cap="flat" cmpd="sng">
            <a:solidFill>
              <a:schemeClr val="dk2"/>
            </a:solidFill>
            <a:prstDash val="solid"/>
            <a:round/>
            <a:headEnd type="none" w="med" len="med"/>
            <a:tailEnd type="oval" w="med" len="med"/>
          </a:ln>
        </p:spPr>
      </p:cxnSp>
      <p:cxnSp>
        <p:nvCxnSpPr>
          <p:cNvPr id="585" name="Google Shape;585;p20"/>
          <p:cNvCxnSpPr>
            <a:stCxn id="567" idx="2"/>
            <a:endCxn id="561" idx="6"/>
          </p:cNvCxnSpPr>
          <p:nvPr/>
        </p:nvCxnSpPr>
        <p:spPr>
          <a:xfrm rot="10800000" flipV="1">
            <a:off x="4953518" y="3344925"/>
            <a:ext cx="2561112" cy="494798"/>
          </a:xfrm>
          <a:prstGeom prst="bentConnector3">
            <a:avLst>
              <a:gd name="adj1" fmla="val 50000"/>
            </a:avLst>
          </a:prstGeom>
          <a:noFill/>
          <a:ln w="9525" cap="flat" cmpd="sng">
            <a:solidFill>
              <a:schemeClr val="dk2"/>
            </a:solidFill>
            <a:prstDash val="solid"/>
            <a:roun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11">
          <a:extLst>
            <a:ext uri="{FF2B5EF4-FFF2-40B4-BE49-F238E27FC236}">
              <a16:creationId xmlns:a16="http://schemas.microsoft.com/office/drawing/2014/main" id="{E137C877-C425-339A-4D3D-DE5FBD59F344}"/>
            </a:ext>
          </a:extLst>
        </p:cNvPr>
        <p:cNvGrpSpPr/>
        <p:nvPr/>
      </p:nvGrpSpPr>
      <p:grpSpPr>
        <a:xfrm>
          <a:off x="0" y="0"/>
          <a:ext cx="0" cy="0"/>
          <a:chOff x="0" y="0"/>
          <a:chExt cx="0" cy="0"/>
        </a:xfrm>
      </p:grpSpPr>
      <p:sp>
        <p:nvSpPr>
          <p:cNvPr id="2312" name="Google Shape;2312;p45">
            <a:extLst>
              <a:ext uri="{FF2B5EF4-FFF2-40B4-BE49-F238E27FC236}">
                <a16:creationId xmlns:a16="http://schemas.microsoft.com/office/drawing/2014/main" id="{2CC761C1-4522-F717-C9DB-BC1E13DCB090}"/>
              </a:ext>
            </a:extLst>
          </p:cNvPr>
          <p:cNvSpPr/>
          <p:nvPr/>
        </p:nvSpPr>
        <p:spPr>
          <a:xfrm>
            <a:off x="4738915" y="2034580"/>
            <a:ext cx="3824514" cy="614277"/>
          </a:xfrm>
          <a:prstGeom prst="roundRect">
            <a:avLst>
              <a:gd name="adj" fmla="val 16667"/>
            </a:avLst>
          </a:prstGeom>
          <a:solidFill>
            <a:srgbClr val="E99B27">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5">
            <a:extLst>
              <a:ext uri="{FF2B5EF4-FFF2-40B4-BE49-F238E27FC236}">
                <a16:creationId xmlns:a16="http://schemas.microsoft.com/office/drawing/2014/main" id="{96275FB5-E598-9BB6-368A-BB602BD430F6}"/>
              </a:ext>
            </a:extLst>
          </p:cNvPr>
          <p:cNvSpPr/>
          <p:nvPr/>
        </p:nvSpPr>
        <p:spPr>
          <a:xfrm>
            <a:off x="4738656" y="3979495"/>
            <a:ext cx="3824514" cy="614277"/>
          </a:xfrm>
          <a:prstGeom prst="roundRect">
            <a:avLst>
              <a:gd name="adj" fmla="val 16667"/>
            </a:avLst>
          </a:prstGeom>
          <a:solidFill>
            <a:srgbClr val="EA4827">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5">
            <a:extLst>
              <a:ext uri="{FF2B5EF4-FFF2-40B4-BE49-F238E27FC236}">
                <a16:creationId xmlns:a16="http://schemas.microsoft.com/office/drawing/2014/main" id="{DDFAC2C4-0EA7-2CAC-57BC-C45C6BFF7BF6}"/>
              </a:ext>
            </a:extLst>
          </p:cNvPr>
          <p:cNvSpPr/>
          <p:nvPr/>
        </p:nvSpPr>
        <p:spPr>
          <a:xfrm>
            <a:off x="653184" y="2034580"/>
            <a:ext cx="3621274" cy="614277"/>
          </a:xfrm>
          <a:prstGeom prst="roundRect">
            <a:avLst>
              <a:gd name="adj" fmla="val 16667"/>
            </a:avLst>
          </a:prstGeom>
          <a:solidFill>
            <a:srgbClr val="E4EA27">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5" name="Google Shape;2315;p45">
            <a:extLst>
              <a:ext uri="{FF2B5EF4-FFF2-40B4-BE49-F238E27FC236}">
                <a16:creationId xmlns:a16="http://schemas.microsoft.com/office/drawing/2014/main" id="{D48E9CBA-DEEB-B3B1-98BE-880195BEC484}"/>
              </a:ext>
            </a:extLst>
          </p:cNvPr>
          <p:cNvSpPr txBox="1">
            <a:spLocks noGrp="1"/>
          </p:cNvSpPr>
          <p:nvPr>
            <p:ph type="title"/>
          </p:nvPr>
        </p:nvSpPr>
        <p:spPr>
          <a:xfrm>
            <a:off x="457200" y="275019"/>
            <a:ext cx="8229600" cy="371400"/>
          </a:xfrm>
          <a:prstGeom prst="rect">
            <a:avLst/>
          </a:prstGeom>
        </p:spPr>
        <p:txBody>
          <a:bodyPr spcFirstLastPara="1" wrap="square" lIns="91425" tIns="91425" rIns="91425" bIns="91425" anchor="ctr" anchorCtr="0">
            <a:noAutofit/>
          </a:bodyPr>
          <a:lstStyle/>
          <a:p>
            <a:pPr algn="l"/>
            <a:r>
              <a:rPr lang="en-US" sz="2400" dirty="0">
                <a:solidFill>
                  <a:srgbClr val="1D1D1B"/>
                </a:solidFill>
                <a:latin typeface="Tomorrow Semi Bold" pitchFamily="34" charset="0"/>
                <a:ea typeface="Tomorrow Semi Bold" pitchFamily="34" charset="-122"/>
              </a:rPr>
              <a:t>Concepts </a:t>
            </a:r>
            <a:r>
              <a:rPr lang="en-US" sz="2400" dirty="0" err="1">
                <a:solidFill>
                  <a:srgbClr val="1D1D1B"/>
                </a:solidFill>
                <a:latin typeface="Tomorrow Semi Bold" pitchFamily="34" charset="0"/>
                <a:ea typeface="Tomorrow Semi Bold" pitchFamily="34" charset="-122"/>
              </a:rPr>
              <a:t>Clés</a:t>
            </a:r>
            <a:r>
              <a:rPr lang="en-US" sz="2400" dirty="0">
                <a:solidFill>
                  <a:srgbClr val="1D1D1B"/>
                </a:solidFill>
                <a:latin typeface="Tomorrow Semi Bold" pitchFamily="34" charset="0"/>
                <a:ea typeface="Tomorrow Semi Bold" pitchFamily="34" charset="-122"/>
              </a:rPr>
              <a:t> : Les </a:t>
            </a:r>
            <a:r>
              <a:rPr lang="en-US" sz="2400" dirty="0" err="1">
                <a:solidFill>
                  <a:srgbClr val="1D1D1B"/>
                </a:solidFill>
                <a:latin typeface="Tomorrow Semi Bold" pitchFamily="34" charset="0"/>
                <a:ea typeface="Tomorrow Semi Bold" pitchFamily="34" charset="-122"/>
              </a:rPr>
              <a:t>Piliers</a:t>
            </a:r>
            <a:r>
              <a:rPr lang="en-US" sz="2400" dirty="0">
                <a:solidFill>
                  <a:srgbClr val="1D1D1B"/>
                </a:solidFill>
                <a:latin typeface="Tomorrow Semi Bold" pitchFamily="34" charset="0"/>
                <a:ea typeface="Tomorrow Semi Bold" pitchFamily="34" charset="-122"/>
              </a:rPr>
              <a:t> de Notre Système</a:t>
            </a:r>
          </a:p>
        </p:txBody>
      </p:sp>
      <p:grpSp>
        <p:nvGrpSpPr>
          <p:cNvPr id="2316" name="Google Shape;2316;p45">
            <a:extLst>
              <a:ext uri="{FF2B5EF4-FFF2-40B4-BE49-F238E27FC236}">
                <a16:creationId xmlns:a16="http://schemas.microsoft.com/office/drawing/2014/main" id="{68C48AC1-F48F-D738-7524-05C50B815F01}"/>
              </a:ext>
            </a:extLst>
          </p:cNvPr>
          <p:cNvGrpSpPr/>
          <p:nvPr/>
        </p:nvGrpSpPr>
        <p:grpSpPr>
          <a:xfrm>
            <a:off x="4689129" y="3427935"/>
            <a:ext cx="3923567" cy="1036098"/>
            <a:chOff x="6573957" y="1020022"/>
            <a:chExt cx="3923567" cy="1036098"/>
          </a:xfrm>
        </p:grpSpPr>
        <p:sp>
          <p:nvSpPr>
            <p:cNvPr id="2317" name="Google Shape;2317;p45">
              <a:extLst>
                <a:ext uri="{FF2B5EF4-FFF2-40B4-BE49-F238E27FC236}">
                  <a16:creationId xmlns:a16="http://schemas.microsoft.com/office/drawing/2014/main" id="{48124C33-0064-BF82-D204-55FEABEB6A86}"/>
                </a:ext>
              </a:extLst>
            </p:cNvPr>
            <p:cNvSpPr/>
            <p:nvPr/>
          </p:nvSpPr>
          <p:spPr>
            <a:xfrm>
              <a:off x="6844825" y="1020022"/>
              <a:ext cx="3381829" cy="3714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algn="ctr"/>
              <a:r>
                <a:rPr lang="en-US" sz="1600" b="1" dirty="0">
                  <a:solidFill>
                    <a:schemeClr val="lt1"/>
                  </a:solidFill>
                  <a:latin typeface="Fira Sans Extra Condensed"/>
                </a:rPr>
                <a:t>Retrieval-Augmented Generation (RAG)</a:t>
              </a:r>
            </a:p>
          </p:txBody>
        </p:sp>
        <p:sp>
          <p:nvSpPr>
            <p:cNvPr id="2319" name="Google Shape;2319;p45">
              <a:extLst>
                <a:ext uri="{FF2B5EF4-FFF2-40B4-BE49-F238E27FC236}">
                  <a16:creationId xmlns:a16="http://schemas.microsoft.com/office/drawing/2014/main" id="{FBC31F7D-37DD-6766-8BBC-4BD5FA4A468D}"/>
                </a:ext>
              </a:extLst>
            </p:cNvPr>
            <p:cNvSpPr txBox="1"/>
            <p:nvPr/>
          </p:nvSpPr>
          <p:spPr>
            <a:xfrm>
              <a:off x="6573957" y="1724320"/>
              <a:ext cx="3923567" cy="331800"/>
            </a:xfrm>
            <a:prstGeom prst="rect">
              <a:avLst/>
            </a:prstGeom>
            <a:noFill/>
            <a:ln>
              <a:noFill/>
            </a:ln>
          </p:spPr>
          <p:txBody>
            <a:bodyPr spcFirstLastPara="1" wrap="square" lIns="91425" tIns="91425" rIns="91425" bIns="91425" anchor="ctr" anchorCtr="0">
              <a:noAutofit/>
            </a:bodyPr>
            <a:lstStyle/>
            <a:p>
              <a:pPr algn="ctr"/>
              <a:r>
                <a:rPr lang="en-US" dirty="0" err="1">
                  <a:latin typeface="Roboto"/>
                  <a:ea typeface="Roboto"/>
                  <a:cs typeface="Roboto"/>
                </a:rPr>
                <a:t>Combinaison</a:t>
              </a:r>
              <a:r>
                <a:rPr lang="en-US" dirty="0">
                  <a:latin typeface="Roboto"/>
                  <a:ea typeface="Roboto"/>
                  <a:cs typeface="Roboto"/>
                </a:rPr>
                <a:t> de la recherche </a:t>
              </a:r>
              <a:r>
                <a:rPr lang="en-US" dirty="0" err="1">
                  <a:latin typeface="Roboto"/>
                  <a:ea typeface="Roboto"/>
                  <a:cs typeface="Roboto"/>
                </a:rPr>
                <a:t>d'informations</a:t>
              </a:r>
              <a:r>
                <a:rPr lang="en-US" dirty="0">
                  <a:latin typeface="Roboto"/>
                  <a:ea typeface="Roboto"/>
                  <a:cs typeface="Roboto"/>
                </a:rPr>
                <a:t> et de la </a:t>
              </a:r>
              <a:r>
                <a:rPr lang="en-US" dirty="0" err="1">
                  <a:latin typeface="Roboto"/>
                  <a:ea typeface="Roboto"/>
                  <a:cs typeface="Roboto"/>
                </a:rPr>
                <a:t>génération</a:t>
              </a:r>
              <a:r>
                <a:rPr lang="en-US" dirty="0">
                  <a:latin typeface="Roboto"/>
                  <a:ea typeface="Roboto"/>
                  <a:cs typeface="Roboto"/>
                </a:rPr>
                <a:t> de </a:t>
              </a:r>
              <a:r>
                <a:rPr lang="en-US" dirty="0" err="1">
                  <a:latin typeface="Roboto"/>
                  <a:ea typeface="Roboto"/>
                  <a:cs typeface="Roboto"/>
                </a:rPr>
                <a:t>texte</a:t>
              </a:r>
              <a:r>
                <a:rPr lang="en-US" dirty="0">
                  <a:latin typeface="Roboto"/>
                  <a:ea typeface="Roboto"/>
                  <a:cs typeface="Roboto"/>
                </a:rPr>
                <a:t>.</a:t>
              </a:r>
            </a:p>
          </p:txBody>
        </p:sp>
      </p:grpSp>
      <p:grpSp>
        <p:nvGrpSpPr>
          <p:cNvPr id="2320" name="Google Shape;2320;p45">
            <a:extLst>
              <a:ext uri="{FF2B5EF4-FFF2-40B4-BE49-F238E27FC236}">
                <a16:creationId xmlns:a16="http://schemas.microsoft.com/office/drawing/2014/main" id="{BDC3D691-FB42-8B4A-3B14-1B6F4A4EBEAA}"/>
              </a:ext>
            </a:extLst>
          </p:cNvPr>
          <p:cNvGrpSpPr/>
          <p:nvPr/>
        </p:nvGrpSpPr>
        <p:grpSpPr>
          <a:xfrm>
            <a:off x="4738656" y="1425497"/>
            <a:ext cx="3824514" cy="1082121"/>
            <a:chOff x="3411499" y="745702"/>
            <a:chExt cx="3824514" cy="1082121"/>
          </a:xfrm>
        </p:grpSpPr>
        <p:sp>
          <p:nvSpPr>
            <p:cNvPr id="2321" name="Google Shape;2321;p45">
              <a:extLst>
                <a:ext uri="{FF2B5EF4-FFF2-40B4-BE49-F238E27FC236}">
                  <a16:creationId xmlns:a16="http://schemas.microsoft.com/office/drawing/2014/main" id="{C5FAFE86-9C09-A2EE-9080-D3B200D9CD14}"/>
                </a:ext>
              </a:extLst>
            </p:cNvPr>
            <p:cNvSpPr/>
            <p:nvPr/>
          </p:nvSpPr>
          <p:spPr>
            <a:xfrm>
              <a:off x="3956957" y="745702"/>
              <a:ext cx="2430399" cy="371400"/>
            </a:xfrm>
            <a:prstGeom prst="roundRect">
              <a:avLst>
                <a:gd name="adj" fmla="val 16667"/>
              </a:avLst>
            </a:prstGeom>
            <a:solidFill>
              <a:schemeClr val="accent4"/>
            </a:solidFill>
            <a:ln>
              <a:noFill/>
            </a:ln>
          </p:spPr>
          <p:txBody>
            <a:bodyPr spcFirstLastPara="1" wrap="square" lIns="91425" tIns="91425" rIns="91425" bIns="91425" anchor="ctr" anchorCtr="0">
              <a:noAutofit/>
            </a:bodyPr>
            <a:lstStyle/>
            <a:p>
              <a:pPr algn="ctr">
                <a:lnSpc>
                  <a:spcPct val="300000"/>
                </a:lnSpc>
              </a:pPr>
              <a:r>
                <a:rPr lang="en-US" sz="1800" b="1" dirty="0" err="1">
                  <a:solidFill>
                    <a:schemeClr val="lt1"/>
                  </a:solidFill>
                  <a:latin typeface="Fira Sans Extra Condensed"/>
                </a:rPr>
                <a:t>Systèmes</a:t>
              </a:r>
              <a:r>
                <a:rPr lang="en-US" sz="1800" b="1" dirty="0">
                  <a:solidFill>
                    <a:schemeClr val="lt1"/>
                  </a:solidFill>
                  <a:latin typeface="Fira Sans Extra Condensed"/>
                </a:rPr>
                <a:t> Multi-Agents</a:t>
              </a:r>
            </a:p>
            <a:p>
              <a:pPr marL="0" lvl="0" indent="0" algn="ctr" rtl="0">
                <a:spcBef>
                  <a:spcPts val="0"/>
                </a:spcBef>
                <a:spcAft>
                  <a:spcPts val="0"/>
                </a:spcAft>
                <a:buNone/>
              </a:pPr>
              <a:endParaRPr sz="1800" b="1" dirty="0">
                <a:solidFill>
                  <a:schemeClr val="lt1"/>
                </a:solidFill>
                <a:latin typeface="Fira Sans Extra Condensed"/>
                <a:ea typeface="Fira Sans Extra Condensed"/>
                <a:cs typeface="Fira Sans Extra Condensed"/>
                <a:sym typeface="Fira Sans Extra Condensed"/>
              </a:endParaRPr>
            </a:p>
          </p:txBody>
        </p:sp>
        <p:sp>
          <p:nvSpPr>
            <p:cNvPr id="2323" name="Google Shape;2323;p45">
              <a:extLst>
                <a:ext uri="{FF2B5EF4-FFF2-40B4-BE49-F238E27FC236}">
                  <a16:creationId xmlns:a16="http://schemas.microsoft.com/office/drawing/2014/main" id="{68C66CBE-3E43-203F-859B-01B6D09A0064}"/>
                </a:ext>
              </a:extLst>
            </p:cNvPr>
            <p:cNvSpPr txBox="1"/>
            <p:nvPr/>
          </p:nvSpPr>
          <p:spPr>
            <a:xfrm>
              <a:off x="3411499" y="1496023"/>
              <a:ext cx="3824514" cy="331800"/>
            </a:xfrm>
            <a:prstGeom prst="rect">
              <a:avLst/>
            </a:prstGeom>
            <a:noFill/>
            <a:ln>
              <a:noFill/>
            </a:ln>
          </p:spPr>
          <p:txBody>
            <a:bodyPr spcFirstLastPara="1" wrap="square" lIns="91425" tIns="91425" rIns="91425" bIns="91425" anchor="ctr" anchorCtr="0">
              <a:noAutofit/>
            </a:bodyPr>
            <a:lstStyle/>
            <a:p>
              <a:pPr algn="ctr"/>
              <a:r>
                <a:rPr lang="en-US" dirty="0" err="1">
                  <a:latin typeface="Roboto"/>
                  <a:ea typeface="Roboto"/>
                  <a:cs typeface="Roboto"/>
                </a:rPr>
                <a:t>Entités</a:t>
              </a:r>
              <a:r>
                <a:rPr lang="en-US" dirty="0">
                  <a:latin typeface="Roboto"/>
                  <a:ea typeface="Roboto"/>
                  <a:cs typeface="Roboto"/>
                </a:rPr>
                <a:t> </a:t>
              </a:r>
              <a:r>
                <a:rPr lang="en-US" dirty="0" err="1">
                  <a:latin typeface="Roboto"/>
                  <a:ea typeface="Roboto"/>
                  <a:cs typeface="Roboto"/>
                </a:rPr>
                <a:t>autonomes</a:t>
              </a:r>
              <a:r>
                <a:rPr lang="en-US" dirty="0">
                  <a:latin typeface="Roboto"/>
                  <a:ea typeface="Roboto"/>
                  <a:cs typeface="Roboto"/>
                </a:rPr>
                <a:t> </a:t>
              </a:r>
              <a:r>
                <a:rPr lang="en-US" dirty="0" err="1">
                  <a:latin typeface="Roboto"/>
                  <a:ea typeface="Roboto"/>
                  <a:cs typeface="Roboto"/>
                </a:rPr>
                <a:t>collaborant</a:t>
              </a:r>
              <a:r>
                <a:rPr lang="en-US" dirty="0">
                  <a:latin typeface="Roboto"/>
                  <a:ea typeface="Roboto"/>
                  <a:cs typeface="Roboto"/>
                </a:rPr>
                <a:t> pour </a:t>
              </a:r>
              <a:r>
                <a:rPr lang="en-US" dirty="0" err="1">
                  <a:latin typeface="Roboto"/>
                  <a:ea typeface="Roboto"/>
                  <a:cs typeface="Roboto"/>
                </a:rPr>
                <a:t>résoudre</a:t>
              </a:r>
              <a:r>
                <a:rPr lang="en-US" dirty="0">
                  <a:latin typeface="Roboto"/>
                  <a:ea typeface="Roboto"/>
                  <a:cs typeface="Roboto"/>
                </a:rPr>
                <a:t> un </a:t>
              </a:r>
              <a:r>
                <a:rPr lang="en-US" dirty="0" err="1">
                  <a:latin typeface="Roboto"/>
                  <a:ea typeface="Roboto"/>
                  <a:cs typeface="Roboto"/>
                </a:rPr>
                <a:t>problème</a:t>
              </a:r>
              <a:r>
                <a:rPr lang="en-US" dirty="0">
                  <a:latin typeface="Roboto"/>
                  <a:ea typeface="Roboto"/>
                  <a:cs typeface="Roboto"/>
                </a:rPr>
                <a:t> </a:t>
              </a:r>
              <a:r>
                <a:rPr lang="en-US" dirty="0" err="1">
                  <a:latin typeface="Roboto"/>
                  <a:ea typeface="Roboto"/>
                  <a:cs typeface="Roboto"/>
                </a:rPr>
                <a:t>complexe</a:t>
              </a:r>
              <a:r>
                <a:rPr lang="en-US" dirty="0">
                  <a:latin typeface="Roboto"/>
                  <a:ea typeface="Roboto"/>
                  <a:cs typeface="Roboto"/>
                </a:rPr>
                <a:t>.</a:t>
              </a:r>
            </a:p>
          </p:txBody>
        </p:sp>
      </p:grpSp>
      <p:grpSp>
        <p:nvGrpSpPr>
          <p:cNvPr id="2324" name="Google Shape;2324;p45">
            <a:extLst>
              <a:ext uri="{FF2B5EF4-FFF2-40B4-BE49-F238E27FC236}">
                <a16:creationId xmlns:a16="http://schemas.microsoft.com/office/drawing/2014/main" id="{E223C582-A90D-042C-D4D1-2A065D251F94}"/>
              </a:ext>
            </a:extLst>
          </p:cNvPr>
          <p:cNvGrpSpPr/>
          <p:nvPr/>
        </p:nvGrpSpPr>
        <p:grpSpPr>
          <a:xfrm>
            <a:off x="379641" y="1425497"/>
            <a:ext cx="4035640" cy="1075698"/>
            <a:chOff x="255626" y="659167"/>
            <a:chExt cx="4035640" cy="1075698"/>
          </a:xfrm>
        </p:grpSpPr>
        <p:sp>
          <p:nvSpPr>
            <p:cNvPr id="2326" name="Google Shape;2326;p45">
              <a:extLst>
                <a:ext uri="{FF2B5EF4-FFF2-40B4-BE49-F238E27FC236}">
                  <a16:creationId xmlns:a16="http://schemas.microsoft.com/office/drawing/2014/main" id="{24832F62-FDBF-3253-7772-E4A4E2E1D95B}"/>
                </a:ext>
              </a:extLst>
            </p:cNvPr>
            <p:cNvSpPr txBox="1"/>
            <p:nvPr/>
          </p:nvSpPr>
          <p:spPr>
            <a:xfrm>
              <a:off x="255626" y="1403065"/>
              <a:ext cx="4035640" cy="331800"/>
            </a:xfrm>
            <a:prstGeom prst="rect">
              <a:avLst/>
            </a:prstGeom>
            <a:noFill/>
            <a:ln>
              <a:noFill/>
            </a:ln>
          </p:spPr>
          <p:txBody>
            <a:bodyPr spcFirstLastPara="1" wrap="square" lIns="91425" tIns="91425" rIns="91425" bIns="91425" anchor="ctr" anchorCtr="0">
              <a:noAutofit/>
            </a:bodyPr>
            <a:lstStyle/>
            <a:p>
              <a:pPr algn="ctr"/>
              <a:r>
                <a:rPr lang="en-US" dirty="0" err="1">
                  <a:latin typeface="Roboto"/>
                  <a:ea typeface="Roboto"/>
                  <a:cs typeface="Roboto"/>
                </a:rPr>
                <a:t>Algorithmes</a:t>
              </a:r>
              <a:r>
                <a:rPr lang="en-US" dirty="0">
                  <a:latin typeface="Roboto"/>
                  <a:ea typeface="Roboto"/>
                  <a:cs typeface="Roboto"/>
                </a:rPr>
                <a:t> </a:t>
              </a:r>
              <a:r>
                <a:rPr lang="en-US" dirty="0" err="1">
                  <a:latin typeface="Roboto"/>
                  <a:ea typeface="Roboto"/>
                  <a:cs typeface="Roboto"/>
                </a:rPr>
                <a:t>apprenant</a:t>
              </a:r>
              <a:r>
                <a:rPr lang="en-US" dirty="0">
                  <a:latin typeface="Roboto"/>
                  <a:ea typeface="Roboto"/>
                  <a:cs typeface="Roboto"/>
                </a:rPr>
                <a:t> des données pour </a:t>
              </a:r>
              <a:r>
                <a:rPr lang="en-US" dirty="0" err="1">
                  <a:latin typeface="Roboto"/>
                  <a:ea typeface="Roboto"/>
                  <a:cs typeface="Roboto"/>
                </a:rPr>
                <a:t>prédire</a:t>
              </a:r>
              <a:r>
                <a:rPr lang="en-US" dirty="0">
                  <a:latin typeface="Roboto"/>
                  <a:ea typeface="Roboto"/>
                  <a:cs typeface="Roboto"/>
                </a:rPr>
                <a:t> et classer.</a:t>
              </a:r>
            </a:p>
          </p:txBody>
        </p:sp>
        <p:sp>
          <p:nvSpPr>
            <p:cNvPr id="2327" name="Google Shape;2327;p45">
              <a:extLst>
                <a:ext uri="{FF2B5EF4-FFF2-40B4-BE49-F238E27FC236}">
                  <a16:creationId xmlns:a16="http://schemas.microsoft.com/office/drawing/2014/main" id="{0FE9BB97-0E3B-B7D8-3FFE-0C42C9D82D45}"/>
                </a:ext>
              </a:extLst>
            </p:cNvPr>
            <p:cNvSpPr/>
            <p:nvPr/>
          </p:nvSpPr>
          <p:spPr>
            <a:xfrm>
              <a:off x="1244747" y="659167"/>
              <a:ext cx="2004593" cy="3714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algn="ctr"/>
              <a:r>
                <a:rPr lang="en-US" sz="1800" b="1" dirty="0">
                  <a:solidFill>
                    <a:schemeClr val="lt1"/>
                  </a:solidFill>
                  <a:latin typeface="Fira Sans Extra Condensed"/>
                </a:rPr>
                <a:t>Machine Learning</a:t>
              </a:r>
            </a:p>
          </p:txBody>
        </p:sp>
      </p:grpSp>
      <p:sp>
        <p:nvSpPr>
          <p:cNvPr id="2329" name="Google Shape;2329;p45">
            <a:extLst>
              <a:ext uri="{FF2B5EF4-FFF2-40B4-BE49-F238E27FC236}">
                <a16:creationId xmlns:a16="http://schemas.microsoft.com/office/drawing/2014/main" id="{64A97EFE-2A6E-553F-9469-D68B2C0AFE84}"/>
              </a:ext>
            </a:extLst>
          </p:cNvPr>
          <p:cNvSpPr/>
          <p:nvPr/>
        </p:nvSpPr>
        <p:spPr>
          <a:xfrm>
            <a:off x="653183" y="3979495"/>
            <a:ext cx="3621274" cy="614277"/>
          </a:xfrm>
          <a:prstGeom prst="roundRect">
            <a:avLst>
              <a:gd name="adj" fmla="val 16667"/>
            </a:avLst>
          </a:prstGeom>
          <a:solidFill>
            <a:srgbClr val="8027EA">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34" name="Google Shape;2334;p45">
            <a:extLst>
              <a:ext uri="{FF2B5EF4-FFF2-40B4-BE49-F238E27FC236}">
                <a16:creationId xmlns:a16="http://schemas.microsoft.com/office/drawing/2014/main" id="{B76E33AE-ED87-13A5-C64C-71DF58AEF039}"/>
              </a:ext>
            </a:extLst>
          </p:cNvPr>
          <p:cNvGrpSpPr/>
          <p:nvPr/>
        </p:nvGrpSpPr>
        <p:grpSpPr>
          <a:xfrm>
            <a:off x="520917" y="3427935"/>
            <a:ext cx="3700282" cy="1036098"/>
            <a:chOff x="-6195" y="2970841"/>
            <a:chExt cx="3700282" cy="1036098"/>
          </a:xfrm>
        </p:grpSpPr>
        <p:sp>
          <p:nvSpPr>
            <p:cNvPr id="2336" name="Google Shape;2336;p45">
              <a:extLst>
                <a:ext uri="{FF2B5EF4-FFF2-40B4-BE49-F238E27FC236}">
                  <a16:creationId xmlns:a16="http://schemas.microsoft.com/office/drawing/2014/main" id="{E0A49035-0061-CC9D-2E94-174B0381E948}"/>
                </a:ext>
              </a:extLst>
            </p:cNvPr>
            <p:cNvSpPr txBox="1"/>
            <p:nvPr/>
          </p:nvSpPr>
          <p:spPr>
            <a:xfrm>
              <a:off x="-6195" y="3675139"/>
              <a:ext cx="3700282" cy="331800"/>
            </a:xfrm>
            <a:prstGeom prst="rect">
              <a:avLst/>
            </a:prstGeom>
            <a:noFill/>
            <a:ln>
              <a:noFill/>
            </a:ln>
          </p:spPr>
          <p:txBody>
            <a:bodyPr spcFirstLastPara="1" wrap="square" lIns="91425" tIns="91425" rIns="91425" bIns="91425" anchor="ctr" anchorCtr="0">
              <a:noAutofit/>
            </a:bodyPr>
            <a:lstStyle/>
            <a:p>
              <a:pPr marL="0" indent="0" algn="ctr">
                <a:buFont typeface="Arial"/>
                <a:buNone/>
              </a:pPr>
              <a:r>
                <a:rPr lang="en-US" dirty="0" err="1">
                  <a:latin typeface="Roboto"/>
                  <a:ea typeface="Roboto"/>
                  <a:cs typeface="Roboto"/>
                </a:rPr>
                <a:t>Méthodes</a:t>
              </a:r>
              <a:r>
                <a:rPr lang="en-US" dirty="0">
                  <a:latin typeface="Roboto"/>
                  <a:ea typeface="Roboto"/>
                  <a:cs typeface="Roboto"/>
                </a:rPr>
                <a:t> pour </a:t>
              </a:r>
              <a:r>
                <a:rPr lang="en-US" dirty="0" err="1">
                  <a:latin typeface="Roboto"/>
                  <a:ea typeface="Roboto"/>
                  <a:cs typeface="Roboto"/>
                </a:rPr>
                <a:t>comprendre</a:t>
              </a:r>
              <a:r>
                <a:rPr lang="en-US" dirty="0">
                  <a:latin typeface="Roboto"/>
                  <a:ea typeface="Roboto"/>
                  <a:cs typeface="Roboto"/>
                </a:rPr>
                <a:t> et </a:t>
              </a:r>
              <a:r>
                <a:rPr lang="en-US" dirty="0" err="1">
                  <a:latin typeface="Roboto"/>
                  <a:ea typeface="Roboto"/>
                  <a:cs typeface="Roboto"/>
                </a:rPr>
                <a:t>interpréter</a:t>
              </a:r>
              <a:r>
                <a:rPr lang="en-US" dirty="0">
                  <a:latin typeface="Roboto"/>
                  <a:ea typeface="Roboto"/>
                  <a:cs typeface="Roboto"/>
                </a:rPr>
                <a:t> les </a:t>
              </a:r>
              <a:r>
                <a:rPr lang="en-US" dirty="0" err="1">
                  <a:latin typeface="Roboto"/>
                  <a:ea typeface="Roboto"/>
                  <a:cs typeface="Roboto"/>
                </a:rPr>
                <a:t>décisions</a:t>
              </a:r>
              <a:r>
                <a:rPr lang="en-US" dirty="0">
                  <a:latin typeface="Roboto"/>
                  <a:ea typeface="Roboto"/>
                  <a:cs typeface="Roboto"/>
                </a:rPr>
                <a:t> de </a:t>
              </a:r>
              <a:r>
                <a:rPr lang="en-US" dirty="0" err="1">
                  <a:latin typeface="Roboto"/>
                  <a:ea typeface="Roboto"/>
                  <a:cs typeface="Roboto"/>
                </a:rPr>
                <a:t>l'IA</a:t>
              </a:r>
              <a:r>
                <a:rPr lang="en-US" dirty="0">
                  <a:latin typeface="Roboto"/>
                  <a:ea typeface="Roboto"/>
                  <a:cs typeface="Roboto"/>
                </a:rPr>
                <a:t>.</a:t>
              </a:r>
            </a:p>
          </p:txBody>
        </p:sp>
        <p:sp>
          <p:nvSpPr>
            <p:cNvPr id="2337" name="Google Shape;2337;p45">
              <a:extLst>
                <a:ext uri="{FF2B5EF4-FFF2-40B4-BE49-F238E27FC236}">
                  <a16:creationId xmlns:a16="http://schemas.microsoft.com/office/drawing/2014/main" id="{2EEFA4BF-11BB-DE52-CEDA-964EB0B09900}"/>
                </a:ext>
              </a:extLst>
            </p:cNvPr>
            <p:cNvSpPr/>
            <p:nvPr/>
          </p:nvSpPr>
          <p:spPr>
            <a:xfrm>
              <a:off x="841650" y="2970841"/>
              <a:ext cx="2057399" cy="371400"/>
            </a:xfrm>
            <a:prstGeom prst="roundRect">
              <a:avLst>
                <a:gd name="adj" fmla="val 16667"/>
              </a:avLst>
            </a:prstGeom>
            <a:solidFill>
              <a:schemeClr val="accent6"/>
            </a:solidFill>
            <a:ln>
              <a:noFill/>
            </a:ln>
          </p:spPr>
          <p:txBody>
            <a:bodyPr spcFirstLastPara="1" wrap="square" lIns="91425" tIns="91425" rIns="91425" bIns="91425" anchor="ctr" anchorCtr="0">
              <a:noAutofit/>
            </a:bodyPr>
            <a:lstStyle/>
            <a:p>
              <a:pPr marL="0" indent="0" algn="ctr">
                <a:buFont typeface="Arial"/>
                <a:buNone/>
              </a:pPr>
              <a:r>
                <a:rPr lang="en-US" sz="1800" b="1" dirty="0">
                  <a:solidFill>
                    <a:schemeClr val="lt1"/>
                  </a:solidFill>
                  <a:latin typeface="Fira Sans Extra Condensed"/>
                </a:rPr>
                <a:t>IA Explicable (XAI)</a:t>
              </a:r>
            </a:p>
          </p:txBody>
        </p:sp>
      </p:grpSp>
    </p:spTree>
    <p:extLst>
      <p:ext uri="{BB962C8B-B14F-4D97-AF65-F5344CB8AC3E}">
        <p14:creationId xmlns:p14="http://schemas.microsoft.com/office/powerpoint/2010/main" val="6783518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11">
          <a:extLst>
            <a:ext uri="{FF2B5EF4-FFF2-40B4-BE49-F238E27FC236}">
              <a16:creationId xmlns:a16="http://schemas.microsoft.com/office/drawing/2014/main" id="{DDC5CE6A-FD53-EBDF-54BE-64AA84583F08}"/>
            </a:ext>
          </a:extLst>
        </p:cNvPr>
        <p:cNvGrpSpPr/>
        <p:nvPr/>
      </p:nvGrpSpPr>
      <p:grpSpPr>
        <a:xfrm>
          <a:off x="0" y="0"/>
          <a:ext cx="0" cy="0"/>
          <a:chOff x="0" y="0"/>
          <a:chExt cx="0" cy="0"/>
        </a:xfrm>
      </p:grpSpPr>
      <p:sp>
        <p:nvSpPr>
          <p:cNvPr id="2315" name="Google Shape;2315;p45">
            <a:extLst>
              <a:ext uri="{FF2B5EF4-FFF2-40B4-BE49-F238E27FC236}">
                <a16:creationId xmlns:a16="http://schemas.microsoft.com/office/drawing/2014/main" id="{06320173-3F70-04BE-F26A-0B5211B0064C}"/>
              </a:ext>
            </a:extLst>
          </p:cNvPr>
          <p:cNvSpPr txBox="1">
            <a:spLocks noGrp="1"/>
          </p:cNvSpPr>
          <p:nvPr>
            <p:ph type="title"/>
          </p:nvPr>
        </p:nvSpPr>
        <p:spPr>
          <a:xfrm>
            <a:off x="457200" y="275019"/>
            <a:ext cx="8229600" cy="371400"/>
          </a:xfrm>
          <a:prstGeom prst="rect">
            <a:avLst/>
          </a:prstGeom>
        </p:spPr>
        <p:txBody>
          <a:bodyPr spcFirstLastPara="1" wrap="square" lIns="91425" tIns="91425" rIns="91425" bIns="91425" anchor="ctr" anchorCtr="0">
            <a:noAutofit/>
          </a:bodyPr>
          <a:lstStyle/>
          <a:p>
            <a:pPr algn="l"/>
            <a:r>
              <a:rPr lang="en-US" sz="2400" dirty="0">
                <a:solidFill>
                  <a:srgbClr val="1D1D1B"/>
                </a:solidFill>
                <a:latin typeface="Tomorrow Semi Bold" pitchFamily="34" charset="0"/>
                <a:ea typeface="Tomorrow Semi Bold" pitchFamily="34" charset="-122"/>
              </a:rPr>
              <a:t>Concept de Système Multi-Agents : La Collaboration au </a:t>
            </a:r>
            <a:r>
              <a:rPr lang="en-US" sz="2400" dirty="0" err="1">
                <a:solidFill>
                  <a:srgbClr val="1D1D1B"/>
                </a:solidFill>
                <a:latin typeface="Tomorrow Semi Bold" pitchFamily="34" charset="0"/>
                <a:ea typeface="Tomorrow Semi Bold" pitchFamily="34" charset="-122"/>
              </a:rPr>
              <a:t>Cœur</a:t>
            </a:r>
            <a:r>
              <a:rPr lang="en-US" sz="2400" dirty="0">
                <a:solidFill>
                  <a:srgbClr val="1D1D1B"/>
                </a:solidFill>
                <a:latin typeface="Tomorrow Semi Bold" pitchFamily="34" charset="0"/>
                <a:ea typeface="Tomorrow Semi Bold" pitchFamily="34" charset="-122"/>
              </a:rPr>
              <a:t> de la </a:t>
            </a:r>
            <a:r>
              <a:rPr lang="en-US" sz="2400" dirty="0" err="1">
                <a:solidFill>
                  <a:srgbClr val="1D1D1B"/>
                </a:solidFill>
                <a:latin typeface="Tomorrow Semi Bold" pitchFamily="34" charset="0"/>
                <a:ea typeface="Tomorrow Semi Bold" pitchFamily="34" charset="-122"/>
              </a:rPr>
              <a:t>Décision</a:t>
            </a:r>
            <a:endParaRPr lang="en-US" sz="2400" dirty="0">
              <a:solidFill>
                <a:srgbClr val="1D1D1B"/>
              </a:solidFill>
              <a:latin typeface="Tomorrow Semi Bold" pitchFamily="34" charset="0"/>
              <a:ea typeface="Tomorrow Semi Bold" pitchFamily="34" charset="-122"/>
            </a:endParaRPr>
          </a:p>
        </p:txBody>
      </p:sp>
      <p:pic>
        <p:nvPicPr>
          <p:cNvPr id="3" name="Image 2">
            <a:extLst>
              <a:ext uri="{FF2B5EF4-FFF2-40B4-BE49-F238E27FC236}">
                <a16:creationId xmlns:a16="http://schemas.microsoft.com/office/drawing/2014/main" id="{63530376-2E62-236A-F5BF-844092A6D673}"/>
              </a:ext>
            </a:extLst>
          </p:cNvPr>
          <p:cNvPicPr>
            <a:picLocks noChangeAspect="1"/>
          </p:cNvPicPr>
          <p:nvPr/>
        </p:nvPicPr>
        <p:blipFill>
          <a:blip r:embed="rId3"/>
          <a:stretch>
            <a:fillRect/>
          </a:stretch>
        </p:blipFill>
        <p:spPr>
          <a:xfrm>
            <a:off x="638628" y="896483"/>
            <a:ext cx="7511217" cy="3146591"/>
          </a:xfrm>
          <a:prstGeom prst="rect">
            <a:avLst/>
          </a:prstGeom>
        </p:spPr>
      </p:pic>
      <p:sp>
        <p:nvSpPr>
          <p:cNvPr id="5" name="ZoneTexte 4">
            <a:extLst>
              <a:ext uri="{FF2B5EF4-FFF2-40B4-BE49-F238E27FC236}">
                <a16:creationId xmlns:a16="http://schemas.microsoft.com/office/drawing/2014/main" id="{7893E2D0-4CFD-36A7-08DC-ED2B2FE5652D}"/>
              </a:ext>
            </a:extLst>
          </p:cNvPr>
          <p:cNvSpPr txBox="1"/>
          <p:nvPr/>
        </p:nvSpPr>
        <p:spPr>
          <a:xfrm>
            <a:off x="457200" y="4100585"/>
            <a:ext cx="8737600" cy="1015663"/>
          </a:xfrm>
          <a:prstGeom prst="rect">
            <a:avLst/>
          </a:prstGeom>
          <a:noFill/>
        </p:spPr>
        <p:txBody>
          <a:bodyPr wrap="square">
            <a:spAutoFit/>
          </a:bodyPr>
          <a:lstStyle/>
          <a:p>
            <a:r>
              <a:rPr lang="en-US" sz="1200" dirty="0">
                <a:latin typeface="Roboto"/>
                <a:ea typeface="Roboto"/>
                <a:cs typeface="Roboto"/>
              </a:rPr>
              <a:t>Un </a:t>
            </a:r>
            <a:r>
              <a:rPr lang="en-US" sz="1200" dirty="0" err="1">
                <a:latin typeface="Roboto"/>
                <a:ea typeface="Roboto"/>
                <a:cs typeface="Roboto"/>
              </a:rPr>
              <a:t>système</a:t>
            </a:r>
            <a:r>
              <a:rPr lang="en-US" sz="1200" dirty="0">
                <a:latin typeface="Roboto"/>
                <a:ea typeface="Roboto"/>
                <a:cs typeface="Roboto"/>
              </a:rPr>
              <a:t> multi-agents est une collection </a:t>
            </a:r>
            <a:r>
              <a:rPr lang="en-US" sz="1200" dirty="0" err="1">
                <a:latin typeface="Roboto"/>
                <a:ea typeface="Roboto"/>
                <a:cs typeface="Roboto"/>
              </a:rPr>
              <a:t>d'entités</a:t>
            </a:r>
            <a:r>
              <a:rPr lang="en-US" sz="1200" dirty="0">
                <a:latin typeface="Roboto"/>
                <a:ea typeface="Roboto"/>
                <a:cs typeface="Roboto"/>
              </a:rPr>
              <a:t> </a:t>
            </a:r>
            <a:r>
              <a:rPr lang="en-US" sz="1200" dirty="0" err="1">
                <a:latin typeface="Roboto"/>
                <a:ea typeface="Roboto"/>
                <a:cs typeface="Roboto"/>
              </a:rPr>
              <a:t>logicielles</a:t>
            </a:r>
            <a:r>
              <a:rPr lang="en-US" sz="1200" dirty="0">
                <a:latin typeface="Roboto"/>
                <a:ea typeface="Roboto"/>
                <a:cs typeface="Roboto"/>
              </a:rPr>
              <a:t> </a:t>
            </a:r>
            <a:r>
              <a:rPr lang="en-US" sz="1200" dirty="0" err="1">
                <a:latin typeface="Roboto"/>
                <a:ea typeface="Roboto"/>
                <a:cs typeface="Roboto"/>
              </a:rPr>
              <a:t>autonomes</a:t>
            </a:r>
            <a:r>
              <a:rPr lang="en-US" sz="1200" dirty="0">
                <a:latin typeface="Roboto"/>
                <a:ea typeface="Roboto"/>
                <a:cs typeface="Roboto"/>
              </a:rPr>
              <a:t> (agents) qui </a:t>
            </a:r>
            <a:r>
              <a:rPr lang="en-US" sz="1200" dirty="0" err="1">
                <a:latin typeface="Roboto"/>
                <a:ea typeface="Roboto"/>
                <a:cs typeface="Roboto"/>
              </a:rPr>
              <a:t>interagissent</a:t>
            </a:r>
            <a:r>
              <a:rPr lang="en-US" sz="1200" dirty="0">
                <a:latin typeface="Roboto"/>
                <a:ea typeface="Roboto"/>
                <a:cs typeface="Roboto"/>
              </a:rPr>
              <a:t> et </a:t>
            </a:r>
            <a:r>
              <a:rPr lang="en-US" sz="1200" dirty="0" err="1">
                <a:latin typeface="Roboto"/>
                <a:ea typeface="Roboto"/>
                <a:cs typeface="Roboto"/>
              </a:rPr>
              <a:t>collaborent</a:t>
            </a:r>
            <a:r>
              <a:rPr lang="en-US" sz="1200" dirty="0">
                <a:latin typeface="Roboto"/>
                <a:ea typeface="Roboto"/>
                <a:cs typeface="Roboto"/>
              </a:rPr>
              <a:t> pour </a:t>
            </a:r>
            <a:r>
              <a:rPr lang="en-US" sz="1200" dirty="0" err="1">
                <a:latin typeface="Roboto"/>
                <a:ea typeface="Roboto"/>
                <a:cs typeface="Roboto"/>
              </a:rPr>
              <a:t>atteindre</a:t>
            </a:r>
            <a:r>
              <a:rPr lang="en-US" sz="1200" dirty="0">
                <a:latin typeface="Roboto"/>
                <a:ea typeface="Roboto"/>
                <a:cs typeface="Roboto"/>
              </a:rPr>
              <a:t> un </a:t>
            </a:r>
            <a:r>
              <a:rPr lang="en-US" sz="1200" dirty="0" err="1">
                <a:latin typeface="Roboto"/>
                <a:ea typeface="Roboto"/>
                <a:cs typeface="Roboto"/>
              </a:rPr>
              <a:t>objectif</a:t>
            </a:r>
            <a:r>
              <a:rPr lang="en-US" sz="1200" dirty="0">
                <a:latin typeface="Roboto"/>
                <a:ea typeface="Roboto"/>
                <a:cs typeface="Roboto"/>
              </a:rPr>
              <a:t> </a:t>
            </a:r>
            <a:r>
              <a:rPr lang="en-US" sz="1200" dirty="0" err="1">
                <a:latin typeface="Roboto"/>
                <a:ea typeface="Roboto"/>
                <a:cs typeface="Roboto"/>
              </a:rPr>
              <a:t>commun</a:t>
            </a:r>
            <a:r>
              <a:rPr lang="en-US" sz="1200" dirty="0">
                <a:latin typeface="Roboto"/>
                <a:ea typeface="Roboto"/>
                <a:cs typeface="Roboto"/>
              </a:rPr>
              <a:t>. </a:t>
            </a:r>
            <a:r>
              <a:rPr lang="en-US" sz="1200" dirty="0" err="1">
                <a:latin typeface="Roboto"/>
                <a:ea typeface="Roboto"/>
                <a:cs typeface="Roboto"/>
              </a:rPr>
              <a:t>Chaque</a:t>
            </a:r>
            <a:r>
              <a:rPr lang="en-US" sz="1200" dirty="0">
                <a:latin typeface="Roboto"/>
                <a:ea typeface="Roboto"/>
                <a:cs typeface="Roboto"/>
              </a:rPr>
              <a:t> agent </a:t>
            </a:r>
            <a:r>
              <a:rPr lang="en-US" sz="1200" dirty="0" err="1">
                <a:latin typeface="Roboto"/>
                <a:ea typeface="Roboto"/>
                <a:cs typeface="Roboto"/>
              </a:rPr>
              <a:t>possède</a:t>
            </a:r>
            <a:r>
              <a:rPr lang="en-US" sz="1200" dirty="0">
                <a:latin typeface="Roboto"/>
                <a:ea typeface="Roboto"/>
                <a:cs typeface="Roboto"/>
              </a:rPr>
              <a:t> une </a:t>
            </a:r>
            <a:r>
              <a:rPr lang="en-US" sz="1200" dirty="0" err="1">
                <a:latin typeface="Roboto"/>
                <a:ea typeface="Roboto"/>
                <a:cs typeface="Roboto"/>
              </a:rPr>
              <a:t>fonction</a:t>
            </a:r>
            <a:r>
              <a:rPr lang="en-US" sz="1200" dirty="0">
                <a:latin typeface="Roboto"/>
                <a:ea typeface="Roboto"/>
                <a:cs typeface="Roboto"/>
              </a:rPr>
              <a:t> </a:t>
            </a:r>
            <a:r>
              <a:rPr lang="en-US" sz="1200" dirty="0" err="1">
                <a:latin typeface="Roboto"/>
                <a:ea typeface="Roboto"/>
                <a:cs typeface="Roboto"/>
              </a:rPr>
              <a:t>spécifique</a:t>
            </a:r>
            <a:r>
              <a:rPr lang="en-US" sz="1200" dirty="0">
                <a:latin typeface="Roboto"/>
                <a:ea typeface="Roboto"/>
                <a:cs typeface="Roboto"/>
              </a:rPr>
              <a:t>, une </a:t>
            </a:r>
            <a:r>
              <a:rPr lang="en-US" sz="1200" dirty="0" err="1">
                <a:latin typeface="Roboto"/>
                <a:ea typeface="Roboto"/>
                <a:cs typeface="Roboto"/>
              </a:rPr>
              <a:t>autonomie</a:t>
            </a:r>
            <a:r>
              <a:rPr lang="en-US" sz="1200" dirty="0">
                <a:latin typeface="Roboto"/>
                <a:ea typeface="Roboto"/>
                <a:cs typeface="Roboto"/>
              </a:rPr>
              <a:t> de </a:t>
            </a:r>
            <a:r>
              <a:rPr lang="en-US" sz="1200" dirty="0" err="1">
                <a:latin typeface="Roboto"/>
                <a:ea typeface="Roboto"/>
                <a:cs typeface="Roboto"/>
              </a:rPr>
              <a:t>décision</a:t>
            </a:r>
            <a:r>
              <a:rPr lang="en-US" sz="1200" dirty="0">
                <a:latin typeface="Roboto"/>
                <a:ea typeface="Roboto"/>
                <a:cs typeface="Roboto"/>
              </a:rPr>
              <a:t> et </a:t>
            </a:r>
            <a:r>
              <a:rPr lang="en-US" sz="1200" dirty="0" err="1">
                <a:latin typeface="Roboto"/>
                <a:ea typeface="Roboto"/>
                <a:cs typeface="Roboto"/>
              </a:rPr>
              <a:t>peut</a:t>
            </a:r>
            <a:r>
              <a:rPr lang="en-US" sz="1200" dirty="0">
                <a:latin typeface="Roboto"/>
                <a:ea typeface="Roboto"/>
                <a:cs typeface="Roboto"/>
              </a:rPr>
              <a:t> </a:t>
            </a:r>
            <a:r>
              <a:rPr lang="en-US" sz="1200" dirty="0" err="1">
                <a:latin typeface="Roboto"/>
                <a:ea typeface="Roboto"/>
                <a:cs typeface="Roboto"/>
              </a:rPr>
              <a:t>communiquer</a:t>
            </a:r>
            <a:r>
              <a:rPr lang="en-US" sz="1200" dirty="0">
                <a:latin typeface="Roboto"/>
                <a:ea typeface="Roboto"/>
                <a:cs typeface="Roboto"/>
              </a:rPr>
              <a:t> avec </a:t>
            </a:r>
            <a:r>
              <a:rPr lang="en-US" sz="1200" dirty="0" err="1">
                <a:latin typeface="Roboto"/>
                <a:ea typeface="Roboto"/>
                <a:cs typeface="Roboto"/>
              </a:rPr>
              <a:t>d'autres</a:t>
            </a:r>
            <a:r>
              <a:rPr lang="en-US" sz="1200" dirty="0">
                <a:latin typeface="Roboto"/>
                <a:ea typeface="Roboto"/>
                <a:cs typeface="Roboto"/>
              </a:rPr>
              <a:t> agents. Cette architecture </a:t>
            </a:r>
            <a:r>
              <a:rPr lang="en-US" sz="1200" dirty="0" err="1">
                <a:latin typeface="Roboto"/>
                <a:ea typeface="Roboto"/>
                <a:cs typeface="Roboto"/>
              </a:rPr>
              <a:t>permet</a:t>
            </a:r>
            <a:r>
              <a:rPr lang="en-US" sz="1200" dirty="0">
                <a:latin typeface="Roboto"/>
                <a:ea typeface="Roboto"/>
                <a:cs typeface="Roboto"/>
              </a:rPr>
              <a:t> une </a:t>
            </a:r>
            <a:r>
              <a:rPr lang="en-US" sz="1200" dirty="0" err="1">
                <a:latin typeface="Roboto"/>
                <a:ea typeface="Roboto"/>
                <a:cs typeface="Roboto"/>
              </a:rPr>
              <a:t>prise</a:t>
            </a:r>
            <a:r>
              <a:rPr lang="en-US" sz="1200" dirty="0">
                <a:latin typeface="Roboto"/>
                <a:ea typeface="Roboto"/>
                <a:cs typeface="Roboto"/>
              </a:rPr>
              <a:t> de </a:t>
            </a:r>
            <a:r>
              <a:rPr lang="en-US" sz="1200" dirty="0" err="1">
                <a:latin typeface="Roboto"/>
                <a:ea typeface="Roboto"/>
                <a:cs typeface="Roboto"/>
              </a:rPr>
              <a:t>décision</a:t>
            </a:r>
            <a:r>
              <a:rPr lang="en-US" sz="1200" dirty="0">
                <a:latin typeface="Roboto"/>
                <a:ea typeface="Roboto"/>
                <a:cs typeface="Roboto"/>
              </a:rPr>
              <a:t> </a:t>
            </a:r>
            <a:r>
              <a:rPr lang="en-US" sz="1200" dirty="0" err="1">
                <a:latin typeface="Roboto"/>
                <a:ea typeface="Roboto"/>
                <a:cs typeface="Roboto"/>
              </a:rPr>
              <a:t>distribuée</a:t>
            </a:r>
            <a:r>
              <a:rPr lang="en-US" sz="1200" dirty="0">
                <a:latin typeface="Roboto"/>
                <a:ea typeface="Roboto"/>
                <a:cs typeface="Roboto"/>
              </a:rPr>
              <a:t> et plus </a:t>
            </a:r>
            <a:r>
              <a:rPr lang="en-US" sz="1200" dirty="0" err="1">
                <a:latin typeface="Roboto"/>
                <a:ea typeface="Roboto"/>
                <a:cs typeface="Roboto"/>
              </a:rPr>
              <a:t>robuste</a:t>
            </a:r>
            <a:r>
              <a:rPr lang="en-US" sz="1200" dirty="0">
                <a:latin typeface="Roboto"/>
                <a:ea typeface="Roboto"/>
                <a:cs typeface="Roboto"/>
              </a:rPr>
              <a:t>.</a:t>
            </a:r>
            <a:r>
              <a:rPr lang="en-US" sz="1200" dirty="0">
                <a:solidFill>
                  <a:srgbClr val="61615C"/>
                </a:solidFill>
                <a:latin typeface="Tomorrow" pitchFamily="34" charset="0"/>
                <a:ea typeface="Tomorrow" pitchFamily="34" charset="-122"/>
                <a:cs typeface="Tomorrow" pitchFamily="34" charset="-120"/>
              </a:rPr>
              <a:t> </a:t>
            </a:r>
          </a:p>
          <a:p>
            <a:endParaRPr lang="en-US" sz="1200" dirty="0">
              <a:solidFill>
                <a:srgbClr val="61615C"/>
              </a:solidFill>
              <a:latin typeface="Tomorrow" pitchFamily="34" charset="0"/>
              <a:ea typeface="Roboto"/>
              <a:cs typeface="Roboto"/>
            </a:endParaRPr>
          </a:p>
          <a:p>
            <a:pPr marL="0" indent="0">
              <a:buFont typeface="Arial"/>
              <a:buNone/>
            </a:pPr>
            <a:endParaRPr lang="en-US" sz="1200" dirty="0">
              <a:latin typeface="Roboto"/>
              <a:ea typeface="Roboto"/>
              <a:cs typeface="Roboto"/>
            </a:endParaRPr>
          </a:p>
        </p:txBody>
      </p:sp>
      <p:sp>
        <p:nvSpPr>
          <p:cNvPr id="6" name="Google Shape;2329;p45">
            <a:extLst>
              <a:ext uri="{FF2B5EF4-FFF2-40B4-BE49-F238E27FC236}">
                <a16:creationId xmlns:a16="http://schemas.microsoft.com/office/drawing/2014/main" id="{A931785E-7358-385C-2ADB-DBCA99292FDA}"/>
              </a:ext>
            </a:extLst>
          </p:cNvPr>
          <p:cNvSpPr/>
          <p:nvPr/>
        </p:nvSpPr>
        <p:spPr>
          <a:xfrm>
            <a:off x="359228" y="4100585"/>
            <a:ext cx="8425542" cy="667344"/>
          </a:xfrm>
          <a:prstGeom prst="roundRect">
            <a:avLst>
              <a:gd name="adj" fmla="val 16667"/>
            </a:avLst>
          </a:prstGeom>
          <a:solidFill>
            <a:srgbClr val="8027EA">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893344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11">
          <a:extLst>
            <a:ext uri="{FF2B5EF4-FFF2-40B4-BE49-F238E27FC236}">
              <a16:creationId xmlns:a16="http://schemas.microsoft.com/office/drawing/2014/main" id="{50C2301A-0819-CFAA-E938-8CA9D60E61A8}"/>
            </a:ext>
          </a:extLst>
        </p:cNvPr>
        <p:cNvGrpSpPr/>
        <p:nvPr/>
      </p:nvGrpSpPr>
      <p:grpSpPr>
        <a:xfrm>
          <a:off x="0" y="0"/>
          <a:ext cx="0" cy="0"/>
          <a:chOff x="0" y="0"/>
          <a:chExt cx="0" cy="0"/>
        </a:xfrm>
      </p:grpSpPr>
      <p:sp>
        <p:nvSpPr>
          <p:cNvPr id="2315" name="Google Shape;2315;p45">
            <a:extLst>
              <a:ext uri="{FF2B5EF4-FFF2-40B4-BE49-F238E27FC236}">
                <a16:creationId xmlns:a16="http://schemas.microsoft.com/office/drawing/2014/main" id="{8EFCC542-4B07-B41C-1181-44BFADFA5E8C}"/>
              </a:ext>
            </a:extLst>
          </p:cNvPr>
          <p:cNvSpPr txBox="1">
            <a:spLocks noGrp="1"/>
          </p:cNvSpPr>
          <p:nvPr>
            <p:ph type="title"/>
          </p:nvPr>
        </p:nvSpPr>
        <p:spPr>
          <a:xfrm>
            <a:off x="457200" y="275019"/>
            <a:ext cx="8229600" cy="371400"/>
          </a:xfrm>
          <a:prstGeom prst="rect">
            <a:avLst/>
          </a:prstGeom>
        </p:spPr>
        <p:txBody>
          <a:bodyPr spcFirstLastPara="1" wrap="square" lIns="91425" tIns="91425" rIns="91425" bIns="91425" anchor="ctr" anchorCtr="0">
            <a:noAutofit/>
          </a:bodyPr>
          <a:lstStyle/>
          <a:p>
            <a:pPr algn="l"/>
            <a:r>
              <a:rPr lang="en-US" sz="2400" dirty="0">
                <a:solidFill>
                  <a:srgbClr val="1D1D1B"/>
                </a:solidFill>
                <a:latin typeface="Tomorrow Semi Bold" pitchFamily="34" charset="0"/>
                <a:ea typeface="Tomorrow Semi Bold" pitchFamily="34" charset="-122"/>
              </a:rPr>
              <a:t>Retrieval-Augmented Generation (RAG) : Fiabilité et Pertinence</a:t>
            </a:r>
          </a:p>
        </p:txBody>
      </p:sp>
      <p:sp>
        <p:nvSpPr>
          <p:cNvPr id="5" name="ZoneTexte 4">
            <a:extLst>
              <a:ext uri="{FF2B5EF4-FFF2-40B4-BE49-F238E27FC236}">
                <a16:creationId xmlns:a16="http://schemas.microsoft.com/office/drawing/2014/main" id="{3AF2769A-ACB6-98DF-ECB9-C2C1E2C52DA3}"/>
              </a:ext>
            </a:extLst>
          </p:cNvPr>
          <p:cNvSpPr txBox="1"/>
          <p:nvPr/>
        </p:nvSpPr>
        <p:spPr>
          <a:xfrm>
            <a:off x="145143" y="1600882"/>
            <a:ext cx="4426857" cy="2962799"/>
          </a:xfrm>
          <a:prstGeom prst="rect">
            <a:avLst/>
          </a:prstGeom>
          <a:noFill/>
        </p:spPr>
        <p:txBody>
          <a:bodyPr wrap="square">
            <a:spAutoFit/>
          </a:bodyPr>
          <a:lstStyle/>
          <a:p>
            <a:r>
              <a:rPr lang="en-US" dirty="0">
                <a:latin typeface="Aptos" panose="020B0004020202020204" pitchFamily="34" charset="0"/>
                <a:ea typeface="Roboto"/>
                <a:cs typeface="Roboto"/>
              </a:rPr>
              <a:t>Le RAG combine la puissance des grands </a:t>
            </a:r>
            <a:r>
              <a:rPr lang="en-US" dirty="0" err="1">
                <a:latin typeface="Aptos" panose="020B0004020202020204" pitchFamily="34" charset="0"/>
                <a:ea typeface="Roboto"/>
                <a:cs typeface="Roboto"/>
              </a:rPr>
              <a:t>modèles</a:t>
            </a:r>
            <a:r>
              <a:rPr lang="en-US" dirty="0">
                <a:latin typeface="Aptos" panose="020B0004020202020204" pitchFamily="34" charset="0"/>
                <a:ea typeface="Roboto"/>
                <a:cs typeface="Roboto"/>
              </a:rPr>
              <a:t> de </a:t>
            </a:r>
            <a:r>
              <a:rPr lang="en-US" dirty="0" err="1">
                <a:latin typeface="Aptos" panose="020B0004020202020204" pitchFamily="34" charset="0"/>
                <a:ea typeface="Roboto"/>
                <a:cs typeface="Roboto"/>
              </a:rPr>
              <a:t>langage</a:t>
            </a:r>
            <a:r>
              <a:rPr lang="en-US" dirty="0">
                <a:latin typeface="Aptos" panose="020B0004020202020204" pitchFamily="34" charset="0"/>
                <a:ea typeface="Roboto"/>
                <a:cs typeface="Roboto"/>
              </a:rPr>
              <a:t> (LLM) avec la précision de la recherche </a:t>
            </a:r>
            <a:r>
              <a:rPr lang="en-US" dirty="0" err="1">
                <a:latin typeface="Aptos" panose="020B0004020202020204" pitchFamily="34" charset="0"/>
                <a:ea typeface="Roboto"/>
                <a:cs typeface="Roboto"/>
              </a:rPr>
              <a:t>documentaire</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Plutôt</a:t>
            </a:r>
            <a:r>
              <a:rPr lang="en-US" dirty="0">
                <a:latin typeface="Aptos" panose="020B0004020202020204" pitchFamily="34" charset="0"/>
                <a:ea typeface="Roboto"/>
                <a:cs typeface="Roboto"/>
              </a:rPr>
              <a:t> que de </a:t>
            </a:r>
            <a:r>
              <a:rPr lang="en-US" dirty="0" err="1">
                <a:latin typeface="Aptos" panose="020B0004020202020204" pitchFamily="34" charset="0"/>
                <a:ea typeface="Roboto"/>
                <a:cs typeface="Roboto"/>
              </a:rPr>
              <a:t>s'appuyer</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uniquement</a:t>
            </a:r>
            <a:r>
              <a:rPr lang="en-US" dirty="0">
                <a:latin typeface="Aptos" panose="020B0004020202020204" pitchFamily="34" charset="0"/>
                <a:ea typeface="Roboto"/>
                <a:cs typeface="Roboto"/>
              </a:rPr>
              <a:t> sur </a:t>
            </a:r>
            <a:r>
              <a:rPr lang="en-US" dirty="0" err="1">
                <a:latin typeface="Aptos" panose="020B0004020202020204" pitchFamily="34" charset="0"/>
                <a:ea typeface="Roboto"/>
                <a:cs typeface="Roboto"/>
              </a:rPr>
              <a:t>leurs</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connaissances</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pré-entraînées</a:t>
            </a:r>
            <a:r>
              <a:rPr lang="en-US" dirty="0">
                <a:latin typeface="Aptos" panose="020B0004020202020204" pitchFamily="34" charset="0"/>
                <a:ea typeface="Roboto"/>
                <a:cs typeface="Roboto"/>
              </a:rPr>
              <a:t>, les LLM sont </a:t>
            </a:r>
            <a:r>
              <a:rPr lang="en-US" dirty="0" err="1">
                <a:latin typeface="Aptos" panose="020B0004020202020204" pitchFamily="34" charset="0"/>
                <a:ea typeface="Roboto"/>
                <a:cs typeface="Roboto"/>
              </a:rPr>
              <a:t>augmentés</a:t>
            </a:r>
            <a:r>
              <a:rPr lang="en-US" dirty="0">
                <a:latin typeface="Aptos" panose="020B0004020202020204" pitchFamily="34" charset="0"/>
                <a:ea typeface="Roboto"/>
                <a:cs typeface="Roboto"/>
              </a:rPr>
              <a:t> par des </a:t>
            </a:r>
            <a:r>
              <a:rPr lang="en-US" dirty="0" err="1">
                <a:latin typeface="Aptos" panose="020B0004020202020204" pitchFamily="34" charset="0"/>
                <a:ea typeface="Roboto"/>
                <a:cs typeface="Roboto"/>
              </a:rPr>
              <a:t>informations</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récupérées</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en</a:t>
            </a:r>
            <a:r>
              <a:rPr lang="en-US" dirty="0">
                <a:latin typeface="Aptos" panose="020B0004020202020204" pitchFamily="34" charset="0"/>
                <a:ea typeface="Roboto"/>
                <a:cs typeface="Roboto"/>
              </a:rPr>
              <a:t> temps </a:t>
            </a:r>
            <a:r>
              <a:rPr lang="en-US" dirty="0" err="1">
                <a:latin typeface="Aptos" panose="020B0004020202020204" pitchFamily="34" charset="0"/>
                <a:ea typeface="Roboto"/>
                <a:cs typeface="Roboto"/>
              </a:rPr>
              <a:t>réel</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depuis</a:t>
            </a:r>
            <a:r>
              <a:rPr lang="en-US" dirty="0">
                <a:latin typeface="Aptos" panose="020B0004020202020204" pitchFamily="34" charset="0"/>
                <a:ea typeface="Roboto"/>
                <a:cs typeface="Roboto"/>
              </a:rPr>
              <a:t> une base de données externe.</a:t>
            </a:r>
          </a:p>
          <a:p>
            <a:endParaRPr lang="en-US" dirty="0">
              <a:latin typeface="Aptos" panose="020B0004020202020204" pitchFamily="34" charset="0"/>
              <a:ea typeface="Roboto"/>
              <a:cs typeface="Roboto"/>
            </a:endParaRPr>
          </a:p>
          <a:p>
            <a:endParaRPr lang="en-US" dirty="0">
              <a:latin typeface="Aptos" panose="020B0004020202020204" pitchFamily="34" charset="0"/>
              <a:ea typeface="Roboto"/>
              <a:cs typeface="Roboto"/>
            </a:endParaRPr>
          </a:p>
          <a:p>
            <a:r>
              <a:rPr lang="en-US" dirty="0">
                <a:latin typeface="Aptos" panose="020B0004020202020204" pitchFamily="34" charset="0"/>
                <a:ea typeface="Roboto"/>
                <a:cs typeface="Roboto"/>
              </a:rPr>
              <a:t>Cela </a:t>
            </a:r>
            <a:r>
              <a:rPr lang="en-US" dirty="0" err="1">
                <a:latin typeface="Aptos" panose="020B0004020202020204" pitchFamily="34" charset="0"/>
                <a:ea typeface="Roboto"/>
                <a:cs typeface="Roboto"/>
              </a:rPr>
              <a:t>permet</a:t>
            </a:r>
            <a:r>
              <a:rPr lang="en-US" dirty="0">
                <a:latin typeface="Aptos" panose="020B0004020202020204" pitchFamily="34" charset="0"/>
                <a:ea typeface="Roboto"/>
                <a:cs typeface="Roboto"/>
              </a:rPr>
              <a:t> de </a:t>
            </a:r>
            <a:r>
              <a:rPr lang="en-US" dirty="0" err="1">
                <a:latin typeface="Aptos" panose="020B0004020202020204" pitchFamily="34" charset="0"/>
                <a:ea typeface="Roboto"/>
                <a:cs typeface="Roboto"/>
              </a:rPr>
              <a:t>contourner</a:t>
            </a:r>
            <a:r>
              <a:rPr lang="en-US" dirty="0">
                <a:latin typeface="Aptos" panose="020B0004020202020204" pitchFamily="34" charset="0"/>
                <a:ea typeface="Roboto"/>
                <a:cs typeface="Roboto"/>
              </a:rPr>
              <a:t> les </a:t>
            </a:r>
            <a:r>
              <a:rPr lang="en-US" dirty="0" err="1">
                <a:latin typeface="Aptos" panose="020B0004020202020204" pitchFamily="34" charset="0"/>
                <a:ea typeface="Roboto"/>
                <a:cs typeface="Roboto"/>
              </a:rPr>
              <a:t>limites</a:t>
            </a:r>
            <a:r>
              <a:rPr lang="en-US" dirty="0">
                <a:latin typeface="Aptos" panose="020B0004020202020204" pitchFamily="34" charset="0"/>
                <a:ea typeface="Roboto"/>
                <a:cs typeface="Roboto"/>
              </a:rPr>
              <a:t> des LLM (hallucinations, </a:t>
            </a:r>
            <a:r>
              <a:rPr lang="en-US" dirty="0" err="1">
                <a:latin typeface="Aptos" panose="020B0004020202020204" pitchFamily="34" charset="0"/>
                <a:ea typeface="Roboto"/>
                <a:cs typeface="Roboto"/>
              </a:rPr>
              <a:t>informations</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obsolètes</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en</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garantissant</a:t>
            </a:r>
            <a:r>
              <a:rPr lang="en-US" dirty="0">
                <a:latin typeface="Aptos" panose="020B0004020202020204" pitchFamily="34" charset="0"/>
                <a:ea typeface="Roboto"/>
                <a:cs typeface="Roboto"/>
              </a:rPr>
              <a:t> des </a:t>
            </a:r>
            <a:r>
              <a:rPr lang="en-US" dirty="0" err="1">
                <a:latin typeface="Aptos" panose="020B0004020202020204" pitchFamily="34" charset="0"/>
                <a:ea typeface="Roboto"/>
                <a:cs typeface="Roboto"/>
              </a:rPr>
              <a:t>réponses</a:t>
            </a:r>
            <a:r>
              <a:rPr lang="en-US" dirty="0">
                <a:latin typeface="Aptos" panose="020B0004020202020204" pitchFamily="34" charset="0"/>
                <a:ea typeface="Roboto"/>
                <a:cs typeface="Roboto"/>
              </a:rPr>
              <a:t> </a:t>
            </a:r>
            <a:r>
              <a:rPr lang="en-US" dirty="0" err="1">
                <a:latin typeface="Aptos" panose="020B0004020202020204" pitchFamily="34" charset="0"/>
                <a:ea typeface="Roboto"/>
                <a:cs typeface="Roboto"/>
              </a:rPr>
              <a:t>factuelles</a:t>
            </a:r>
            <a:r>
              <a:rPr lang="en-US" dirty="0">
                <a:latin typeface="Aptos" panose="020B0004020202020204" pitchFamily="34" charset="0"/>
                <a:ea typeface="Roboto"/>
                <a:cs typeface="Roboto"/>
              </a:rPr>
              <a:t> et </a:t>
            </a:r>
            <a:r>
              <a:rPr lang="en-US" dirty="0" err="1">
                <a:latin typeface="Aptos" panose="020B0004020202020204" pitchFamily="34" charset="0"/>
                <a:ea typeface="Roboto"/>
                <a:cs typeface="Roboto"/>
              </a:rPr>
              <a:t>pertinentes</a:t>
            </a:r>
            <a:r>
              <a:rPr lang="en-US" dirty="0">
                <a:latin typeface="Aptos" panose="020B0004020202020204" pitchFamily="34" charset="0"/>
                <a:ea typeface="Roboto"/>
                <a:cs typeface="Roboto"/>
              </a:rPr>
              <a:t>, crucial pour </a:t>
            </a:r>
            <a:r>
              <a:rPr lang="en-US" dirty="0" err="1">
                <a:latin typeface="Aptos" panose="020B0004020202020204" pitchFamily="34" charset="0"/>
                <a:ea typeface="Roboto"/>
                <a:cs typeface="Roboto"/>
              </a:rPr>
              <a:t>l'analyse</a:t>
            </a:r>
            <a:r>
              <a:rPr lang="en-US" dirty="0">
                <a:latin typeface="Aptos" panose="020B0004020202020204" pitchFamily="34" charset="0"/>
                <a:ea typeface="Roboto"/>
                <a:cs typeface="Roboto"/>
              </a:rPr>
              <a:t> des CV et descriptions de poste.</a:t>
            </a:r>
          </a:p>
          <a:p>
            <a:pPr>
              <a:lnSpc>
                <a:spcPts val="2600"/>
              </a:lnSpc>
            </a:pPr>
            <a:endParaRPr lang="en-US" sz="1200" dirty="0"/>
          </a:p>
        </p:txBody>
      </p:sp>
      <p:sp>
        <p:nvSpPr>
          <p:cNvPr id="6" name="Google Shape;2329;p45">
            <a:extLst>
              <a:ext uri="{FF2B5EF4-FFF2-40B4-BE49-F238E27FC236}">
                <a16:creationId xmlns:a16="http://schemas.microsoft.com/office/drawing/2014/main" id="{A593C14F-5CA4-20B8-812B-A134EF69C2C9}"/>
              </a:ext>
            </a:extLst>
          </p:cNvPr>
          <p:cNvSpPr/>
          <p:nvPr/>
        </p:nvSpPr>
        <p:spPr>
          <a:xfrm>
            <a:off x="90939" y="1413024"/>
            <a:ext cx="4564743" cy="2980260"/>
          </a:xfrm>
          <a:prstGeom prst="roundRect">
            <a:avLst>
              <a:gd name="adj" fmla="val 16667"/>
            </a:avLst>
          </a:prstGeom>
          <a:solidFill>
            <a:srgbClr val="8027EA">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4" name="Image 3">
            <a:extLst>
              <a:ext uri="{FF2B5EF4-FFF2-40B4-BE49-F238E27FC236}">
                <a16:creationId xmlns:a16="http://schemas.microsoft.com/office/drawing/2014/main" id="{AB3CB1E1-91B3-E8F5-2EBD-814991EFE08A}"/>
              </a:ext>
            </a:extLst>
          </p:cNvPr>
          <p:cNvPicPr>
            <a:picLocks noChangeAspect="1"/>
          </p:cNvPicPr>
          <p:nvPr/>
        </p:nvPicPr>
        <p:blipFill>
          <a:blip r:embed="rId3"/>
          <a:stretch>
            <a:fillRect/>
          </a:stretch>
        </p:blipFill>
        <p:spPr>
          <a:xfrm>
            <a:off x="4709886" y="1950557"/>
            <a:ext cx="4367011" cy="1242386"/>
          </a:xfrm>
          <a:prstGeom prst="rect">
            <a:avLst/>
          </a:prstGeom>
        </p:spPr>
      </p:pic>
    </p:spTree>
    <p:extLst>
      <p:ext uri="{BB962C8B-B14F-4D97-AF65-F5344CB8AC3E}">
        <p14:creationId xmlns:p14="http://schemas.microsoft.com/office/powerpoint/2010/main" val="19405901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23"/>
          <p:cNvSpPr/>
          <p:nvPr/>
        </p:nvSpPr>
        <p:spPr>
          <a:xfrm>
            <a:off x="4894950" y="1363850"/>
            <a:ext cx="807900" cy="807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3"/>
          <p:cNvSpPr/>
          <p:nvPr/>
        </p:nvSpPr>
        <p:spPr>
          <a:xfrm>
            <a:off x="4894950" y="2501163"/>
            <a:ext cx="807900" cy="8079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2" name="Google Shape;742;p23"/>
          <p:cNvSpPr/>
          <p:nvPr/>
        </p:nvSpPr>
        <p:spPr>
          <a:xfrm>
            <a:off x="4894950" y="3638488"/>
            <a:ext cx="807900" cy="8079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3" name="Google Shape;743;p23"/>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algn="l"/>
            <a:r>
              <a:rPr lang="en-US" sz="2400" dirty="0" err="1">
                <a:solidFill>
                  <a:srgbClr val="1D1D1B"/>
                </a:solidFill>
                <a:latin typeface="Tomorrow Semi Bold" pitchFamily="34" charset="0"/>
                <a:ea typeface="Tomorrow Semi Bold" pitchFamily="34" charset="-122"/>
              </a:rPr>
              <a:t>Explicabilité</a:t>
            </a:r>
            <a:r>
              <a:rPr lang="en-US" sz="2400" dirty="0">
                <a:solidFill>
                  <a:srgbClr val="1D1D1B"/>
                </a:solidFill>
                <a:latin typeface="Tomorrow Semi Bold" pitchFamily="34" charset="0"/>
                <a:ea typeface="Tomorrow Semi Bold" pitchFamily="34" charset="-122"/>
              </a:rPr>
              <a:t> et Confiance : La Transparence au Service de </a:t>
            </a:r>
            <a:r>
              <a:rPr lang="en-US" sz="2400" dirty="0" err="1">
                <a:solidFill>
                  <a:srgbClr val="1D1D1B"/>
                </a:solidFill>
                <a:latin typeface="Tomorrow Semi Bold" pitchFamily="34" charset="0"/>
                <a:ea typeface="Tomorrow Semi Bold" pitchFamily="34" charset="-122"/>
              </a:rPr>
              <a:t>l'IA</a:t>
            </a:r>
            <a:endParaRPr lang="en-US" sz="2400" dirty="0">
              <a:solidFill>
                <a:srgbClr val="1D1D1B"/>
              </a:solidFill>
              <a:latin typeface="Tomorrow Semi Bold" pitchFamily="34" charset="0"/>
              <a:ea typeface="Tomorrow Semi Bold" pitchFamily="34" charset="-122"/>
            </a:endParaRPr>
          </a:p>
        </p:txBody>
      </p:sp>
      <p:cxnSp>
        <p:nvCxnSpPr>
          <p:cNvPr id="768" name="Google Shape;768;p23"/>
          <p:cNvCxnSpPr>
            <a:cxnSpLocks/>
            <a:stCxn id="740" idx="6"/>
            <a:endCxn id="769" idx="1"/>
          </p:cNvCxnSpPr>
          <p:nvPr/>
        </p:nvCxnSpPr>
        <p:spPr>
          <a:xfrm>
            <a:off x="5702850" y="1767800"/>
            <a:ext cx="780300" cy="0"/>
          </a:xfrm>
          <a:prstGeom prst="straightConnector1">
            <a:avLst/>
          </a:prstGeom>
          <a:noFill/>
          <a:ln w="9525" cap="flat" cmpd="sng">
            <a:solidFill>
              <a:schemeClr val="accent1"/>
            </a:solidFill>
            <a:prstDash val="solid"/>
            <a:round/>
            <a:headEnd type="none" w="med" len="med"/>
            <a:tailEnd type="none" w="med" len="med"/>
          </a:ln>
        </p:spPr>
      </p:cxnSp>
      <p:grpSp>
        <p:nvGrpSpPr>
          <p:cNvPr id="770" name="Google Shape;770;p23"/>
          <p:cNvGrpSpPr/>
          <p:nvPr/>
        </p:nvGrpSpPr>
        <p:grpSpPr>
          <a:xfrm>
            <a:off x="6483000" y="1409633"/>
            <a:ext cx="2061000" cy="558867"/>
            <a:chOff x="6483000" y="1221708"/>
            <a:chExt cx="2061000" cy="558867"/>
          </a:xfrm>
        </p:grpSpPr>
        <p:sp>
          <p:nvSpPr>
            <p:cNvPr id="771" name="Google Shape;771;p23"/>
            <p:cNvSpPr txBox="1"/>
            <p:nvPr/>
          </p:nvSpPr>
          <p:spPr>
            <a:xfrm>
              <a:off x="6483000" y="1221708"/>
              <a:ext cx="2061000" cy="483000"/>
            </a:xfrm>
            <a:prstGeom prst="rect">
              <a:avLst/>
            </a:prstGeom>
            <a:noFill/>
            <a:ln>
              <a:noFill/>
            </a:ln>
          </p:spPr>
          <p:txBody>
            <a:bodyPr spcFirstLastPara="1" wrap="square" lIns="91425" tIns="91425" rIns="91425" bIns="91425" anchor="ctr" anchorCtr="0">
              <a:noAutofit/>
            </a:bodyPr>
            <a:lstStyle/>
            <a:p>
              <a:pPr algn="ctr"/>
              <a:r>
                <a:rPr lang="en-US" b="1" dirty="0" err="1">
                  <a:latin typeface="Fira Sans Extra Condensed"/>
                </a:rPr>
                <a:t>Renforcer</a:t>
              </a:r>
              <a:r>
                <a:rPr lang="en-US" b="1" dirty="0">
                  <a:latin typeface="Fira Sans Extra Condensed"/>
                </a:rPr>
                <a:t> la Confiance</a:t>
              </a:r>
            </a:p>
          </p:txBody>
        </p:sp>
        <p:sp>
          <p:nvSpPr>
            <p:cNvPr id="769" name="Google Shape;769;p23"/>
            <p:cNvSpPr/>
            <p:nvPr/>
          </p:nvSpPr>
          <p:spPr>
            <a:xfrm>
              <a:off x="6483000" y="1379175"/>
              <a:ext cx="66600" cy="401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23"/>
          <p:cNvGrpSpPr/>
          <p:nvPr/>
        </p:nvGrpSpPr>
        <p:grpSpPr>
          <a:xfrm>
            <a:off x="6379044" y="2500589"/>
            <a:ext cx="2634326" cy="602099"/>
            <a:chOff x="6379044" y="2312664"/>
            <a:chExt cx="2634326" cy="602099"/>
          </a:xfrm>
        </p:grpSpPr>
        <p:sp>
          <p:nvSpPr>
            <p:cNvPr id="773" name="Google Shape;773;p23"/>
            <p:cNvSpPr txBox="1"/>
            <p:nvPr/>
          </p:nvSpPr>
          <p:spPr>
            <a:xfrm>
              <a:off x="6379044" y="2312664"/>
              <a:ext cx="2634326" cy="483000"/>
            </a:xfrm>
            <a:prstGeom prst="rect">
              <a:avLst/>
            </a:prstGeom>
            <a:noFill/>
            <a:ln>
              <a:noFill/>
            </a:ln>
          </p:spPr>
          <p:txBody>
            <a:bodyPr spcFirstLastPara="1" wrap="square" lIns="91425" tIns="91425" rIns="91425" bIns="91425" anchor="ctr" anchorCtr="0">
              <a:noAutofit/>
            </a:bodyPr>
            <a:lstStyle/>
            <a:p>
              <a:pPr algn="ctr"/>
              <a:r>
                <a:rPr lang="en-US" b="1" dirty="0">
                  <a:latin typeface="Fira Sans Extra Condensed"/>
                </a:rPr>
                <a:t>Transparence des </a:t>
              </a:r>
              <a:r>
                <a:rPr lang="en-US" b="1" dirty="0" err="1">
                  <a:latin typeface="Fira Sans Extra Condensed"/>
                </a:rPr>
                <a:t>Décisions</a:t>
              </a:r>
              <a:endParaRPr lang="en-US" b="1" dirty="0">
                <a:latin typeface="Fira Sans Extra Condensed"/>
              </a:endParaRPr>
            </a:p>
          </p:txBody>
        </p:sp>
        <p:sp>
          <p:nvSpPr>
            <p:cNvPr id="774" name="Google Shape;774;p23"/>
            <p:cNvSpPr/>
            <p:nvPr/>
          </p:nvSpPr>
          <p:spPr>
            <a:xfrm>
              <a:off x="6483000" y="2513363"/>
              <a:ext cx="66600" cy="401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 name="Google Shape;775;p23"/>
          <p:cNvGrpSpPr/>
          <p:nvPr/>
        </p:nvGrpSpPr>
        <p:grpSpPr>
          <a:xfrm>
            <a:off x="6199993" y="3613013"/>
            <a:ext cx="3023834" cy="624375"/>
            <a:chOff x="6199993" y="3425088"/>
            <a:chExt cx="3023834" cy="624375"/>
          </a:xfrm>
        </p:grpSpPr>
        <p:sp>
          <p:nvSpPr>
            <p:cNvPr id="776" name="Google Shape;776;p23"/>
            <p:cNvSpPr txBox="1"/>
            <p:nvPr/>
          </p:nvSpPr>
          <p:spPr>
            <a:xfrm>
              <a:off x="6379044" y="3425088"/>
              <a:ext cx="2844783" cy="483000"/>
            </a:xfrm>
            <a:prstGeom prst="rect">
              <a:avLst/>
            </a:prstGeom>
            <a:noFill/>
            <a:ln>
              <a:noFill/>
            </a:ln>
          </p:spPr>
          <p:txBody>
            <a:bodyPr spcFirstLastPara="1" wrap="square" lIns="91425" tIns="91425" rIns="91425" bIns="91425" anchor="ctr" anchorCtr="0">
              <a:noAutofit/>
            </a:bodyPr>
            <a:lstStyle/>
            <a:p>
              <a:r>
                <a:rPr lang="en-US" b="1" dirty="0">
                  <a:latin typeface="Fira Sans Extra Condensed"/>
                </a:rPr>
                <a:t>Justification Claire des </a:t>
              </a:r>
              <a:r>
                <a:rPr lang="en-US" b="1" dirty="0" err="1">
                  <a:latin typeface="Fira Sans Extra Condensed"/>
                </a:rPr>
                <a:t>Classements</a:t>
              </a:r>
              <a:endParaRPr lang="en-US" b="1" dirty="0">
                <a:latin typeface="Fira Sans Extra Condensed"/>
              </a:endParaRPr>
            </a:p>
          </p:txBody>
        </p:sp>
        <p:sp>
          <p:nvSpPr>
            <p:cNvPr id="777" name="Google Shape;777;p23"/>
            <p:cNvSpPr/>
            <p:nvPr/>
          </p:nvSpPr>
          <p:spPr>
            <a:xfrm>
              <a:off x="6199993" y="3648063"/>
              <a:ext cx="66600" cy="4014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cxnSp>
        <p:nvCxnSpPr>
          <p:cNvPr id="779" name="Google Shape;779;p23"/>
          <p:cNvCxnSpPr>
            <a:stCxn id="741" idx="6"/>
            <a:endCxn id="774" idx="1"/>
          </p:cNvCxnSpPr>
          <p:nvPr/>
        </p:nvCxnSpPr>
        <p:spPr>
          <a:xfrm rot="10800000" flipH="1">
            <a:off x="5702850" y="2902113"/>
            <a:ext cx="780300" cy="3000"/>
          </a:xfrm>
          <a:prstGeom prst="straightConnector1">
            <a:avLst/>
          </a:prstGeom>
          <a:noFill/>
          <a:ln w="9525" cap="flat" cmpd="sng">
            <a:solidFill>
              <a:schemeClr val="accent4"/>
            </a:solidFill>
            <a:prstDash val="solid"/>
            <a:round/>
            <a:headEnd type="none" w="med" len="med"/>
            <a:tailEnd type="none" w="med" len="med"/>
          </a:ln>
        </p:spPr>
      </p:cxnSp>
      <p:cxnSp>
        <p:nvCxnSpPr>
          <p:cNvPr id="781" name="Google Shape;781;p23"/>
          <p:cNvCxnSpPr>
            <a:cxnSpLocks/>
          </p:cNvCxnSpPr>
          <p:nvPr/>
        </p:nvCxnSpPr>
        <p:spPr>
          <a:xfrm>
            <a:off x="5411441" y="4042313"/>
            <a:ext cx="780300" cy="0"/>
          </a:xfrm>
          <a:prstGeom prst="straightConnector1">
            <a:avLst/>
          </a:prstGeom>
          <a:noFill/>
          <a:ln w="9525" cap="flat" cmpd="sng">
            <a:solidFill>
              <a:schemeClr val="accent5"/>
            </a:solidFill>
            <a:prstDash val="solid"/>
            <a:round/>
            <a:headEnd type="none" w="med" len="med"/>
            <a:tailEnd type="none" w="med" len="med"/>
          </a:ln>
        </p:spPr>
      </p:cxnSp>
      <p:sp>
        <p:nvSpPr>
          <p:cNvPr id="3" name="ZoneTexte 2">
            <a:extLst>
              <a:ext uri="{FF2B5EF4-FFF2-40B4-BE49-F238E27FC236}">
                <a16:creationId xmlns:a16="http://schemas.microsoft.com/office/drawing/2014/main" id="{AAD985B4-204E-0937-C927-E9CB796FCA72}"/>
              </a:ext>
            </a:extLst>
          </p:cNvPr>
          <p:cNvSpPr txBox="1"/>
          <p:nvPr/>
        </p:nvSpPr>
        <p:spPr>
          <a:xfrm>
            <a:off x="6549600" y="1741612"/>
            <a:ext cx="2971157" cy="577081"/>
          </a:xfrm>
          <a:prstGeom prst="rect">
            <a:avLst/>
          </a:prstGeom>
          <a:noFill/>
        </p:spPr>
        <p:txBody>
          <a:bodyPr wrap="square">
            <a:spAutoFit/>
          </a:bodyPr>
          <a:lstStyle/>
          <a:p>
            <a:pPr marL="0" indent="0" algn="l">
              <a:buNone/>
            </a:pPr>
            <a:r>
              <a:rPr lang="en-US" sz="1050" dirty="0" err="1">
                <a:solidFill>
                  <a:srgbClr val="61615C"/>
                </a:solidFill>
                <a:latin typeface="Tomorrow" pitchFamily="34" charset="0"/>
                <a:ea typeface="Tomorrow" pitchFamily="34" charset="-122"/>
                <a:cs typeface="Tomorrow" pitchFamily="34" charset="-120"/>
              </a:rPr>
              <a:t>Comprendre</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pourquoi</a:t>
            </a:r>
            <a:r>
              <a:rPr lang="en-US" sz="1050" dirty="0">
                <a:solidFill>
                  <a:srgbClr val="61615C"/>
                </a:solidFill>
                <a:latin typeface="Tomorrow" pitchFamily="34" charset="0"/>
                <a:ea typeface="Tomorrow" pitchFamily="34" charset="-122"/>
                <a:cs typeface="Tomorrow" pitchFamily="34" charset="-120"/>
              </a:rPr>
              <a:t> un </a:t>
            </a:r>
            <a:r>
              <a:rPr lang="en-US" sz="1050" dirty="0" err="1">
                <a:solidFill>
                  <a:srgbClr val="61615C"/>
                </a:solidFill>
                <a:latin typeface="Tomorrow" pitchFamily="34" charset="0"/>
                <a:ea typeface="Tomorrow" pitchFamily="34" charset="-122"/>
                <a:cs typeface="Tomorrow" pitchFamily="34" charset="-120"/>
              </a:rPr>
              <a:t>candidat</a:t>
            </a:r>
            <a:r>
              <a:rPr lang="en-US" sz="1050" dirty="0">
                <a:solidFill>
                  <a:srgbClr val="61615C"/>
                </a:solidFill>
                <a:latin typeface="Tomorrow" pitchFamily="34" charset="0"/>
                <a:ea typeface="Tomorrow" pitchFamily="34" charset="-122"/>
                <a:cs typeface="Tomorrow" pitchFamily="34" charset="-120"/>
              </a:rPr>
              <a:t> est </a:t>
            </a:r>
            <a:r>
              <a:rPr lang="en-US" sz="1050" dirty="0" err="1">
                <a:solidFill>
                  <a:srgbClr val="61615C"/>
                </a:solidFill>
                <a:latin typeface="Tomorrow" pitchFamily="34" charset="0"/>
                <a:ea typeface="Tomorrow" pitchFamily="34" charset="-122"/>
                <a:cs typeface="Tomorrow" pitchFamily="34" charset="-120"/>
              </a:rPr>
              <a:t>sélectionné</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ou</a:t>
            </a:r>
            <a:r>
              <a:rPr lang="en-US" sz="1050" dirty="0">
                <a:solidFill>
                  <a:srgbClr val="61615C"/>
                </a:solidFill>
                <a:latin typeface="Tomorrow" pitchFamily="34" charset="0"/>
                <a:ea typeface="Tomorrow" pitchFamily="34" charset="-122"/>
                <a:cs typeface="Tomorrow" pitchFamily="34" charset="-120"/>
              </a:rPr>
              <a:t> non) est crucial pour les </a:t>
            </a:r>
            <a:r>
              <a:rPr lang="en-US" sz="1050" dirty="0" err="1">
                <a:solidFill>
                  <a:srgbClr val="61615C"/>
                </a:solidFill>
                <a:latin typeface="Tomorrow" pitchFamily="34" charset="0"/>
                <a:ea typeface="Tomorrow" pitchFamily="34" charset="-122"/>
                <a:cs typeface="Tomorrow" pitchFamily="34" charset="-120"/>
              </a:rPr>
              <a:t>utilisateurs</a:t>
            </a:r>
            <a:r>
              <a:rPr lang="en-US" sz="1050" dirty="0">
                <a:solidFill>
                  <a:srgbClr val="61615C"/>
                </a:solidFill>
                <a:latin typeface="Tomorrow" pitchFamily="34" charset="0"/>
                <a:ea typeface="Tomorrow" pitchFamily="34" charset="-122"/>
                <a:cs typeface="Tomorrow" pitchFamily="34" charset="-120"/>
              </a:rPr>
              <a:t> et les </a:t>
            </a:r>
            <a:r>
              <a:rPr lang="en-US" sz="1050" dirty="0" err="1">
                <a:solidFill>
                  <a:srgbClr val="61615C"/>
                </a:solidFill>
                <a:latin typeface="Tomorrow" pitchFamily="34" charset="0"/>
                <a:ea typeface="Tomorrow" pitchFamily="34" charset="-122"/>
                <a:cs typeface="Tomorrow" pitchFamily="34" charset="-120"/>
              </a:rPr>
              <a:t>régulateurs</a:t>
            </a:r>
            <a:r>
              <a:rPr lang="en-US" sz="1050" dirty="0">
                <a:solidFill>
                  <a:srgbClr val="61615C"/>
                </a:solidFill>
                <a:latin typeface="Tomorrow" pitchFamily="34" charset="0"/>
                <a:ea typeface="Tomorrow" pitchFamily="34" charset="-122"/>
                <a:cs typeface="Tomorrow" pitchFamily="34" charset="-120"/>
              </a:rPr>
              <a:t>.</a:t>
            </a:r>
            <a:endParaRPr lang="en-US" sz="1050" dirty="0"/>
          </a:p>
        </p:txBody>
      </p:sp>
      <p:sp>
        <p:nvSpPr>
          <p:cNvPr id="5" name="ZoneTexte 4">
            <a:extLst>
              <a:ext uri="{FF2B5EF4-FFF2-40B4-BE49-F238E27FC236}">
                <a16:creationId xmlns:a16="http://schemas.microsoft.com/office/drawing/2014/main" id="{9CB8938E-795A-69A6-CAA6-10AB55E60B00}"/>
              </a:ext>
            </a:extLst>
          </p:cNvPr>
          <p:cNvSpPr txBox="1"/>
          <p:nvPr/>
        </p:nvSpPr>
        <p:spPr>
          <a:xfrm>
            <a:off x="6642084" y="2824780"/>
            <a:ext cx="2402114" cy="577081"/>
          </a:xfrm>
          <a:prstGeom prst="rect">
            <a:avLst/>
          </a:prstGeom>
          <a:noFill/>
        </p:spPr>
        <p:txBody>
          <a:bodyPr wrap="square">
            <a:spAutoFit/>
          </a:bodyPr>
          <a:lstStyle/>
          <a:p>
            <a:pPr marL="0" indent="0" algn="l">
              <a:buNone/>
            </a:pPr>
            <a:r>
              <a:rPr lang="en-US" sz="1050" dirty="0">
                <a:solidFill>
                  <a:srgbClr val="61615C"/>
                </a:solidFill>
                <a:latin typeface="Tomorrow" pitchFamily="34" charset="0"/>
                <a:ea typeface="Tomorrow" pitchFamily="34" charset="-122"/>
                <a:cs typeface="Tomorrow" pitchFamily="34" charset="-120"/>
              </a:rPr>
              <a:t>Les explications </a:t>
            </a:r>
            <a:r>
              <a:rPr lang="en-US" sz="1050" dirty="0" err="1">
                <a:solidFill>
                  <a:srgbClr val="61615C"/>
                </a:solidFill>
                <a:latin typeface="Tomorrow" pitchFamily="34" charset="0"/>
                <a:ea typeface="Tomorrow" pitchFamily="34" charset="-122"/>
                <a:cs typeface="Tomorrow" pitchFamily="34" charset="-120"/>
              </a:rPr>
              <a:t>textuelles</a:t>
            </a:r>
            <a:r>
              <a:rPr lang="en-US" sz="1050" dirty="0">
                <a:solidFill>
                  <a:srgbClr val="61615C"/>
                </a:solidFill>
                <a:latin typeface="Tomorrow" pitchFamily="34" charset="0"/>
                <a:ea typeface="Tomorrow" pitchFamily="34" charset="-122"/>
                <a:cs typeface="Tomorrow" pitchFamily="34" charset="-120"/>
              </a:rPr>
              <a:t> générées par </a:t>
            </a:r>
            <a:r>
              <a:rPr lang="en-US" sz="1050" dirty="0" err="1">
                <a:solidFill>
                  <a:srgbClr val="61615C"/>
                </a:solidFill>
                <a:latin typeface="Tomorrow" pitchFamily="34" charset="0"/>
                <a:ea typeface="Tomorrow" pitchFamily="34" charset="-122"/>
                <a:cs typeface="Tomorrow" pitchFamily="34" charset="-120"/>
              </a:rPr>
              <a:t>l'IA</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détaillent</a:t>
            </a:r>
            <a:r>
              <a:rPr lang="en-US" sz="1050" dirty="0">
                <a:solidFill>
                  <a:srgbClr val="61615C"/>
                </a:solidFill>
                <a:latin typeface="Tomorrow" pitchFamily="34" charset="0"/>
                <a:ea typeface="Tomorrow" pitchFamily="34" charset="-122"/>
                <a:cs typeface="Tomorrow" pitchFamily="34" charset="-120"/>
              </a:rPr>
              <a:t> les forces et faiblesses de </a:t>
            </a:r>
            <a:r>
              <a:rPr lang="en-US" sz="1050" dirty="0" err="1">
                <a:solidFill>
                  <a:srgbClr val="61615C"/>
                </a:solidFill>
                <a:latin typeface="Tomorrow" pitchFamily="34" charset="0"/>
                <a:ea typeface="Tomorrow" pitchFamily="34" charset="-122"/>
                <a:cs typeface="Tomorrow" pitchFamily="34" charset="-120"/>
              </a:rPr>
              <a:t>chaque</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profil</a:t>
            </a:r>
            <a:r>
              <a:rPr lang="en-US" sz="1050" dirty="0">
                <a:solidFill>
                  <a:srgbClr val="61615C"/>
                </a:solidFill>
                <a:latin typeface="Tomorrow" pitchFamily="34" charset="0"/>
                <a:ea typeface="Tomorrow" pitchFamily="34" charset="-122"/>
                <a:cs typeface="Tomorrow" pitchFamily="34" charset="-120"/>
              </a:rPr>
              <a:t>.</a:t>
            </a:r>
            <a:endParaRPr lang="en-US" sz="1050" dirty="0"/>
          </a:p>
        </p:txBody>
      </p:sp>
      <p:sp>
        <p:nvSpPr>
          <p:cNvPr id="7" name="ZoneTexte 6">
            <a:extLst>
              <a:ext uri="{FF2B5EF4-FFF2-40B4-BE49-F238E27FC236}">
                <a16:creationId xmlns:a16="http://schemas.microsoft.com/office/drawing/2014/main" id="{B3C3F075-D2A3-F6AF-2DF8-6440655DFC0E}"/>
              </a:ext>
            </a:extLst>
          </p:cNvPr>
          <p:cNvSpPr txBox="1"/>
          <p:nvPr/>
        </p:nvSpPr>
        <p:spPr>
          <a:xfrm>
            <a:off x="6379044" y="4018624"/>
            <a:ext cx="2634326" cy="577081"/>
          </a:xfrm>
          <a:prstGeom prst="rect">
            <a:avLst/>
          </a:prstGeom>
          <a:noFill/>
        </p:spPr>
        <p:txBody>
          <a:bodyPr wrap="square">
            <a:spAutoFit/>
          </a:bodyPr>
          <a:lstStyle/>
          <a:p>
            <a:pPr marL="0" indent="0" algn="l">
              <a:buNone/>
            </a:pPr>
            <a:r>
              <a:rPr lang="en-US" sz="1050" dirty="0">
                <a:solidFill>
                  <a:srgbClr val="61615C"/>
                </a:solidFill>
                <a:latin typeface="Tomorrow" pitchFamily="34" charset="0"/>
                <a:ea typeface="Tomorrow" pitchFamily="34" charset="-122"/>
                <a:cs typeface="Tomorrow" pitchFamily="34" charset="-120"/>
              </a:rPr>
              <a:t>Mise </a:t>
            </a:r>
            <a:r>
              <a:rPr lang="en-US" sz="1050" dirty="0" err="1">
                <a:solidFill>
                  <a:srgbClr val="61615C"/>
                </a:solidFill>
                <a:latin typeface="Tomorrow" pitchFamily="34" charset="0"/>
                <a:ea typeface="Tomorrow" pitchFamily="34" charset="-122"/>
                <a:cs typeface="Tomorrow" pitchFamily="34" charset="-120"/>
              </a:rPr>
              <a:t>en</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évidence</a:t>
            </a:r>
            <a:r>
              <a:rPr lang="en-US" sz="1050" dirty="0">
                <a:solidFill>
                  <a:srgbClr val="61615C"/>
                </a:solidFill>
                <a:latin typeface="Tomorrow" pitchFamily="34" charset="0"/>
                <a:ea typeface="Tomorrow" pitchFamily="34" charset="-122"/>
                <a:cs typeface="Tomorrow" pitchFamily="34" charset="-120"/>
              </a:rPr>
              <a:t> des </a:t>
            </a:r>
            <a:r>
              <a:rPr lang="en-US" sz="1050" dirty="0" err="1">
                <a:solidFill>
                  <a:srgbClr val="61615C"/>
                </a:solidFill>
                <a:latin typeface="Tomorrow" pitchFamily="34" charset="0"/>
                <a:ea typeface="Tomorrow" pitchFamily="34" charset="-122"/>
                <a:cs typeface="Tomorrow" pitchFamily="34" charset="-120"/>
              </a:rPr>
              <a:t>caractéristiques</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clés</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ayant</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influencé</a:t>
            </a:r>
            <a:r>
              <a:rPr lang="en-US" sz="1050" dirty="0">
                <a:solidFill>
                  <a:srgbClr val="61615C"/>
                </a:solidFill>
                <a:latin typeface="Tomorrow" pitchFamily="34" charset="0"/>
                <a:ea typeface="Tomorrow" pitchFamily="34" charset="-122"/>
                <a:cs typeface="Tomorrow" pitchFamily="34" charset="-120"/>
              </a:rPr>
              <a:t> la </a:t>
            </a:r>
            <a:r>
              <a:rPr lang="en-US" sz="1050" dirty="0" err="1">
                <a:solidFill>
                  <a:srgbClr val="61615C"/>
                </a:solidFill>
                <a:latin typeface="Tomorrow" pitchFamily="34" charset="0"/>
                <a:ea typeface="Tomorrow" pitchFamily="34" charset="-122"/>
                <a:cs typeface="Tomorrow" pitchFamily="34" charset="-120"/>
              </a:rPr>
              <a:t>décision</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comme</a:t>
            </a:r>
            <a:r>
              <a:rPr lang="en-US" sz="1050" dirty="0">
                <a:solidFill>
                  <a:srgbClr val="61615C"/>
                </a:solidFill>
                <a:latin typeface="Tomorrow" pitchFamily="34" charset="0"/>
                <a:ea typeface="Tomorrow" pitchFamily="34" charset="-122"/>
                <a:cs typeface="Tomorrow" pitchFamily="34" charset="-120"/>
              </a:rPr>
              <a:t> les compétences </a:t>
            </a:r>
            <a:r>
              <a:rPr lang="en-US" sz="1050" dirty="0" err="1">
                <a:solidFill>
                  <a:srgbClr val="61615C"/>
                </a:solidFill>
                <a:latin typeface="Tomorrow" pitchFamily="34" charset="0"/>
                <a:ea typeface="Tomorrow" pitchFamily="34" charset="-122"/>
                <a:cs typeface="Tomorrow" pitchFamily="34" charset="-120"/>
              </a:rPr>
              <a:t>ou</a:t>
            </a:r>
            <a:r>
              <a:rPr lang="en-US" sz="1050" dirty="0">
                <a:solidFill>
                  <a:srgbClr val="61615C"/>
                </a:solidFill>
                <a:latin typeface="Tomorrow" pitchFamily="34" charset="0"/>
                <a:ea typeface="Tomorrow" pitchFamily="34" charset="-122"/>
                <a:cs typeface="Tomorrow" pitchFamily="34" charset="-120"/>
              </a:rPr>
              <a:t> </a:t>
            </a:r>
            <a:r>
              <a:rPr lang="en-US" sz="1050" dirty="0" err="1">
                <a:solidFill>
                  <a:srgbClr val="61615C"/>
                </a:solidFill>
                <a:latin typeface="Tomorrow" pitchFamily="34" charset="0"/>
                <a:ea typeface="Tomorrow" pitchFamily="34" charset="-122"/>
                <a:cs typeface="Tomorrow" pitchFamily="34" charset="-120"/>
              </a:rPr>
              <a:t>l'expérience</a:t>
            </a:r>
            <a:r>
              <a:rPr lang="en-US" sz="1050" dirty="0">
                <a:solidFill>
                  <a:srgbClr val="61615C"/>
                </a:solidFill>
                <a:latin typeface="Tomorrow" pitchFamily="34" charset="0"/>
                <a:ea typeface="Tomorrow" pitchFamily="34" charset="-122"/>
                <a:cs typeface="Tomorrow" pitchFamily="34" charset="-120"/>
              </a:rPr>
              <a:t>.</a:t>
            </a:r>
            <a:endParaRPr lang="en-US" sz="1050" dirty="0"/>
          </a:p>
        </p:txBody>
      </p:sp>
      <p:pic>
        <p:nvPicPr>
          <p:cNvPr id="9" name="Image 2" descr="preencoded.png">
            <a:extLst>
              <a:ext uri="{FF2B5EF4-FFF2-40B4-BE49-F238E27FC236}">
                <a16:creationId xmlns:a16="http://schemas.microsoft.com/office/drawing/2014/main" id="{6439B279-055F-AD81-3DD1-74B08FC5B0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01771" y="2700541"/>
            <a:ext cx="413657" cy="413657"/>
          </a:xfrm>
          <a:prstGeom prst="rect">
            <a:avLst/>
          </a:prstGeom>
        </p:spPr>
      </p:pic>
      <p:pic>
        <p:nvPicPr>
          <p:cNvPr id="12" name="Image 1" descr="preencoded.png">
            <a:extLst>
              <a:ext uri="{FF2B5EF4-FFF2-40B4-BE49-F238E27FC236}">
                <a16:creationId xmlns:a16="http://schemas.microsoft.com/office/drawing/2014/main" id="{157F69A5-F970-3865-48A2-3DC4AF647B2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21524" y="1579875"/>
            <a:ext cx="393904" cy="393904"/>
          </a:xfrm>
          <a:prstGeom prst="rect">
            <a:avLst/>
          </a:prstGeom>
        </p:spPr>
      </p:pic>
      <p:pic>
        <p:nvPicPr>
          <p:cNvPr id="13" name="Image 3" descr="preencoded.png">
            <a:extLst>
              <a:ext uri="{FF2B5EF4-FFF2-40B4-BE49-F238E27FC236}">
                <a16:creationId xmlns:a16="http://schemas.microsoft.com/office/drawing/2014/main" id="{80F8423A-2B95-9AE0-8EC1-F8C3F187825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54655" y="3807577"/>
            <a:ext cx="460773" cy="460773"/>
          </a:xfrm>
          <a:prstGeom prst="rect">
            <a:avLst/>
          </a:prstGeom>
        </p:spPr>
      </p:pic>
      <p:pic>
        <p:nvPicPr>
          <p:cNvPr id="15" name="Image 14">
            <a:extLst>
              <a:ext uri="{FF2B5EF4-FFF2-40B4-BE49-F238E27FC236}">
                <a16:creationId xmlns:a16="http://schemas.microsoft.com/office/drawing/2014/main" id="{D0FE5CB6-5DC6-A5A0-D7D5-C2F4864827FB}"/>
              </a:ext>
            </a:extLst>
          </p:cNvPr>
          <p:cNvPicPr>
            <a:picLocks noChangeAspect="1"/>
          </p:cNvPicPr>
          <p:nvPr/>
        </p:nvPicPr>
        <p:blipFill>
          <a:blip r:embed="rId9"/>
          <a:stretch>
            <a:fillRect/>
          </a:stretch>
        </p:blipFill>
        <p:spPr>
          <a:xfrm>
            <a:off x="12632" y="1283291"/>
            <a:ext cx="4815868" cy="308297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11">
          <a:extLst>
            <a:ext uri="{FF2B5EF4-FFF2-40B4-BE49-F238E27FC236}">
              <a16:creationId xmlns:a16="http://schemas.microsoft.com/office/drawing/2014/main" id="{2FF812DF-B9CF-466D-5E70-ED1531858145}"/>
            </a:ext>
          </a:extLst>
        </p:cNvPr>
        <p:cNvGrpSpPr/>
        <p:nvPr/>
      </p:nvGrpSpPr>
      <p:grpSpPr>
        <a:xfrm>
          <a:off x="0" y="0"/>
          <a:ext cx="0" cy="0"/>
          <a:chOff x="0" y="0"/>
          <a:chExt cx="0" cy="0"/>
        </a:xfrm>
      </p:grpSpPr>
      <p:sp>
        <p:nvSpPr>
          <p:cNvPr id="2315" name="Google Shape;2315;p45">
            <a:extLst>
              <a:ext uri="{FF2B5EF4-FFF2-40B4-BE49-F238E27FC236}">
                <a16:creationId xmlns:a16="http://schemas.microsoft.com/office/drawing/2014/main" id="{F716F2A7-B0F8-B82D-3201-1169366D7522}"/>
              </a:ext>
            </a:extLst>
          </p:cNvPr>
          <p:cNvSpPr txBox="1">
            <a:spLocks noGrp="1"/>
          </p:cNvSpPr>
          <p:nvPr>
            <p:ph type="title"/>
          </p:nvPr>
        </p:nvSpPr>
        <p:spPr>
          <a:xfrm>
            <a:off x="457200" y="275019"/>
            <a:ext cx="8229600" cy="371400"/>
          </a:xfrm>
          <a:prstGeom prst="rect">
            <a:avLst/>
          </a:prstGeom>
        </p:spPr>
        <p:txBody>
          <a:bodyPr spcFirstLastPara="1" wrap="square" lIns="91425" tIns="91425" rIns="91425" bIns="91425" anchor="ctr" anchorCtr="0">
            <a:noAutofit/>
          </a:bodyPr>
          <a:lstStyle/>
          <a:p>
            <a:pPr algn="l"/>
            <a:r>
              <a:rPr lang="en-US" sz="2400" dirty="0">
                <a:solidFill>
                  <a:srgbClr val="1D1D1B"/>
                </a:solidFill>
                <a:latin typeface="Tomorrow Semi Bold" pitchFamily="34" charset="0"/>
                <a:ea typeface="Tomorrow Semi Bold" pitchFamily="34" charset="-122"/>
              </a:rPr>
              <a:t>Architecture </a:t>
            </a:r>
            <a:r>
              <a:rPr lang="en-US" sz="2400" dirty="0" err="1">
                <a:solidFill>
                  <a:srgbClr val="1D1D1B"/>
                </a:solidFill>
                <a:latin typeface="Tomorrow Semi Bold" pitchFamily="34" charset="0"/>
                <a:ea typeface="Tomorrow Semi Bold" pitchFamily="34" charset="-122"/>
              </a:rPr>
              <a:t>Globale</a:t>
            </a:r>
            <a:r>
              <a:rPr lang="en-US" sz="2400" dirty="0">
                <a:solidFill>
                  <a:srgbClr val="1D1D1B"/>
                </a:solidFill>
                <a:latin typeface="Tomorrow Semi Bold" pitchFamily="34" charset="0"/>
                <a:ea typeface="Tomorrow Semi Bold" pitchFamily="34" charset="-122"/>
              </a:rPr>
              <a:t> du Système : Du CV à la </a:t>
            </a:r>
            <a:r>
              <a:rPr lang="en-US" sz="2400" dirty="0" err="1">
                <a:solidFill>
                  <a:srgbClr val="1D1D1B"/>
                </a:solidFill>
                <a:latin typeface="Tomorrow Semi Bold" pitchFamily="34" charset="0"/>
                <a:ea typeface="Tomorrow Semi Bold" pitchFamily="34" charset="-122"/>
              </a:rPr>
              <a:t>Décision</a:t>
            </a:r>
            <a:r>
              <a:rPr lang="en-US" sz="2400" dirty="0">
                <a:solidFill>
                  <a:srgbClr val="1D1D1B"/>
                </a:solidFill>
                <a:latin typeface="Tomorrow Semi Bold" pitchFamily="34" charset="0"/>
                <a:ea typeface="Tomorrow Semi Bold" pitchFamily="34" charset="-122"/>
              </a:rPr>
              <a:t> </a:t>
            </a:r>
            <a:r>
              <a:rPr lang="en-US" sz="2400" dirty="0" err="1">
                <a:solidFill>
                  <a:srgbClr val="1D1D1B"/>
                </a:solidFill>
                <a:latin typeface="Tomorrow Semi Bold" pitchFamily="34" charset="0"/>
                <a:ea typeface="Tomorrow Semi Bold" pitchFamily="34" charset="-122"/>
              </a:rPr>
              <a:t>Justifiée</a:t>
            </a:r>
            <a:endParaRPr lang="en-US" sz="2400" dirty="0">
              <a:solidFill>
                <a:srgbClr val="1D1D1B"/>
              </a:solidFill>
              <a:latin typeface="Tomorrow Semi Bold" pitchFamily="34" charset="0"/>
              <a:ea typeface="Tomorrow Semi Bold" pitchFamily="34" charset="-122"/>
            </a:endParaRPr>
          </a:p>
        </p:txBody>
      </p:sp>
      <p:pic>
        <p:nvPicPr>
          <p:cNvPr id="3" name="Image 2">
            <a:extLst>
              <a:ext uri="{FF2B5EF4-FFF2-40B4-BE49-F238E27FC236}">
                <a16:creationId xmlns:a16="http://schemas.microsoft.com/office/drawing/2014/main" id="{7ACDB6CA-1444-D7B8-7364-15FAFC47A5A0}"/>
              </a:ext>
            </a:extLst>
          </p:cNvPr>
          <p:cNvPicPr>
            <a:picLocks noChangeAspect="1"/>
          </p:cNvPicPr>
          <p:nvPr/>
        </p:nvPicPr>
        <p:blipFill>
          <a:blip r:embed="rId3"/>
          <a:stretch>
            <a:fillRect/>
          </a:stretch>
        </p:blipFill>
        <p:spPr>
          <a:xfrm>
            <a:off x="1261778" y="1105483"/>
            <a:ext cx="6400799" cy="1837669"/>
          </a:xfrm>
          <a:prstGeom prst="rect">
            <a:avLst/>
          </a:prstGeom>
        </p:spPr>
      </p:pic>
      <p:sp>
        <p:nvSpPr>
          <p:cNvPr id="7" name="Google Shape;2329;p45">
            <a:extLst>
              <a:ext uri="{FF2B5EF4-FFF2-40B4-BE49-F238E27FC236}">
                <a16:creationId xmlns:a16="http://schemas.microsoft.com/office/drawing/2014/main" id="{4E11903F-2B4D-4F8E-DFFF-A68BE6238EBB}"/>
              </a:ext>
            </a:extLst>
          </p:cNvPr>
          <p:cNvSpPr/>
          <p:nvPr/>
        </p:nvSpPr>
        <p:spPr>
          <a:xfrm>
            <a:off x="789101" y="3345542"/>
            <a:ext cx="7346155" cy="1306287"/>
          </a:xfrm>
          <a:prstGeom prst="roundRect">
            <a:avLst>
              <a:gd name="adj" fmla="val 16667"/>
            </a:avLst>
          </a:prstGeom>
          <a:solidFill>
            <a:srgbClr val="8027EA">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ZoneTexte 9">
            <a:extLst>
              <a:ext uri="{FF2B5EF4-FFF2-40B4-BE49-F238E27FC236}">
                <a16:creationId xmlns:a16="http://schemas.microsoft.com/office/drawing/2014/main" id="{D4AEB49F-453E-448D-4924-C5C51A7C1395}"/>
              </a:ext>
            </a:extLst>
          </p:cNvPr>
          <p:cNvSpPr txBox="1"/>
          <p:nvPr/>
        </p:nvSpPr>
        <p:spPr>
          <a:xfrm>
            <a:off x="934782" y="3402217"/>
            <a:ext cx="7274435" cy="1169551"/>
          </a:xfrm>
          <a:prstGeom prst="rect">
            <a:avLst/>
          </a:prstGeom>
          <a:noFill/>
        </p:spPr>
        <p:txBody>
          <a:bodyPr wrap="square">
            <a:spAutoFit/>
          </a:bodyPr>
          <a:lstStyle/>
          <a:p>
            <a:r>
              <a:rPr lang="en-US" dirty="0">
                <a:latin typeface="+mn-lt"/>
                <a:ea typeface="Roboto"/>
                <a:cs typeface="Roboto"/>
              </a:rPr>
              <a:t>Notre </a:t>
            </a:r>
            <a:r>
              <a:rPr lang="en-US" dirty="0" err="1">
                <a:latin typeface="+mn-lt"/>
                <a:ea typeface="Roboto"/>
                <a:cs typeface="Roboto"/>
              </a:rPr>
              <a:t>système</a:t>
            </a:r>
            <a:r>
              <a:rPr lang="en-US" dirty="0">
                <a:latin typeface="+mn-lt"/>
                <a:ea typeface="Roboto"/>
                <a:cs typeface="Roboto"/>
              </a:rPr>
              <a:t> </a:t>
            </a:r>
            <a:r>
              <a:rPr lang="en-US" dirty="0" err="1">
                <a:latin typeface="+mn-lt"/>
                <a:ea typeface="Roboto"/>
                <a:cs typeface="Roboto"/>
              </a:rPr>
              <a:t>intègre</a:t>
            </a:r>
            <a:r>
              <a:rPr lang="en-US" dirty="0">
                <a:latin typeface="+mn-lt"/>
                <a:ea typeface="Roboto"/>
                <a:cs typeface="Roboto"/>
              </a:rPr>
              <a:t> les candidatures (CV, descriptions de poste) </a:t>
            </a:r>
            <a:r>
              <a:rPr lang="en-US" dirty="0" err="1">
                <a:latin typeface="+mn-lt"/>
                <a:ea typeface="Roboto"/>
                <a:cs typeface="Roboto"/>
              </a:rPr>
              <a:t>comme</a:t>
            </a:r>
            <a:r>
              <a:rPr lang="en-US" dirty="0">
                <a:latin typeface="+mn-lt"/>
                <a:ea typeface="Roboto"/>
                <a:cs typeface="Roboto"/>
              </a:rPr>
              <a:t> données </a:t>
            </a:r>
            <a:r>
              <a:rPr lang="en-US" dirty="0" err="1">
                <a:latin typeface="+mn-lt"/>
                <a:ea typeface="Roboto"/>
                <a:cs typeface="Roboto"/>
              </a:rPr>
              <a:t>d'entrée</a:t>
            </a:r>
            <a:r>
              <a:rPr lang="en-US" dirty="0">
                <a:latin typeface="+mn-lt"/>
                <a:ea typeface="Roboto"/>
                <a:cs typeface="Roboto"/>
              </a:rPr>
              <a:t>. </a:t>
            </a:r>
            <a:r>
              <a:rPr lang="en-US" dirty="0" err="1">
                <a:latin typeface="+mn-lt"/>
                <a:ea typeface="Roboto"/>
                <a:cs typeface="Roboto"/>
              </a:rPr>
              <a:t>Ces</a:t>
            </a:r>
            <a:r>
              <a:rPr lang="en-US" dirty="0">
                <a:latin typeface="+mn-lt"/>
                <a:ea typeface="Roboto"/>
                <a:cs typeface="Roboto"/>
              </a:rPr>
              <a:t> </a:t>
            </a:r>
            <a:r>
              <a:rPr lang="en-US" dirty="0" err="1">
                <a:latin typeface="+mn-lt"/>
                <a:ea typeface="Roboto"/>
                <a:cs typeface="Roboto"/>
              </a:rPr>
              <a:t>informations</a:t>
            </a:r>
            <a:r>
              <a:rPr lang="en-US" dirty="0">
                <a:latin typeface="+mn-lt"/>
                <a:ea typeface="Roboto"/>
                <a:cs typeface="Roboto"/>
              </a:rPr>
              <a:t> sont </a:t>
            </a:r>
            <a:r>
              <a:rPr lang="en-US" dirty="0" err="1">
                <a:latin typeface="+mn-lt"/>
                <a:ea typeface="Roboto"/>
                <a:cs typeface="Roboto"/>
              </a:rPr>
              <a:t>traitées</a:t>
            </a:r>
            <a:r>
              <a:rPr lang="en-US" dirty="0">
                <a:latin typeface="+mn-lt"/>
                <a:ea typeface="Roboto"/>
                <a:cs typeface="Roboto"/>
              </a:rPr>
              <a:t> par nos Agents IA </a:t>
            </a:r>
            <a:r>
              <a:rPr lang="en-US" dirty="0" err="1">
                <a:latin typeface="+mn-lt"/>
                <a:ea typeface="Roboto"/>
                <a:cs typeface="Roboto"/>
              </a:rPr>
              <a:t>collaboratifs</a:t>
            </a:r>
            <a:r>
              <a:rPr lang="en-US" dirty="0">
                <a:latin typeface="+mn-lt"/>
                <a:ea typeface="Roboto"/>
                <a:cs typeface="Roboto"/>
              </a:rPr>
              <a:t>, </a:t>
            </a:r>
            <a:r>
              <a:rPr lang="en-US" dirty="0" err="1">
                <a:latin typeface="+mn-lt"/>
                <a:ea typeface="Roboto"/>
                <a:cs typeface="Roboto"/>
              </a:rPr>
              <a:t>augmentés</a:t>
            </a:r>
            <a:r>
              <a:rPr lang="en-US" dirty="0">
                <a:latin typeface="+mn-lt"/>
                <a:ea typeface="Roboto"/>
                <a:cs typeface="Roboto"/>
              </a:rPr>
              <a:t> par le module RAG pour une </a:t>
            </a:r>
            <a:r>
              <a:rPr lang="en-US" dirty="0" err="1">
                <a:latin typeface="+mn-lt"/>
                <a:ea typeface="Roboto"/>
                <a:cs typeface="Roboto"/>
              </a:rPr>
              <a:t>connaissance</a:t>
            </a:r>
            <a:r>
              <a:rPr lang="en-US" dirty="0">
                <a:latin typeface="+mn-lt"/>
                <a:ea typeface="Roboto"/>
                <a:cs typeface="Roboto"/>
              </a:rPr>
              <a:t> </a:t>
            </a:r>
            <a:r>
              <a:rPr lang="en-US" dirty="0" err="1">
                <a:latin typeface="+mn-lt"/>
                <a:ea typeface="Roboto"/>
                <a:cs typeface="Roboto"/>
              </a:rPr>
              <a:t>enrichie</a:t>
            </a:r>
            <a:r>
              <a:rPr lang="en-US" dirty="0">
                <a:latin typeface="+mn-lt"/>
                <a:ea typeface="Roboto"/>
                <a:cs typeface="Roboto"/>
              </a:rPr>
              <a:t>. Le </a:t>
            </a:r>
            <a:r>
              <a:rPr lang="en-US" dirty="0" err="1">
                <a:latin typeface="+mn-lt"/>
                <a:ea typeface="Roboto"/>
                <a:cs typeface="Roboto"/>
              </a:rPr>
              <a:t>résultat</a:t>
            </a:r>
            <a:r>
              <a:rPr lang="en-US" dirty="0">
                <a:latin typeface="+mn-lt"/>
                <a:ea typeface="Roboto"/>
                <a:cs typeface="Roboto"/>
              </a:rPr>
              <a:t> final est un </a:t>
            </a:r>
            <a:r>
              <a:rPr lang="en-US" dirty="0" err="1">
                <a:latin typeface="+mn-lt"/>
                <a:ea typeface="Roboto"/>
                <a:cs typeface="Roboto"/>
              </a:rPr>
              <a:t>classement</a:t>
            </a:r>
            <a:r>
              <a:rPr lang="en-US" dirty="0">
                <a:latin typeface="+mn-lt"/>
                <a:ea typeface="Roboto"/>
                <a:cs typeface="Roboto"/>
              </a:rPr>
              <a:t> des </a:t>
            </a:r>
            <a:r>
              <a:rPr lang="en-US" dirty="0" err="1">
                <a:latin typeface="+mn-lt"/>
                <a:ea typeface="Roboto"/>
                <a:cs typeface="Roboto"/>
              </a:rPr>
              <a:t>candidats</a:t>
            </a:r>
            <a:r>
              <a:rPr lang="en-US" dirty="0">
                <a:latin typeface="+mn-lt"/>
                <a:ea typeface="Roboto"/>
                <a:cs typeface="Roboto"/>
              </a:rPr>
              <a:t>, </a:t>
            </a:r>
            <a:r>
              <a:rPr lang="en-US" dirty="0" err="1">
                <a:latin typeface="+mn-lt"/>
                <a:ea typeface="Roboto"/>
                <a:cs typeface="Roboto"/>
              </a:rPr>
              <a:t>accompagné</a:t>
            </a:r>
            <a:r>
              <a:rPr lang="en-US" dirty="0">
                <a:latin typeface="+mn-lt"/>
                <a:ea typeface="Roboto"/>
                <a:cs typeface="Roboto"/>
              </a:rPr>
              <a:t> </a:t>
            </a:r>
            <a:r>
              <a:rPr lang="en-US" dirty="0" err="1">
                <a:latin typeface="+mn-lt"/>
                <a:ea typeface="Roboto"/>
                <a:cs typeface="Roboto"/>
              </a:rPr>
              <a:t>d'explications</a:t>
            </a:r>
            <a:r>
              <a:rPr lang="en-US" dirty="0">
                <a:latin typeface="+mn-lt"/>
                <a:ea typeface="Roboto"/>
                <a:cs typeface="Roboto"/>
              </a:rPr>
              <a:t> </a:t>
            </a:r>
            <a:r>
              <a:rPr lang="en-US" dirty="0" err="1">
                <a:latin typeface="+mn-lt"/>
                <a:ea typeface="Roboto"/>
                <a:cs typeface="Roboto"/>
              </a:rPr>
              <a:t>claires</a:t>
            </a:r>
            <a:r>
              <a:rPr lang="en-US" dirty="0">
                <a:latin typeface="+mn-lt"/>
                <a:ea typeface="Roboto"/>
                <a:cs typeface="Roboto"/>
              </a:rPr>
              <a:t> et </a:t>
            </a:r>
            <a:r>
              <a:rPr lang="en-US" dirty="0" err="1">
                <a:latin typeface="+mn-lt"/>
                <a:ea typeface="Roboto"/>
                <a:cs typeface="Roboto"/>
              </a:rPr>
              <a:t>détaillées</a:t>
            </a:r>
            <a:r>
              <a:rPr lang="en-US" dirty="0">
                <a:latin typeface="+mn-lt"/>
                <a:ea typeface="Roboto"/>
                <a:cs typeface="Roboto"/>
              </a:rPr>
              <a:t>, </a:t>
            </a:r>
            <a:r>
              <a:rPr lang="en-US" dirty="0" err="1">
                <a:latin typeface="+mn-lt"/>
                <a:ea typeface="Roboto"/>
                <a:cs typeface="Roboto"/>
              </a:rPr>
              <a:t>garantissant</a:t>
            </a:r>
            <a:r>
              <a:rPr lang="en-US" dirty="0">
                <a:latin typeface="+mn-lt"/>
                <a:ea typeface="Roboto"/>
                <a:cs typeface="Roboto"/>
              </a:rPr>
              <a:t> une </a:t>
            </a:r>
            <a:r>
              <a:rPr lang="en-US" dirty="0" err="1">
                <a:latin typeface="+mn-lt"/>
                <a:ea typeface="Roboto"/>
                <a:cs typeface="Roboto"/>
              </a:rPr>
              <a:t>décision</a:t>
            </a:r>
            <a:r>
              <a:rPr lang="en-US" dirty="0">
                <a:latin typeface="+mn-lt"/>
                <a:ea typeface="Roboto"/>
                <a:cs typeface="Roboto"/>
              </a:rPr>
              <a:t> de </a:t>
            </a:r>
            <a:r>
              <a:rPr lang="en-US" dirty="0" err="1">
                <a:latin typeface="+mn-lt"/>
                <a:ea typeface="Roboto"/>
                <a:cs typeface="Roboto"/>
              </a:rPr>
              <a:t>recrutement</a:t>
            </a:r>
            <a:r>
              <a:rPr lang="en-US" dirty="0">
                <a:latin typeface="+mn-lt"/>
                <a:ea typeface="Roboto"/>
                <a:cs typeface="Roboto"/>
              </a:rPr>
              <a:t> </a:t>
            </a:r>
            <a:r>
              <a:rPr lang="en-US" dirty="0" err="1">
                <a:latin typeface="+mn-lt"/>
                <a:ea typeface="Roboto"/>
                <a:cs typeface="Roboto"/>
              </a:rPr>
              <a:t>automatisée</a:t>
            </a:r>
            <a:r>
              <a:rPr lang="en-US" dirty="0">
                <a:latin typeface="+mn-lt"/>
                <a:ea typeface="Roboto"/>
                <a:cs typeface="Roboto"/>
              </a:rPr>
              <a:t>, </a:t>
            </a:r>
            <a:r>
              <a:rPr lang="en-US" dirty="0" err="1">
                <a:latin typeface="+mn-lt"/>
                <a:ea typeface="Roboto"/>
                <a:cs typeface="Roboto"/>
              </a:rPr>
              <a:t>juste</a:t>
            </a:r>
            <a:r>
              <a:rPr lang="en-US" dirty="0">
                <a:latin typeface="+mn-lt"/>
                <a:ea typeface="Roboto"/>
                <a:cs typeface="Roboto"/>
              </a:rPr>
              <a:t> et </a:t>
            </a:r>
            <a:r>
              <a:rPr lang="en-US" dirty="0" err="1">
                <a:latin typeface="+mn-lt"/>
                <a:ea typeface="Roboto"/>
                <a:cs typeface="Roboto"/>
              </a:rPr>
              <a:t>transparente</a:t>
            </a:r>
            <a:r>
              <a:rPr lang="en-US" dirty="0">
                <a:latin typeface="+mn-lt"/>
                <a:ea typeface="Roboto"/>
                <a:cs typeface="Roboto"/>
              </a:rPr>
              <a:t>.</a:t>
            </a:r>
          </a:p>
        </p:txBody>
      </p:sp>
    </p:spTree>
    <p:extLst>
      <p:ext uri="{BB962C8B-B14F-4D97-AF65-F5344CB8AC3E}">
        <p14:creationId xmlns:p14="http://schemas.microsoft.com/office/powerpoint/2010/main" val="37341013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3"/>
        <p:cNvGrpSpPr/>
        <p:nvPr/>
      </p:nvGrpSpPr>
      <p:grpSpPr>
        <a:xfrm>
          <a:off x="0" y="0"/>
          <a:ext cx="0" cy="0"/>
          <a:chOff x="0" y="0"/>
          <a:chExt cx="0" cy="0"/>
        </a:xfrm>
      </p:grpSpPr>
      <p:sp>
        <p:nvSpPr>
          <p:cNvPr id="1184" name="Google Shape;1184;p29"/>
          <p:cNvSpPr txBox="1">
            <a:spLocks noGrp="1"/>
          </p:cNvSpPr>
          <p:nvPr>
            <p:ph type="title"/>
          </p:nvPr>
        </p:nvSpPr>
        <p:spPr>
          <a:xfrm>
            <a:off x="457200" y="225837"/>
            <a:ext cx="8229600" cy="371400"/>
          </a:xfrm>
          <a:prstGeom prst="rect">
            <a:avLst/>
          </a:prstGeom>
        </p:spPr>
        <p:txBody>
          <a:bodyPr spcFirstLastPara="1" wrap="square" lIns="91425" tIns="91425" rIns="91425" bIns="91425" anchor="ctr" anchorCtr="0">
            <a:noAutofit/>
          </a:bodyPr>
          <a:lstStyle/>
          <a:p>
            <a:pPr algn="l"/>
            <a:r>
              <a:rPr lang="en-US" sz="2400" dirty="0">
                <a:solidFill>
                  <a:srgbClr val="1D1D1B"/>
                </a:solidFill>
                <a:latin typeface="Tomorrow Semi Bold" pitchFamily="34" charset="0"/>
                <a:ea typeface="Tomorrow Semi Bold" pitchFamily="34" charset="-122"/>
              </a:rPr>
              <a:t>Données </a:t>
            </a:r>
            <a:r>
              <a:rPr lang="en-US" sz="2400" dirty="0" err="1">
                <a:solidFill>
                  <a:srgbClr val="1D1D1B"/>
                </a:solidFill>
                <a:latin typeface="Tomorrow Semi Bold" pitchFamily="34" charset="0"/>
                <a:ea typeface="Tomorrow Semi Bold" pitchFamily="34" charset="-122"/>
              </a:rPr>
              <a:t>Utilisées</a:t>
            </a:r>
            <a:r>
              <a:rPr lang="en-US" sz="2400" dirty="0">
                <a:solidFill>
                  <a:srgbClr val="1D1D1B"/>
                </a:solidFill>
                <a:latin typeface="Tomorrow Semi Bold" pitchFamily="34" charset="0"/>
                <a:ea typeface="Tomorrow Semi Bold" pitchFamily="34" charset="-122"/>
              </a:rPr>
              <a:t> et </a:t>
            </a:r>
            <a:r>
              <a:rPr lang="en-US" sz="2400" dirty="0" err="1">
                <a:solidFill>
                  <a:srgbClr val="1D1D1B"/>
                </a:solidFill>
                <a:latin typeface="Tomorrow Semi Bold" pitchFamily="34" charset="0"/>
                <a:ea typeface="Tomorrow Semi Bold" pitchFamily="34" charset="-122"/>
              </a:rPr>
              <a:t>Prétraitement</a:t>
            </a:r>
            <a:endParaRPr lang="en-US" sz="2400" dirty="0">
              <a:solidFill>
                <a:srgbClr val="1D1D1B"/>
              </a:solidFill>
              <a:latin typeface="Tomorrow Semi Bold" pitchFamily="34" charset="0"/>
              <a:ea typeface="Tomorrow Semi Bold" pitchFamily="34" charset="-122"/>
            </a:endParaRPr>
          </a:p>
        </p:txBody>
      </p:sp>
      <p:graphicFrame>
        <p:nvGraphicFramePr>
          <p:cNvPr id="1185" name="Google Shape;1185;p29"/>
          <p:cNvGraphicFramePr/>
          <p:nvPr>
            <p:extLst>
              <p:ext uri="{D42A27DB-BD31-4B8C-83A1-F6EECF244321}">
                <p14:modId xmlns:p14="http://schemas.microsoft.com/office/powerpoint/2010/main" val="123794826"/>
              </p:ext>
            </p:extLst>
          </p:nvPr>
        </p:nvGraphicFramePr>
        <p:xfrm>
          <a:off x="457200" y="1147234"/>
          <a:ext cx="8331200" cy="3230640"/>
        </p:xfrm>
        <a:graphic>
          <a:graphicData uri="http://schemas.openxmlformats.org/drawingml/2006/table">
            <a:tbl>
              <a:tblPr>
                <a:noFill/>
                <a:tableStyleId>{08203846-04D8-418D-8244-1A3DEFA2816E}</a:tableStyleId>
              </a:tblPr>
              <a:tblGrid>
                <a:gridCol w="478971">
                  <a:extLst>
                    <a:ext uri="{9D8B030D-6E8A-4147-A177-3AD203B41FA5}">
                      <a16:colId xmlns:a16="http://schemas.microsoft.com/office/drawing/2014/main" val="20000"/>
                    </a:ext>
                  </a:extLst>
                </a:gridCol>
                <a:gridCol w="7852229">
                  <a:extLst>
                    <a:ext uri="{9D8B030D-6E8A-4147-A177-3AD203B41FA5}">
                      <a16:colId xmlns:a16="http://schemas.microsoft.com/office/drawing/2014/main" val="20001"/>
                    </a:ext>
                  </a:extLst>
                </a:gridCol>
              </a:tblGrid>
              <a:tr h="364025">
                <a:tc>
                  <a:txBody>
                    <a:bodyPr/>
                    <a:lstStyle/>
                    <a:p>
                      <a:pPr marL="0" lvl="0" indent="0" algn="l" rtl="0">
                        <a:spcBef>
                          <a:spcPts val="0"/>
                        </a:spcBef>
                        <a:spcAft>
                          <a:spcPts val="0"/>
                        </a:spcAft>
                        <a:buNone/>
                      </a:pPr>
                      <a:r>
                        <a:rPr lang="en" b="1" dirty="0">
                          <a:solidFill>
                            <a:schemeClr val="accent1"/>
                          </a:solidFill>
                          <a:latin typeface="Fira Sans Extra Condensed"/>
                          <a:ea typeface="Fira Sans Extra Condensed"/>
                          <a:cs typeface="Fira Sans Extra Condensed"/>
                          <a:sym typeface="Fira Sans Extra Condensed"/>
                        </a:rPr>
                        <a:t>01</a:t>
                      </a:r>
                      <a:endParaRPr b="1" dirty="0">
                        <a:solidFill>
                          <a:schemeClr val="accent1"/>
                        </a:solidFill>
                        <a:latin typeface="Fira Sans Extra Condensed"/>
                        <a:ea typeface="Fira Sans Extra Condensed"/>
                        <a:cs typeface="Fira Sans Extra Condensed"/>
                        <a:sym typeface="Fira Sans Extra Condense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Font typeface="Arial"/>
                        <a:buNone/>
                      </a:pPr>
                      <a:r>
                        <a:rPr lang="en-US" sz="1400" b="1" i="0" u="none" strike="noStrike" cap="none" dirty="0">
                          <a:solidFill>
                            <a:schemeClr val="dk1"/>
                          </a:solidFill>
                          <a:latin typeface="Fira Sans Extra Condensed"/>
                          <a:ea typeface="Saira Medium" pitchFamily="34" charset="-122"/>
                          <a:cs typeface="Saira Medium" pitchFamily="34" charset="-120"/>
                          <a:sym typeface="Arial"/>
                        </a:rPr>
                        <a:t>Description des Données </a:t>
                      </a:r>
                      <a:r>
                        <a:rPr lang="en-US" sz="1400" b="1" i="0" u="none" strike="noStrike" cap="none" dirty="0" err="1">
                          <a:solidFill>
                            <a:schemeClr val="dk1"/>
                          </a:solidFill>
                          <a:latin typeface="Fira Sans Extra Condensed"/>
                          <a:ea typeface="Saira Medium" pitchFamily="34" charset="-122"/>
                          <a:cs typeface="Saira Medium" pitchFamily="34" charset="-120"/>
                          <a:sym typeface="Arial"/>
                        </a:rPr>
                        <a:t>d'Entrée</a:t>
                      </a:r>
                      <a:endParaRPr lang="en-US" sz="1400" b="1" i="0" u="none" strike="noStrike" cap="none" dirty="0">
                        <a:solidFill>
                          <a:schemeClr val="dk1"/>
                        </a:solidFill>
                        <a:latin typeface="Fira Sans Extra Condensed"/>
                        <a:sym typeface="Aria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336025">
                <a:tc>
                  <a:txBody>
                    <a:bodyPr/>
                    <a:lstStyle/>
                    <a:p>
                      <a:pPr marL="0" lvl="0" indent="0" algn="l" rtl="0">
                        <a:spcBef>
                          <a:spcPts val="0"/>
                        </a:spcBef>
                        <a:spcAft>
                          <a:spcPts val="0"/>
                        </a:spcAft>
                        <a:buNone/>
                      </a:pPr>
                      <a:endParaRPr sz="1200">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Font typeface="Arial"/>
                        <a:buNone/>
                      </a:pPr>
                      <a:r>
                        <a:rPr lang="en-US" sz="1200" b="0" i="0" u="none" strike="noStrike" cap="none" dirty="0">
                          <a:solidFill>
                            <a:schemeClr val="dk1"/>
                          </a:solidFill>
                          <a:latin typeface="Roboto"/>
                          <a:ea typeface="Roboto"/>
                          <a:cs typeface="Roboto"/>
                          <a:sym typeface="Arial"/>
                        </a:rPr>
                        <a:t>CV, </a:t>
                      </a:r>
                      <a:r>
                        <a:rPr lang="en-US" sz="1200" b="0" i="0" u="none" strike="noStrike" cap="none" dirty="0" err="1">
                          <a:solidFill>
                            <a:schemeClr val="dk1"/>
                          </a:solidFill>
                          <a:latin typeface="Roboto"/>
                          <a:ea typeface="Roboto"/>
                          <a:cs typeface="Roboto"/>
                          <a:sym typeface="Arial"/>
                        </a:rPr>
                        <a:t>lettres</a:t>
                      </a:r>
                      <a:r>
                        <a:rPr lang="en-US" sz="1200" b="0" i="0" u="none" strike="noStrike" cap="none" dirty="0">
                          <a:solidFill>
                            <a:schemeClr val="dk1"/>
                          </a:solidFill>
                          <a:latin typeface="Roboto"/>
                          <a:ea typeface="Roboto"/>
                          <a:cs typeface="Roboto"/>
                          <a:sym typeface="Arial"/>
                        </a:rPr>
                        <a:t> de motivation, et descriptions de poste constituent la base de </a:t>
                      </a:r>
                      <a:r>
                        <a:rPr lang="en-US" sz="1200" b="0" i="0" u="none" strike="noStrike" cap="none" dirty="0" err="1">
                          <a:solidFill>
                            <a:schemeClr val="dk1"/>
                          </a:solidFill>
                          <a:latin typeface="Roboto"/>
                          <a:ea typeface="Roboto"/>
                          <a:cs typeface="Roboto"/>
                          <a:sym typeface="Arial"/>
                        </a:rPr>
                        <a:t>notre</a:t>
                      </a:r>
                      <a:r>
                        <a:rPr lang="en-US" sz="1200" b="0" i="0" u="none" strike="noStrike" cap="none" dirty="0">
                          <a:solidFill>
                            <a:schemeClr val="dk1"/>
                          </a:solidFill>
                          <a:latin typeface="Roboto"/>
                          <a:ea typeface="Roboto"/>
                          <a:cs typeface="Roboto"/>
                          <a:sym typeface="Arial"/>
                        </a:rPr>
                        <a:t> </a:t>
                      </a:r>
                      <a:r>
                        <a:rPr lang="en-US" sz="1200" b="0" i="0" u="none" strike="noStrike" cap="none" dirty="0" err="1">
                          <a:solidFill>
                            <a:schemeClr val="dk1"/>
                          </a:solidFill>
                          <a:latin typeface="Roboto"/>
                          <a:ea typeface="Roboto"/>
                          <a:cs typeface="Roboto"/>
                          <a:sym typeface="Arial"/>
                        </a:rPr>
                        <a:t>analyse</a:t>
                      </a:r>
                      <a:r>
                        <a:rPr lang="en-US" sz="1200" b="0" i="0" u="none" strike="noStrike" cap="none" dirty="0">
                          <a:solidFill>
                            <a:schemeClr val="dk1"/>
                          </a:solidFill>
                          <a:latin typeface="Roboto"/>
                          <a:ea typeface="Roboto"/>
                          <a:cs typeface="Roboto"/>
                          <a:sym typeface="Arial"/>
                        </a:rPr>
                        <a:t>.</a:t>
                      </a: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364025">
                <a:tc>
                  <a:txBody>
                    <a:bodyPr/>
                    <a:lstStyle/>
                    <a:p>
                      <a:pPr marL="0" lvl="0" indent="0" algn="l" rtl="0">
                        <a:spcBef>
                          <a:spcPts val="0"/>
                        </a:spcBef>
                        <a:spcAft>
                          <a:spcPts val="0"/>
                        </a:spcAft>
                        <a:buNone/>
                      </a:pPr>
                      <a:r>
                        <a:rPr lang="en" b="1">
                          <a:solidFill>
                            <a:schemeClr val="accent4"/>
                          </a:solidFill>
                          <a:latin typeface="Fira Sans Extra Condensed"/>
                          <a:ea typeface="Fira Sans Extra Condensed"/>
                          <a:cs typeface="Fira Sans Extra Condensed"/>
                          <a:sym typeface="Fira Sans Extra Condensed"/>
                        </a:rPr>
                        <a:t>02</a:t>
                      </a:r>
                      <a:endParaRPr b="1">
                        <a:solidFill>
                          <a:schemeClr val="accent4"/>
                        </a:solidFill>
                        <a:latin typeface="Fira Sans Extra Condensed"/>
                        <a:ea typeface="Fira Sans Extra Condensed"/>
                        <a:cs typeface="Fira Sans Extra Condensed"/>
                        <a:sym typeface="Fira Sans Extra Condense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Font typeface="Arial"/>
                        <a:buNone/>
                      </a:pPr>
                      <a:r>
                        <a:rPr lang="en-US" sz="1400" b="1" i="0" u="none" strike="noStrike" cap="none" dirty="0" err="1">
                          <a:solidFill>
                            <a:schemeClr val="dk1"/>
                          </a:solidFill>
                          <a:latin typeface="Fira Sans Extra Condensed"/>
                          <a:ea typeface="Saira Medium" pitchFamily="34" charset="-122"/>
                          <a:cs typeface="Saira Medium" pitchFamily="34" charset="-120"/>
                          <a:sym typeface="Arial"/>
                        </a:rPr>
                        <a:t>Nettoyage</a:t>
                      </a:r>
                      <a:r>
                        <a:rPr lang="en-US" sz="1400" b="1" i="0" u="none" strike="noStrike" cap="none" dirty="0">
                          <a:solidFill>
                            <a:schemeClr val="dk1"/>
                          </a:solidFill>
                          <a:latin typeface="Fira Sans Extra Condensed"/>
                          <a:ea typeface="Saira Medium" pitchFamily="34" charset="-122"/>
                          <a:cs typeface="Saira Medium" pitchFamily="34" charset="-120"/>
                          <a:sym typeface="Arial"/>
                        </a:rPr>
                        <a:t> et </a:t>
                      </a:r>
                      <a:r>
                        <a:rPr lang="en-US" sz="1400" b="1" i="0" u="none" strike="noStrike" cap="none" dirty="0" err="1">
                          <a:solidFill>
                            <a:schemeClr val="dk1"/>
                          </a:solidFill>
                          <a:latin typeface="Fira Sans Extra Condensed"/>
                          <a:ea typeface="Saira Medium" pitchFamily="34" charset="-122"/>
                          <a:cs typeface="Saira Medium" pitchFamily="34" charset="-120"/>
                          <a:sym typeface="Arial"/>
                        </a:rPr>
                        <a:t>Normalisation</a:t>
                      </a:r>
                      <a:endParaRPr lang="en-US" sz="1400" b="1" i="0" u="none" strike="noStrike" cap="none" dirty="0">
                        <a:solidFill>
                          <a:schemeClr val="dk1"/>
                        </a:solidFill>
                        <a:latin typeface="Fira Sans Extra Condensed"/>
                        <a:sym typeface="Aria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36025">
                <a:tc>
                  <a:txBody>
                    <a:bodyPr/>
                    <a:lstStyle/>
                    <a:p>
                      <a:pPr marL="0" lvl="0" indent="0" algn="l" rtl="0">
                        <a:spcBef>
                          <a:spcPts val="0"/>
                        </a:spcBef>
                        <a:spcAft>
                          <a:spcPts val="0"/>
                        </a:spcAft>
                        <a:buNone/>
                      </a:pPr>
                      <a:endParaRPr sz="1200">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Font typeface="Arial"/>
                        <a:buNone/>
                      </a:pPr>
                      <a:r>
                        <a:rPr lang="en-US" sz="1200" b="0" i="0" u="none" strike="noStrike" cap="none" dirty="0" err="1">
                          <a:solidFill>
                            <a:schemeClr val="dk1"/>
                          </a:solidFill>
                          <a:latin typeface="Roboto"/>
                          <a:ea typeface="Roboto"/>
                          <a:cs typeface="Roboto"/>
                          <a:sym typeface="Arial"/>
                        </a:rPr>
                        <a:t>Élimination</a:t>
                      </a:r>
                      <a:r>
                        <a:rPr lang="en-US" sz="1200" b="0" i="0" u="none" strike="noStrike" cap="none" dirty="0">
                          <a:solidFill>
                            <a:schemeClr val="dk1"/>
                          </a:solidFill>
                          <a:latin typeface="Roboto"/>
                          <a:ea typeface="Roboto"/>
                          <a:cs typeface="Roboto"/>
                          <a:sym typeface="Arial"/>
                        </a:rPr>
                        <a:t> des bruits, correction </a:t>
                      </a:r>
                      <a:r>
                        <a:rPr lang="en-US" sz="1200" b="0" i="0" u="none" strike="noStrike" cap="none" dirty="0" err="1">
                          <a:solidFill>
                            <a:schemeClr val="dk1"/>
                          </a:solidFill>
                          <a:latin typeface="Roboto"/>
                          <a:ea typeface="Roboto"/>
                          <a:cs typeface="Roboto"/>
                          <a:sym typeface="Arial"/>
                        </a:rPr>
                        <a:t>d'erreurs</a:t>
                      </a:r>
                      <a:r>
                        <a:rPr lang="en-US" sz="1200" b="0" i="0" u="none" strike="noStrike" cap="none" dirty="0">
                          <a:solidFill>
                            <a:schemeClr val="dk1"/>
                          </a:solidFill>
                          <a:latin typeface="Roboto"/>
                          <a:ea typeface="Roboto"/>
                          <a:cs typeface="Roboto"/>
                          <a:sym typeface="Arial"/>
                        </a:rPr>
                        <a:t>, et </a:t>
                      </a:r>
                      <a:r>
                        <a:rPr lang="en-US" sz="1200" b="0" i="0" u="none" strike="noStrike" cap="none" dirty="0" err="1">
                          <a:solidFill>
                            <a:schemeClr val="dk1"/>
                          </a:solidFill>
                          <a:latin typeface="Roboto"/>
                          <a:ea typeface="Roboto"/>
                          <a:cs typeface="Roboto"/>
                          <a:sym typeface="Arial"/>
                        </a:rPr>
                        <a:t>uniformisation</a:t>
                      </a:r>
                      <a:r>
                        <a:rPr lang="en-US" sz="1200" b="0" i="0" u="none" strike="noStrike" cap="none" dirty="0">
                          <a:solidFill>
                            <a:schemeClr val="dk1"/>
                          </a:solidFill>
                          <a:latin typeface="Roboto"/>
                          <a:ea typeface="Roboto"/>
                          <a:cs typeface="Roboto"/>
                          <a:sym typeface="Arial"/>
                        </a:rPr>
                        <a:t> des formats </a:t>
                      </a:r>
                      <a:r>
                        <a:rPr lang="en-US" sz="1200" b="0" i="0" u="none" strike="noStrike" cap="none" dirty="0" err="1">
                          <a:solidFill>
                            <a:schemeClr val="dk1"/>
                          </a:solidFill>
                          <a:latin typeface="Roboto"/>
                          <a:ea typeface="Roboto"/>
                          <a:cs typeface="Roboto"/>
                          <a:sym typeface="Arial"/>
                        </a:rPr>
                        <a:t>textuels</a:t>
                      </a:r>
                      <a:r>
                        <a:rPr lang="en-US" sz="1200" b="0" i="0" u="none" strike="noStrike" cap="none" dirty="0">
                          <a:solidFill>
                            <a:schemeClr val="dk1"/>
                          </a:solidFill>
                          <a:latin typeface="Roboto"/>
                          <a:ea typeface="Roboto"/>
                          <a:cs typeface="Roboto"/>
                          <a:sym typeface="Arial"/>
                        </a:rPr>
                        <a:t>.</a:t>
                      </a: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364025">
                <a:tc>
                  <a:txBody>
                    <a:bodyPr/>
                    <a:lstStyle/>
                    <a:p>
                      <a:pPr marL="0" lvl="0" indent="0" algn="l" rtl="0">
                        <a:spcBef>
                          <a:spcPts val="0"/>
                        </a:spcBef>
                        <a:spcAft>
                          <a:spcPts val="0"/>
                        </a:spcAft>
                        <a:buNone/>
                      </a:pPr>
                      <a:r>
                        <a:rPr lang="en" b="1" dirty="0">
                          <a:solidFill>
                            <a:schemeClr val="accent5"/>
                          </a:solidFill>
                          <a:latin typeface="Fira Sans Extra Condensed"/>
                          <a:ea typeface="Fira Sans Extra Condensed"/>
                          <a:cs typeface="Fira Sans Extra Condensed"/>
                          <a:sym typeface="Fira Sans Extra Condensed"/>
                        </a:rPr>
                        <a:t>03</a:t>
                      </a:r>
                      <a:endParaRPr b="1" dirty="0">
                        <a:solidFill>
                          <a:schemeClr val="accent5"/>
                        </a:solidFill>
                        <a:latin typeface="Fira Sans Extra Condensed"/>
                        <a:ea typeface="Fira Sans Extra Condensed"/>
                        <a:cs typeface="Fira Sans Extra Condensed"/>
                        <a:sym typeface="Fira Sans Extra Condense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Font typeface="Arial"/>
                        <a:buNone/>
                      </a:pPr>
                      <a:r>
                        <a:rPr lang="en-US" sz="1400" b="1" i="0" u="none" strike="noStrike" cap="none" dirty="0">
                          <a:solidFill>
                            <a:schemeClr val="dk1"/>
                          </a:solidFill>
                          <a:latin typeface="Fira Sans Extra Condensed"/>
                          <a:ea typeface="Saira Medium" pitchFamily="34" charset="-122"/>
                          <a:cs typeface="Saira Medium" pitchFamily="34" charset="-120"/>
                          <a:sym typeface="Arial"/>
                        </a:rPr>
                        <a:t>Extraction des Compétences (PNL, NER)</a:t>
                      </a:r>
                      <a:endParaRPr lang="en-US" sz="1400" b="1" i="0" u="none" strike="noStrike" cap="none" dirty="0">
                        <a:solidFill>
                          <a:schemeClr val="dk1"/>
                        </a:solidFill>
                        <a:latin typeface="Fira Sans Extra Condensed"/>
                        <a:sym typeface="Aria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36025">
                <a:tc>
                  <a:txBody>
                    <a:bodyPr/>
                    <a:lstStyle/>
                    <a:p>
                      <a:pPr marL="0" lvl="0" indent="0" algn="l" rtl="0">
                        <a:spcBef>
                          <a:spcPts val="0"/>
                        </a:spcBef>
                        <a:spcAft>
                          <a:spcPts val="0"/>
                        </a:spcAft>
                        <a:buNone/>
                      </a:pPr>
                      <a:endParaRPr sz="1200">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Font typeface="Arial"/>
                        <a:buNone/>
                      </a:pPr>
                      <a:r>
                        <a:rPr lang="en-US" sz="1200" b="0" i="0" u="none" strike="noStrike" cap="none" dirty="0" err="1">
                          <a:solidFill>
                            <a:schemeClr val="dk1"/>
                          </a:solidFill>
                          <a:latin typeface="Roboto"/>
                          <a:ea typeface="Roboto"/>
                          <a:cs typeface="Roboto"/>
                          <a:sym typeface="Arial"/>
                        </a:rPr>
                        <a:t>Utilisation</a:t>
                      </a:r>
                      <a:r>
                        <a:rPr lang="en-US" sz="1200" b="0" i="0" u="none" strike="noStrike" cap="none" dirty="0">
                          <a:solidFill>
                            <a:schemeClr val="dk1"/>
                          </a:solidFill>
                          <a:latin typeface="Roboto"/>
                          <a:ea typeface="Roboto"/>
                          <a:cs typeface="Roboto"/>
                          <a:sym typeface="Arial"/>
                        </a:rPr>
                        <a:t> du </a:t>
                      </a:r>
                      <a:r>
                        <a:rPr lang="en-US" sz="1200" b="0" i="0" u="none" strike="noStrike" cap="none" dirty="0" err="1">
                          <a:solidFill>
                            <a:schemeClr val="dk1"/>
                          </a:solidFill>
                          <a:latin typeface="Roboto"/>
                          <a:ea typeface="Roboto"/>
                          <a:cs typeface="Roboto"/>
                          <a:sym typeface="Arial"/>
                        </a:rPr>
                        <a:t>Traitement</a:t>
                      </a:r>
                      <a:r>
                        <a:rPr lang="en-US" sz="1200" b="0" i="0" u="none" strike="noStrike" cap="none" dirty="0">
                          <a:solidFill>
                            <a:schemeClr val="dk1"/>
                          </a:solidFill>
                          <a:latin typeface="Roboto"/>
                          <a:ea typeface="Roboto"/>
                          <a:cs typeface="Roboto"/>
                          <a:sym typeface="Arial"/>
                        </a:rPr>
                        <a:t> du </a:t>
                      </a:r>
                      <a:r>
                        <a:rPr lang="en-US" sz="1200" b="0" i="0" u="none" strike="noStrike" cap="none" dirty="0" err="1">
                          <a:solidFill>
                            <a:schemeClr val="dk1"/>
                          </a:solidFill>
                          <a:latin typeface="Roboto"/>
                          <a:ea typeface="Roboto"/>
                          <a:cs typeface="Roboto"/>
                          <a:sym typeface="Arial"/>
                        </a:rPr>
                        <a:t>Langage</a:t>
                      </a:r>
                      <a:r>
                        <a:rPr lang="en-US" sz="1200" b="0" i="0" u="none" strike="noStrike" cap="none" dirty="0">
                          <a:solidFill>
                            <a:schemeClr val="dk1"/>
                          </a:solidFill>
                          <a:latin typeface="Roboto"/>
                          <a:ea typeface="Roboto"/>
                          <a:cs typeface="Roboto"/>
                          <a:sym typeface="Arial"/>
                        </a:rPr>
                        <a:t> Naturel et de la Reconnaissance </a:t>
                      </a:r>
                      <a:r>
                        <a:rPr lang="en-US" sz="1200" b="0" i="0" u="none" strike="noStrike" cap="none" dirty="0" err="1">
                          <a:solidFill>
                            <a:schemeClr val="dk1"/>
                          </a:solidFill>
                          <a:latin typeface="Roboto"/>
                          <a:ea typeface="Roboto"/>
                          <a:cs typeface="Roboto"/>
                          <a:sym typeface="Arial"/>
                        </a:rPr>
                        <a:t>d'Entités</a:t>
                      </a:r>
                      <a:r>
                        <a:rPr lang="en-US" sz="1200" b="0" i="0" u="none" strike="noStrike" cap="none" dirty="0">
                          <a:solidFill>
                            <a:schemeClr val="dk1"/>
                          </a:solidFill>
                          <a:latin typeface="Roboto"/>
                          <a:ea typeface="Roboto"/>
                          <a:cs typeface="Roboto"/>
                          <a:sym typeface="Arial"/>
                        </a:rPr>
                        <a:t> </a:t>
                      </a:r>
                      <a:r>
                        <a:rPr lang="en-US" sz="1200" b="0" i="0" u="none" strike="noStrike" cap="none" dirty="0" err="1">
                          <a:solidFill>
                            <a:schemeClr val="dk1"/>
                          </a:solidFill>
                          <a:latin typeface="Roboto"/>
                          <a:ea typeface="Roboto"/>
                          <a:cs typeface="Roboto"/>
                          <a:sym typeface="Arial"/>
                        </a:rPr>
                        <a:t>Nommées</a:t>
                      </a:r>
                      <a:r>
                        <a:rPr lang="en-US" sz="1200" b="0" i="0" u="none" strike="noStrike" cap="none" dirty="0">
                          <a:solidFill>
                            <a:schemeClr val="dk1"/>
                          </a:solidFill>
                          <a:latin typeface="Roboto"/>
                          <a:ea typeface="Roboto"/>
                          <a:cs typeface="Roboto"/>
                          <a:sym typeface="Arial"/>
                        </a:rPr>
                        <a:t> pour identifier les compétences </a:t>
                      </a:r>
                      <a:r>
                        <a:rPr lang="en-US" sz="1200" b="0" i="0" u="none" strike="noStrike" cap="none" dirty="0" err="1">
                          <a:solidFill>
                            <a:schemeClr val="dk1"/>
                          </a:solidFill>
                          <a:latin typeface="Roboto"/>
                          <a:ea typeface="Roboto"/>
                          <a:cs typeface="Roboto"/>
                          <a:sym typeface="Arial"/>
                        </a:rPr>
                        <a:t>clés</a:t>
                      </a:r>
                      <a:r>
                        <a:rPr lang="en-US" sz="1200" b="0" i="0" u="none" strike="noStrike" cap="none" dirty="0">
                          <a:solidFill>
                            <a:schemeClr val="dk1"/>
                          </a:solidFill>
                          <a:latin typeface="Roboto"/>
                          <a:ea typeface="Roboto"/>
                          <a:cs typeface="Roboto"/>
                          <a:sym typeface="Arial"/>
                        </a:rPr>
                        <a:t>.</a:t>
                      </a: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5"/>
                  </a:ext>
                </a:extLst>
              </a:tr>
              <a:tr h="364025">
                <a:tc>
                  <a:txBody>
                    <a:bodyPr/>
                    <a:lstStyle/>
                    <a:p>
                      <a:pPr marL="0" lvl="0" indent="0" algn="l" rtl="0">
                        <a:spcBef>
                          <a:spcPts val="0"/>
                        </a:spcBef>
                        <a:spcAft>
                          <a:spcPts val="0"/>
                        </a:spcAft>
                        <a:buNone/>
                      </a:pPr>
                      <a:r>
                        <a:rPr lang="en" b="1">
                          <a:solidFill>
                            <a:schemeClr val="accent6"/>
                          </a:solidFill>
                          <a:latin typeface="Fira Sans Extra Condensed"/>
                          <a:ea typeface="Fira Sans Extra Condensed"/>
                          <a:cs typeface="Fira Sans Extra Condensed"/>
                          <a:sym typeface="Fira Sans Extra Condensed"/>
                        </a:rPr>
                        <a:t>04</a:t>
                      </a:r>
                      <a:endParaRPr b="1">
                        <a:solidFill>
                          <a:schemeClr val="accent6"/>
                        </a:solidFill>
                        <a:latin typeface="Fira Sans Extra Condensed"/>
                        <a:ea typeface="Fira Sans Extra Condensed"/>
                        <a:cs typeface="Fira Sans Extra Condensed"/>
                        <a:sym typeface="Fira Sans Extra Condensed"/>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Font typeface="Arial"/>
                        <a:buNone/>
                      </a:pPr>
                      <a:r>
                        <a:rPr lang="en-US" sz="1400" b="1" i="0" u="none" strike="noStrike" cap="none" dirty="0">
                          <a:solidFill>
                            <a:schemeClr val="dk1"/>
                          </a:solidFill>
                          <a:latin typeface="Fira Sans Extra Condensed"/>
                          <a:ea typeface="Saira Medium" pitchFamily="34" charset="-122"/>
                          <a:cs typeface="Saira Medium" pitchFamily="34" charset="-120"/>
                          <a:sym typeface="Arial"/>
                        </a:rPr>
                        <a:t>Importance de la </a:t>
                      </a:r>
                      <a:r>
                        <a:rPr lang="en-US" sz="1400" b="1" i="0" u="none" strike="noStrike" cap="none" dirty="0" err="1">
                          <a:solidFill>
                            <a:schemeClr val="dk1"/>
                          </a:solidFill>
                          <a:latin typeface="Fira Sans Extra Condensed"/>
                          <a:ea typeface="Saira Medium" pitchFamily="34" charset="-122"/>
                          <a:cs typeface="Saira Medium" pitchFamily="34" charset="-120"/>
                          <a:sym typeface="Arial"/>
                        </a:rPr>
                        <a:t>Qualité</a:t>
                      </a:r>
                      <a:endParaRPr lang="en-US" sz="1400" b="1" i="0" u="none" strike="noStrike" cap="none" dirty="0">
                        <a:solidFill>
                          <a:schemeClr val="dk1"/>
                        </a:solidFill>
                        <a:latin typeface="Fira Sans Extra Condensed"/>
                        <a:sym typeface="Arial"/>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6"/>
                  </a:ext>
                </a:extLst>
              </a:tr>
              <a:tr h="336025">
                <a:tc>
                  <a:txBody>
                    <a:bodyPr/>
                    <a:lstStyle/>
                    <a:p>
                      <a:pPr marL="0" lvl="0" indent="0" algn="l" rtl="0">
                        <a:spcBef>
                          <a:spcPts val="0"/>
                        </a:spcBef>
                        <a:spcAft>
                          <a:spcPts val="0"/>
                        </a:spcAft>
                        <a:buNone/>
                      </a:pPr>
                      <a:endParaRPr sz="1200" dirty="0">
                        <a:solidFill>
                          <a:schemeClr val="dk1"/>
                        </a:solidFill>
                        <a:latin typeface="Roboto"/>
                        <a:ea typeface="Roboto"/>
                        <a:cs typeface="Roboto"/>
                        <a:sym typeface="Robot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Font typeface="Arial"/>
                        <a:buNone/>
                      </a:pPr>
                      <a:r>
                        <a:rPr lang="en-US" sz="1200" b="0" i="0" u="none" strike="noStrike" cap="none" dirty="0">
                          <a:solidFill>
                            <a:schemeClr val="dk1"/>
                          </a:solidFill>
                          <a:latin typeface="Roboto"/>
                          <a:ea typeface="Roboto"/>
                          <a:cs typeface="Roboto"/>
                          <a:sym typeface="Arial"/>
                        </a:rPr>
                        <a:t>Une haute </a:t>
                      </a:r>
                      <a:r>
                        <a:rPr lang="en-US" sz="1200" b="0" i="0" u="none" strike="noStrike" cap="none" dirty="0" err="1">
                          <a:solidFill>
                            <a:schemeClr val="dk1"/>
                          </a:solidFill>
                          <a:latin typeface="Roboto"/>
                          <a:ea typeface="Roboto"/>
                          <a:cs typeface="Roboto"/>
                          <a:sym typeface="Arial"/>
                        </a:rPr>
                        <a:t>qualité</a:t>
                      </a:r>
                      <a:r>
                        <a:rPr lang="en-US" sz="1200" b="0" i="0" u="none" strike="noStrike" cap="none" dirty="0">
                          <a:solidFill>
                            <a:schemeClr val="dk1"/>
                          </a:solidFill>
                          <a:latin typeface="Roboto"/>
                          <a:ea typeface="Roboto"/>
                          <a:cs typeface="Roboto"/>
                          <a:sym typeface="Arial"/>
                        </a:rPr>
                        <a:t> des données est </a:t>
                      </a:r>
                      <a:r>
                        <a:rPr lang="en-US" sz="1200" b="0" i="0" u="none" strike="noStrike" cap="none" dirty="0" err="1">
                          <a:solidFill>
                            <a:schemeClr val="dk1"/>
                          </a:solidFill>
                          <a:latin typeface="Roboto"/>
                          <a:ea typeface="Roboto"/>
                          <a:cs typeface="Roboto"/>
                          <a:sym typeface="Arial"/>
                        </a:rPr>
                        <a:t>cruciale</a:t>
                      </a:r>
                      <a:r>
                        <a:rPr lang="en-US" sz="1200" b="0" i="0" u="none" strike="noStrike" cap="none" dirty="0">
                          <a:solidFill>
                            <a:schemeClr val="dk1"/>
                          </a:solidFill>
                          <a:latin typeface="Roboto"/>
                          <a:ea typeface="Roboto"/>
                          <a:cs typeface="Roboto"/>
                          <a:sym typeface="Arial"/>
                        </a:rPr>
                        <a:t> pour la performance et la fiabilité du </a:t>
                      </a:r>
                      <a:r>
                        <a:rPr lang="en-US" sz="1200" b="0" i="0" u="none" strike="noStrike" cap="none" dirty="0" err="1">
                          <a:solidFill>
                            <a:schemeClr val="dk1"/>
                          </a:solidFill>
                          <a:latin typeface="Roboto"/>
                          <a:ea typeface="Roboto"/>
                          <a:cs typeface="Roboto"/>
                          <a:sym typeface="Arial"/>
                        </a:rPr>
                        <a:t>système</a:t>
                      </a:r>
                      <a:r>
                        <a:rPr lang="en-US" sz="1200" b="0" i="0" u="none" strike="noStrike" cap="none" dirty="0">
                          <a:solidFill>
                            <a:schemeClr val="dk1"/>
                          </a:solidFill>
                          <a:latin typeface="Roboto"/>
                          <a:ea typeface="Roboto"/>
                          <a:cs typeface="Roboto"/>
                          <a:sym typeface="Arial"/>
                        </a:rPr>
                        <a:t>.</a:t>
                      </a: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4"/>
        <p:cNvGrpSpPr/>
        <p:nvPr/>
      </p:nvGrpSpPr>
      <p:grpSpPr>
        <a:xfrm>
          <a:off x="0" y="0"/>
          <a:ext cx="0" cy="0"/>
          <a:chOff x="0" y="0"/>
          <a:chExt cx="0" cy="0"/>
        </a:xfrm>
      </p:grpSpPr>
      <p:sp>
        <p:nvSpPr>
          <p:cNvPr id="1855" name="Google Shape;1855;p37"/>
          <p:cNvSpPr/>
          <p:nvPr/>
        </p:nvSpPr>
        <p:spPr>
          <a:xfrm>
            <a:off x="5631543" y="1417275"/>
            <a:ext cx="3450955" cy="3662724"/>
          </a:xfrm>
          <a:prstGeom prst="rect">
            <a:avLst/>
          </a:prstGeom>
          <a:solidFill>
            <a:srgbClr val="EA4827">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7"/>
          <p:cNvSpPr/>
          <p:nvPr/>
        </p:nvSpPr>
        <p:spPr>
          <a:xfrm>
            <a:off x="145143" y="1417274"/>
            <a:ext cx="5364440" cy="3662725"/>
          </a:xfrm>
          <a:prstGeom prst="rect">
            <a:avLst/>
          </a:prstGeom>
          <a:solidFill>
            <a:srgbClr val="E4EA27">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7"/>
          <p:cNvSpPr txBox="1">
            <a:spLocks noGrp="1"/>
          </p:cNvSpPr>
          <p:nvPr>
            <p:ph type="title"/>
          </p:nvPr>
        </p:nvSpPr>
        <p:spPr>
          <a:xfrm>
            <a:off x="457200" y="308025"/>
            <a:ext cx="8229600" cy="371400"/>
          </a:xfrm>
          <a:prstGeom prst="rect">
            <a:avLst/>
          </a:prstGeom>
        </p:spPr>
        <p:txBody>
          <a:bodyPr spcFirstLastPara="1" wrap="square" lIns="91425" tIns="91425" rIns="91425" bIns="91425" anchor="ctr" anchorCtr="0">
            <a:noAutofit/>
          </a:bodyPr>
          <a:lstStyle/>
          <a:p>
            <a:pPr algn="l">
              <a:lnSpc>
                <a:spcPts val="4600"/>
              </a:lnSpc>
            </a:pPr>
            <a:r>
              <a:rPr lang="en-US" sz="2400" dirty="0" err="1">
                <a:solidFill>
                  <a:srgbClr val="1D1D1B"/>
                </a:solidFill>
                <a:latin typeface="Tomorrow Semi Bold" pitchFamily="34" charset="0"/>
                <a:ea typeface="Tomorrow Semi Bold" pitchFamily="34" charset="-122"/>
              </a:rPr>
              <a:t>Analyse</a:t>
            </a:r>
            <a:r>
              <a:rPr lang="en-US" sz="2400" dirty="0">
                <a:solidFill>
                  <a:srgbClr val="1D1D1B"/>
                </a:solidFill>
                <a:latin typeface="Tomorrow Semi Bold" pitchFamily="34" charset="0"/>
                <a:ea typeface="Tomorrow Semi Bold" pitchFamily="34" charset="-122"/>
              </a:rPr>
              <a:t> </a:t>
            </a:r>
            <a:r>
              <a:rPr lang="en-US" sz="2400" dirty="0" err="1">
                <a:solidFill>
                  <a:srgbClr val="1D1D1B"/>
                </a:solidFill>
                <a:latin typeface="Tomorrow Semi Bold" pitchFamily="34" charset="0"/>
                <a:ea typeface="Tomorrow Semi Bold" pitchFamily="34" charset="-122"/>
              </a:rPr>
              <a:t>Exploratoire</a:t>
            </a:r>
            <a:r>
              <a:rPr lang="en-US" sz="2400" dirty="0">
                <a:solidFill>
                  <a:srgbClr val="1D1D1B"/>
                </a:solidFill>
                <a:latin typeface="Tomorrow Semi Bold" pitchFamily="34" charset="0"/>
                <a:ea typeface="Tomorrow Semi Bold" pitchFamily="34" charset="-122"/>
              </a:rPr>
              <a:t> des Données (EDA)</a:t>
            </a:r>
          </a:p>
        </p:txBody>
      </p:sp>
      <p:sp>
        <p:nvSpPr>
          <p:cNvPr id="1859" name="Google Shape;1859;p37"/>
          <p:cNvSpPr/>
          <p:nvPr/>
        </p:nvSpPr>
        <p:spPr>
          <a:xfrm>
            <a:off x="1522355" y="1085617"/>
            <a:ext cx="2572195" cy="560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7"/>
          <p:cNvSpPr/>
          <p:nvPr/>
        </p:nvSpPr>
        <p:spPr>
          <a:xfrm>
            <a:off x="6001864" y="1057518"/>
            <a:ext cx="2768977" cy="5607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862" name="Google Shape;1862;p37"/>
          <p:cNvGrpSpPr/>
          <p:nvPr/>
        </p:nvGrpSpPr>
        <p:grpSpPr>
          <a:xfrm>
            <a:off x="1133242" y="1171968"/>
            <a:ext cx="3199929" cy="3480846"/>
            <a:chOff x="1133242" y="1286268"/>
            <a:chExt cx="3199929" cy="3480846"/>
          </a:xfrm>
        </p:grpSpPr>
        <p:sp>
          <p:nvSpPr>
            <p:cNvPr id="1863" name="Google Shape;1863;p37"/>
            <p:cNvSpPr txBox="1"/>
            <p:nvPr/>
          </p:nvSpPr>
          <p:spPr>
            <a:xfrm>
              <a:off x="1492611" y="1286268"/>
              <a:ext cx="2631681" cy="331800"/>
            </a:xfrm>
            <a:prstGeom prst="rect">
              <a:avLst/>
            </a:prstGeom>
            <a:noFill/>
            <a:ln>
              <a:noFill/>
            </a:ln>
          </p:spPr>
          <p:txBody>
            <a:bodyPr spcFirstLastPara="1" wrap="square" lIns="91425" tIns="91425" rIns="91425" bIns="91425" anchor="ctr" anchorCtr="0">
              <a:noAutofit/>
            </a:bodyPr>
            <a:lstStyle/>
            <a:p>
              <a:pPr algn="ctr"/>
              <a:r>
                <a:rPr lang="en-US" sz="1800" b="1" dirty="0" err="1">
                  <a:solidFill>
                    <a:schemeClr val="lt1"/>
                  </a:solidFill>
                  <a:latin typeface="Fira Sans Extra Condensed"/>
                </a:rPr>
                <a:t>Statistiques</a:t>
              </a:r>
              <a:r>
                <a:rPr lang="en-US" sz="1800" b="1" dirty="0">
                  <a:solidFill>
                    <a:schemeClr val="lt1"/>
                  </a:solidFill>
                  <a:latin typeface="Fira Sans Extra Condensed"/>
                </a:rPr>
                <a:t> Descriptives</a:t>
              </a:r>
            </a:p>
          </p:txBody>
        </p:sp>
        <p:sp>
          <p:nvSpPr>
            <p:cNvPr id="1869" name="Google Shape;1869;p37"/>
            <p:cNvSpPr txBox="1"/>
            <p:nvPr/>
          </p:nvSpPr>
          <p:spPr>
            <a:xfrm>
              <a:off x="1133242" y="4206414"/>
              <a:ext cx="3199929" cy="560700"/>
            </a:xfrm>
            <a:prstGeom prst="rect">
              <a:avLst/>
            </a:prstGeom>
            <a:noFill/>
            <a:ln>
              <a:noFill/>
            </a:ln>
          </p:spPr>
          <p:txBody>
            <a:bodyPr spcFirstLastPara="1" wrap="square" lIns="91425" tIns="91425" rIns="91425" bIns="91425" anchor="t" anchorCtr="0">
              <a:noAutofit/>
            </a:bodyPr>
            <a:lstStyle/>
            <a:p>
              <a:pPr marL="2540" algn="ctr">
                <a:buSzPts val="1400"/>
              </a:pPr>
              <a:r>
                <a:rPr lang="en-US" sz="1200" dirty="0" err="1">
                  <a:latin typeface="Roboto"/>
                  <a:ea typeface="Roboto"/>
                  <a:cs typeface="Roboto"/>
                </a:rPr>
                <a:t>Synthèse</a:t>
              </a:r>
              <a:r>
                <a:rPr lang="en-US" sz="1200" dirty="0">
                  <a:latin typeface="Roboto"/>
                  <a:ea typeface="Roboto"/>
                  <a:cs typeface="Roboto"/>
                </a:rPr>
                <a:t> des </a:t>
              </a:r>
              <a:r>
                <a:rPr lang="en-US" sz="1200" dirty="0" err="1">
                  <a:latin typeface="Roboto"/>
                  <a:ea typeface="Roboto"/>
                  <a:cs typeface="Roboto"/>
                </a:rPr>
                <a:t>principales</a:t>
              </a:r>
              <a:r>
                <a:rPr lang="en-US" sz="1200" dirty="0">
                  <a:latin typeface="Roboto"/>
                  <a:ea typeface="Roboto"/>
                  <a:cs typeface="Roboto"/>
                </a:rPr>
                <a:t> </a:t>
              </a:r>
              <a:r>
                <a:rPr lang="en-US" sz="1200" dirty="0" err="1">
                  <a:latin typeface="Roboto"/>
                  <a:ea typeface="Roboto"/>
                  <a:cs typeface="Roboto"/>
                </a:rPr>
                <a:t>caractéristiques</a:t>
              </a:r>
              <a:r>
                <a:rPr lang="en-US" sz="1200" dirty="0">
                  <a:latin typeface="Roboto"/>
                  <a:ea typeface="Roboto"/>
                  <a:cs typeface="Roboto"/>
                </a:rPr>
                <a:t> des données pour </a:t>
              </a:r>
              <a:r>
                <a:rPr lang="en-US" sz="1200" dirty="0" err="1">
                  <a:latin typeface="Roboto"/>
                  <a:ea typeface="Roboto"/>
                  <a:cs typeface="Roboto"/>
                </a:rPr>
                <a:t>détecter</a:t>
              </a:r>
              <a:r>
                <a:rPr lang="en-US" sz="1200" dirty="0">
                  <a:latin typeface="Roboto"/>
                  <a:ea typeface="Roboto"/>
                  <a:cs typeface="Roboto"/>
                </a:rPr>
                <a:t> des anomalies </a:t>
              </a:r>
              <a:r>
                <a:rPr lang="en-US" sz="1200" dirty="0" err="1">
                  <a:latin typeface="Roboto"/>
                  <a:ea typeface="Roboto"/>
                  <a:cs typeface="Roboto"/>
                </a:rPr>
                <a:t>ou</a:t>
              </a:r>
              <a:r>
                <a:rPr lang="en-US" sz="1200" dirty="0">
                  <a:latin typeface="Roboto"/>
                  <a:ea typeface="Roboto"/>
                  <a:cs typeface="Roboto"/>
                </a:rPr>
                <a:t> des tendances.</a:t>
              </a:r>
            </a:p>
          </p:txBody>
        </p:sp>
      </p:grpSp>
      <p:sp>
        <p:nvSpPr>
          <p:cNvPr id="1871" name="Google Shape;1871;p37"/>
          <p:cNvSpPr txBox="1"/>
          <p:nvPr/>
        </p:nvSpPr>
        <p:spPr>
          <a:xfrm>
            <a:off x="5999190" y="1163890"/>
            <a:ext cx="2885229" cy="331800"/>
          </a:xfrm>
          <a:prstGeom prst="rect">
            <a:avLst/>
          </a:prstGeom>
          <a:noFill/>
          <a:ln>
            <a:noFill/>
          </a:ln>
        </p:spPr>
        <p:txBody>
          <a:bodyPr spcFirstLastPara="1" wrap="square" lIns="91425" tIns="91425" rIns="91425" bIns="91425" anchor="ctr" anchorCtr="0">
            <a:noAutofit/>
          </a:bodyPr>
          <a:lstStyle/>
          <a:p>
            <a:pPr algn="ctr"/>
            <a:r>
              <a:rPr lang="en-US" sz="1800" b="1" dirty="0" err="1">
                <a:solidFill>
                  <a:schemeClr val="lt1"/>
                </a:solidFill>
                <a:latin typeface="Fira Sans Extra Condensed"/>
              </a:rPr>
              <a:t>Répartition</a:t>
            </a:r>
            <a:r>
              <a:rPr lang="en-US" sz="1800" b="1" dirty="0">
                <a:solidFill>
                  <a:schemeClr val="lt1"/>
                </a:solidFill>
                <a:latin typeface="Fira Sans Extra Condensed"/>
              </a:rPr>
              <a:t> des Compétences</a:t>
            </a:r>
          </a:p>
        </p:txBody>
      </p:sp>
      <p:pic>
        <p:nvPicPr>
          <p:cNvPr id="3" name="Image 2">
            <a:extLst>
              <a:ext uri="{FF2B5EF4-FFF2-40B4-BE49-F238E27FC236}">
                <a16:creationId xmlns:a16="http://schemas.microsoft.com/office/drawing/2014/main" id="{F73F857B-A989-68A0-7953-715CAF6411EB}"/>
              </a:ext>
            </a:extLst>
          </p:cNvPr>
          <p:cNvPicPr>
            <a:picLocks noChangeAspect="1"/>
          </p:cNvPicPr>
          <p:nvPr/>
        </p:nvPicPr>
        <p:blipFill>
          <a:blip r:embed="rId3"/>
          <a:stretch>
            <a:fillRect/>
          </a:stretch>
        </p:blipFill>
        <p:spPr>
          <a:xfrm>
            <a:off x="414381" y="1810817"/>
            <a:ext cx="4484189" cy="1952296"/>
          </a:xfrm>
          <a:prstGeom prst="rect">
            <a:avLst/>
          </a:prstGeom>
        </p:spPr>
      </p:pic>
      <p:pic>
        <p:nvPicPr>
          <p:cNvPr id="5" name="Image 4">
            <a:extLst>
              <a:ext uri="{FF2B5EF4-FFF2-40B4-BE49-F238E27FC236}">
                <a16:creationId xmlns:a16="http://schemas.microsoft.com/office/drawing/2014/main" id="{CA34576F-210B-2E06-CC29-66A490E76ACE}"/>
              </a:ext>
            </a:extLst>
          </p:cNvPr>
          <p:cNvPicPr>
            <a:picLocks noChangeAspect="1"/>
          </p:cNvPicPr>
          <p:nvPr/>
        </p:nvPicPr>
        <p:blipFill>
          <a:blip r:embed="rId4"/>
          <a:stretch>
            <a:fillRect/>
          </a:stretch>
        </p:blipFill>
        <p:spPr>
          <a:xfrm>
            <a:off x="5689597" y="2188424"/>
            <a:ext cx="3392887" cy="1574689"/>
          </a:xfrm>
          <a:prstGeom prst="rect">
            <a:avLst/>
          </a:prstGeom>
        </p:spPr>
      </p:pic>
      <p:sp>
        <p:nvSpPr>
          <p:cNvPr id="6" name="Google Shape;1869;p37">
            <a:extLst>
              <a:ext uri="{FF2B5EF4-FFF2-40B4-BE49-F238E27FC236}">
                <a16:creationId xmlns:a16="http://schemas.microsoft.com/office/drawing/2014/main" id="{EE69FE67-B79C-58E5-09C0-60F5904B77FD}"/>
              </a:ext>
            </a:extLst>
          </p:cNvPr>
          <p:cNvSpPr txBox="1"/>
          <p:nvPr/>
        </p:nvSpPr>
        <p:spPr>
          <a:xfrm>
            <a:off x="6234728" y="4043463"/>
            <a:ext cx="2649691" cy="560700"/>
          </a:xfrm>
          <a:prstGeom prst="rect">
            <a:avLst/>
          </a:prstGeom>
          <a:noFill/>
          <a:ln>
            <a:noFill/>
          </a:ln>
        </p:spPr>
        <p:txBody>
          <a:bodyPr spcFirstLastPara="1" wrap="square" lIns="91425" tIns="91425" rIns="91425" bIns="91425" anchor="t" anchorCtr="0">
            <a:noAutofit/>
          </a:bodyPr>
          <a:lstStyle/>
          <a:p>
            <a:pPr algn="ctr"/>
            <a:r>
              <a:rPr lang="en-US" sz="1200" dirty="0" err="1">
                <a:latin typeface="Roboto"/>
                <a:ea typeface="Roboto"/>
                <a:cs typeface="Roboto"/>
              </a:rPr>
              <a:t>Visualisation</a:t>
            </a:r>
            <a:r>
              <a:rPr lang="en-US" sz="1200" dirty="0">
                <a:latin typeface="Roboto"/>
                <a:ea typeface="Roboto"/>
                <a:cs typeface="Roboto"/>
              </a:rPr>
              <a:t> des compétences les plus </a:t>
            </a:r>
            <a:r>
              <a:rPr lang="en-US" sz="1200" dirty="0" err="1">
                <a:latin typeface="Roboto"/>
                <a:ea typeface="Roboto"/>
                <a:cs typeface="Roboto"/>
              </a:rPr>
              <a:t>fréquentes</a:t>
            </a:r>
            <a:r>
              <a:rPr lang="en-US" sz="1200" dirty="0">
                <a:latin typeface="Roboto"/>
                <a:ea typeface="Roboto"/>
                <a:cs typeface="Roboto"/>
              </a:rPr>
              <a:t> et les plus </a:t>
            </a:r>
            <a:r>
              <a:rPr lang="en-US" sz="1200" dirty="0" err="1">
                <a:latin typeface="Roboto"/>
                <a:ea typeface="Roboto"/>
                <a:cs typeface="Roboto"/>
              </a:rPr>
              <a:t>rares</a:t>
            </a:r>
            <a:r>
              <a:rPr lang="en-US" sz="1200" dirty="0">
                <a:latin typeface="Roboto"/>
                <a:ea typeface="Roboto"/>
                <a:cs typeface="Roboto"/>
              </a:rPr>
              <a:t> dans </a:t>
            </a:r>
            <a:r>
              <a:rPr lang="en-US" sz="1200" dirty="0" err="1">
                <a:latin typeface="Roboto"/>
                <a:ea typeface="Roboto"/>
                <a:cs typeface="Roboto"/>
              </a:rPr>
              <a:t>l'ensemble</a:t>
            </a:r>
            <a:r>
              <a:rPr lang="en-US" sz="1200" dirty="0">
                <a:latin typeface="Roboto"/>
                <a:ea typeface="Roboto"/>
                <a:cs typeface="Roboto"/>
              </a:rPr>
              <a:t> des candidatures</a:t>
            </a:r>
            <a:r>
              <a:rPr lang="en-US" sz="1200" dirty="0">
                <a:solidFill>
                  <a:srgbClr val="E5E0DF"/>
                </a:solidFill>
                <a:latin typeface="Roboto" pitchFamily="34" charset="0"/>
                <a:ea typeface="Roboto" pitchFamily="34" charset="-122"/>
                <a:cs typeface="Roboto" pitchFamily="34" charset="-120"/>
              </a:rPr>
              <a:t>.</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6"/>
          <p:cNvSpPr txBox="1">
            <a:spLocks noGrp="1"/>
          </p:cNvSpPr>
          <p:nvPr>
            <p:ph type="title"/>
          </p:nvPr>
        </p:nvSpPr>
        <p:spPr>
          <a:xfrm>
            <a:off x="457200" y="266332"/>
            <a:ext cx="8229600" cy="371400"/>
          </a:xfrm>
          <a:prstGeom prst="rect">
            <a:avLst/>
          </a:prstGeom>
        </p:spPr>
        <p:txBody>
          <a:bodyPr spcFirstLastPara="1" wrap="square" lIns="91425" tIns="91425" rIns="91425" bIns="91425" anchor="ctr" anchorCtr="0">
            <a:noAutofit/>
          </a:bodyPr>
          <a:lstStyle/>
          <a:p>
            <a:pPr algn="l">
              <a:lnSpc>
                <a:spcPts val="3100"/>
              </a:lnSpc>
            </a:pPr>
            <a:r>
              <a:rPr lang="en-US" sz="2400" dirty="0" err="1">
                <a:solidFill>
                  <a:srgbClr val="1D1D1B"/>
                </a:solidFill>
                <a:latin typeface="Tomorrow Semi Bold" pitchFamily="34" charset="0"/>
                <a:ea typeface="Tomorrow Semi Bold" pitchFamily="34" charset="-122"/>
              </a:rPr>
              <a:t>Démonstration</a:t>
            </a:r>
            <a:r>
              <a:rPr lang="en-US" sz="2400" dirty="0">
                <a:solidFill>
                  <a:srgbClr val="1D1D1B"/>
                </a:solidFill>
                <a:latin typeface="Tomorrow Semi Bold" pitchFamily="34" charset="0"/>
                <a:ea typeface="Tomorrow Semi Bold" pitchFamily="34" charset="-122"/>
              </a:rPr>
              <a:t> du Système (Interface </a:t>
            </a:r>
            <a:r>
              <a:rPr lang="en-US" sz="2400" dirty="0" err="1">
                <a:solidFill>
                  <a:srgbClr val="1D1D1B"/>
                </a:solidFill>
                <a:latin typeface="Tomorrow Semi Bold" pitchFamily="34" charset="0"/>
                <a:ea typeface="Tomorrow Semi Bold" pitchFamily="34" charset="-122"/>
              </a:rPr>
              <a:t>Streamlit</a:t>
            </a:r>
            <a:r>
              <a:rPr lang="en-US" sz="2400" dirty="0">
                <a:solidFill>
                  <a:srgbClr val="1D1D1B"/>
                </a:solidFill>
                <a:latin typeface="Tomorrow Semi Bold" pitchFamily="34" charset="0"/>
                <a:ea typeface="Tomorrow Semi Bold" pitchFamily="34" charset="-122"/>
              </a:rPr>
              <a:t>)</a:t>
            </a:r>
          </a:p>
        </p:txBody>
      </p:sp>
      <p:sp>
        <p:nvSpPr>
          <p:cNvPr id="5" name="ZoneTexte 4">
            <a:extLst>
              <a:ext uri="{FF2B5EF4-FFF2-40B4-BE49-F238E27FC236}">
                <a16:creationId xmlns:a16="http://schemas.microsoft.com/office/drawing/2014/main" id="{3C083CB5-ED6D-2ADE-C3B2-C4E547556E80}"/>
              </a:ext>
            </a:extLst>
          </p:cNvPr>
          <p:cNvSpPr txBox="1"/>
          <p:nvPr/>
        </p:nvSpPr>
        <p:spPr>
          <a:xfrm>
            <a:off x="261257" y="809836"/>
            <a:ext cx="8621485" cy="430887"/>
          </a:xfrm>
          <a:prstGeom prst="rect">
            <a:avLst/>
          </a:prstGeom>
          <a:noFill/>
        </p:spPr>
        <p:txBody>
          <a:bodyPr wrap="square">
            <a:spAutoFit/>
          </a:bodyPr>
          <a:lstStyle/>
          <a:p>
            <a:pPr marL="2540" indent="0">
              <a:buSzPts val="1400"/>
              <a:buFont typeface="Arial"/>
              <a:buNone/>
            </a:pPr>
            <a:r>
              <a:rPr lang="en-US" sz="1100" dirty="0">
                <a:latin typeface="Roboto"/>
                <a:ea typeface="Roboto"/>
                <a:cs typeface="Roboto"/>
              </a:rPr>
              <a:t>Notre solution est accessible via une interface </a:t>
            </a:r>
            <a:r>
              <a:rPr lang="en-US" sz="1100" dirty="0" err="1">
                <a:latin typeface="Roboto"/>
                <a:ea typeface="Roboto"/>
                <a:cs typeface="Roboto"/>
              </a:rPr>
              <a:t>conviviale</a:t>
            </a:r>
            <a:r>
              <a:rPr lang="en-US" sz="1100" dirty="0">
                <a:latin typeface="Roboto"/>
                <a:ea typeface="Roboto"/>
                <a:cs typeface="Roboto"/>
              </a:rPr>
              <a:t> </a:t>
            </a:r>
            <a:r>
              <a:rPr lang="en-US" sz="1100" dirty="0" err="1">
                <a:latin typeface="Roboto"/>
                <a:ea typeface="Roboto"/>
                <a:cs typeface="Roboto"/>
              </a:rPr>
              <a:t>développée</a:t>
            </a:r>
            <a:r>
              <a:rPr lang="en-US" sz="1100" dirty="0">
                <a:latin typeface="Roboto"/>
                <a:ea typeface="Roboto"/>
                <a:cs typeface="Roboto"/>
              </a:rPr>
              <a:t> avec </a:t>
            </a:r>
            <a:r>
              <a:rPr lang="en-US" sz="1100" dirty="0" err="1">
                <a:latin typeface="Roboto"/>
                <a:ea typeface="Roboto"/>
                <a:cs typeface="Roboto"/>
              </a:rPr>
              <a:t>Streamlit</a:t>
            </a:r>
            <a:r>
              <a:rPr lang="en-US" sz="1100" dirty="0">
                <a:latin typeface="Roboto"/>
                <a:ea typeface="Roboto"/>
                <a:cs typeface="Roboto"/>
              </a:rPr>
              <a:t>, </a:t>
            </a:r>
            <a:r>
              <a:rPr lang="en-US" sz="1100" dirty="0" err="1">
                <a:latin typeface="Roboto"/>
                <a:ea typeface="Roboto"/>
                <a:cs typeface="Roboto"/>
              </a:rPr>
              <a:t>permettant</a:t>
            </a:r>
            <a:r>
              <a:rPr lang="en-US" sz="1100" dirty="0">
                <a:latin typeface="Roboto"/>
                <a:ea typeface="Roboto"/>
                <a:cs typeface="Roboto"/>
              </a:rPr>
              <a:t> aux </a:t>
            </a:r>
            <a:r>
              <a:rPr lang="en-US" sz="1100" dirty="0" err="1">
                <a:latin typeface="Roboto"/>
                <a:ea typeface="Roboto"/>
                <a:cs typeface="Roboto"/>
              </a:rPr>
              <a:t>recruteurs</a:t>
            </a:r>
            <a:r>
              <a:rPr lang="en-US" sz="1100" dirty="0">
                <a:latin typeface="Roboto"/>
                <a:ea typeface="Roboto"/>
                <a:cs typeface="Roboto"/>
              </a:rPr>
              <a:t> </a:t>
            </a:r>
            <a:r>
              <a:rPr lang="en-US" sz="1100" dirty="0" err="1">
                <a:latin typeface="Roboto"/>
                <a:ea typeface="Roboto"/>
                <a:cs typeface="Roboto"/>
              </a:rPr>
              <a:t>d'interagir</a:t>
            </a:r>
            <a:r>
              <a:rPr lang="en-US" sz="1100" dirty="0">
                <a:latin typeface="Roboto"/>
                <a:ea typeface="Roboto"/>
                <a:cs typeface="Roboto"/>
              </a:rPr>
              <a:t> </a:t>
            </a:r>
            <a:r>
              <a:rPr lang="en-US" sz="1100" dirty="0" err="1">
                <a:latin typeface="Roboto"/>
                <a:ea typeface="Roboto"/>
                <a:cs typeface="Roboto"/>
              </a:rPr>
              <a:t>facilement</a:t>
            </a:r>
            <a:r>
              <a:rPr lang="en-US" sz="1100" dirty="0">
                <a:latin typeface="Roboto"/>
                <a:ea typeface="Roboto"/>
                <a:cs typeface="Roboto"/>
              </a:rPr>
              <a:t> avec le </a:t>
            </a:r>
            <a:r>
              <a:rPr lang="en-US" sz="1100" dirty="0" err="1">
                <a:latin typeface="Roboto"/>
                <a:ea typeface="Roboto"/>
                <a:cs typeface="Roboto"/>
              </a:rPr>
              <a:t>système</a:t>
            </a:r>
            <a:r>
              <a:rPr lang="en-US" sz="1100" dirty="0">
                <a:latin typeface="Roboto"/>
                <a:ea typeface="Roboto"/>
                <a:cs typeface="Roboto"/>
              </a:rPr>
              <a:t>.</a:t>
            </a:r>
          </a:p>
        </p:txBody>
      </p:sp>
      <p:pic>
        <p:nvPicPr>
          <p:cNvPr id="7" name="Image 6">
            <a:extLst>
              <a:ext uri="{FF2B5EF4-FFF2-40B4-BE49-F238E27FC236}">
                <a16:creationId xmlns:a16="http://schemas.microsoft.com/office/drawing/2014/main" id="{AE08A0FD-0791-2712-2427-941DDE074697}"/>
              </a:ext>
            </a:extLst>
          </p:cNvPr>
          <p:cNvPicPr>
            <a:picLocks noChangeAspect="1"/>
          </p:cNvPicPr>
          <p:nvPr/>
        </p:nvPicPr>
        <p:blipFill>
          <a:blip r:embed="rId3"/>
          <a:stretch>
            <a:fillRect/>
          </a:stretch>
        </p:blipFill>
        <p:spPr>
          <a:xfrm>
            <a:off x="261257" y="1501687"/>
            <a:ext cx="4398247" cy="2458155"/>
          </a:xfrm>
          <a:prstGeom prst="rect">
            <a:avLst/>
          </a:prstGeom>
        </p:spPr>
      </p:pic>
      <p:pic>
        <p:nvPicPr>
          <p:cNvPr id="9" name="Image 8">
            <a:extLst>
              <a:ext uri="{FF2B5EF4-FFF2-40B4-BE49-F238E27FC236}">
                <a16:creationId xmlns:a16="http://schemas.microsoft.com/office/drawing/2014/main" id="{34080433-142F-1B14-968B-73A523D7A13C}"/>
              </a:ext>
            </a:extLst>
          </p:cNvPr>
          <p:cNvPicPr>
            <a:picLocks noChangeAspect="1"/>
          </p:cNvPicPr>
          <p:nvPr/>
        </p:nvPicPr>
        <p:blipFill>
          <a:blip r:embed="rId4"/>
          <a:stretch>
            <a:fillRect/>
          </a:stretch>
        </p:blipFill>
        <p:spPr>
          <a:xfrm>
            <a:off x="4572001" y="1501687"/>
            <a:ext cx="4165600" cy="2503097"/>
          </a:xfrm>
          <a:prstGeom prst="rect">
            <a:avLst/>
          </a:prstGeom>
        </p:spPr>
      </p:pic>
      <p:sp>
        <p:nvSpPr>
          <p:cNvPr id="11" name="ZoneTexte 10">
            <a:extLst>
              <a:ext uri="{FF2B5EF4-FFF2-40B4-BE49-F238E27FC236}">
                <a16:creationId xmlns:a16="http://schemas.microsoft.com/office/drawing/2014/main" id="{257C40F0-A3FF-F274-97C1-49CDE6766481}"/>
              </a:ext>
            </a:extLst>
          </p:cNvPr>
          <p:cNvSpPr txBox="1"/>
          <p:nvPr/>
        </p:nvSpPr>
        <p:spPr>
          <a:xfrm>
            <a:off x="174380" y="3975645"/>
            <a:ext cx="4572000" cy="261610"/>
          </a:xfrm>
          <a:prstGeom prst="rect">
            <a:avLst/>
          </a:prstGeom>
          <a:noFill/>
        </p:spPr>
        <p:txBody>
          <a:bodyPr wrap="square">
            <a:spAutoFit/>
          </a:bodyPr>
          <a:lstStyle/>
          <a:p>
            <a:pPr marL="2540" algn="ctr">
              <a:buSzPts val="1400"/>
            </a:pPr>
            <a:r>
              <a:rPr lang="fr-FR" sz="1100" dirty="0">
                <a:latin typeface="Palatino Linotype" panose="02040502050505030304" pitchFamily="18" charset="0"/>
                <a:ea typeface="Roboto"/>
                <a:cs typeface="Roboto"/>
              </a:rPr>
              <a:t>Page d’accueil de l’interface </a:t>
            </a:r>
            <a:r>
              <a:rPr lang="fr-FR" sz="1100" dirty="0" err="1">
                <a:latin typeface="Palatino Linotype" panose="02040502050505030304" pitchFamily="18" charset="0"/>
                <a:ea typeface="Roboto"/>
                <a:cs typeface="Roboto"/>
              </a:rPr>
              <a:t>Streamlit</a:t>
            </a:r>
            <a:endParaRPr lang="fr-FR" sz="1100" dirty="0">
              <a:latin typeface="Palatino Linotype" panose="02040502050505030304" pitchFamily="18" charset="0"/>
              <a:ea typeface="Roboto"/>
              <a:cs typeface="Roboto"/>
            </a:endParaRPr>
          </a:p>
        </p:txBody>
      </p:sp>
      <p:sp>
        <p:nvSpPr>
          <p:cNvPr id="14" name="ZoneTexte 13">
            <a:extLst>
              <a:ext uri="{FF2B5EF4-FFF2-40B4-BE49-F238E27FC236}">
                <a16:creationId xmlns:a16="http://schemas.microsoft.com/office/drawing/2014/main" id="{B61E91A7-E8EE-0FB7-79BA-7EDA1494576A}"/>
              </a:ext>
            </a:extLst>
          </p:cNvPr>
          <p:cNvSpPr txBox="1"/>
          <p:nvPr/>
        </p:nvSpPr>
        <p:spPr>
          <a:xfrm>
            <a:off x="4347030" y="3981990"/>
            <a:ext cx="4615542" cy="261610"/>
          </a:xfrm>
          <a:prstGeom prst="rect">
            <a:avLst/>
          </a:prstGeom>
          <a:noFill/>
        </p:spPr>
        <p:txBody>
          <a:bodyPr wrap="square">
            <a:spAutoFit/>
          </a:bodyPr>
          <a:lstStyle/>
          <a:p>
            <a:pPr marL="2540" algn="ctr">
              <a:buSzPts val="1400"/>
            </a:pPr>
            <a:r>
              <a:rPr lang="fr-FR" sz="1100" dirty="0">
                <a:latin typeface="Palatino Linotype" panose="02040502050505030304" pitchFamily="18" charset="0"/>
                <a:ea typeface="Roboto"/>
                <a:cs typeface="Roboto"/>
              </a:rPr>
              <a:t>Guide d’utilisation en 3 étapes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9223AAD4-E40D-7F2B-CC29-696B9D637698}"/>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90CEB71C-C147-059F-F632-1F4961A920B7}"/>
              </a:ext>
            </a:extLst>
          </p:cNvPr>
          <p:cNvSpPr txBox="1"/>
          <p:nvPr/>
        </p:nvSpPr>
        <p:spPr>
          <a:xfrm>
            <a:off x="-319314" y="4077246"/>
            <a:ext cx="4572000" cy="261610"/>
          </a:xfrm>
          <a:prstGeom prst="rect">
            <a:avLst/>
          </a:prstGeom>
          <a:noFill/>
        </p:spPr>
        <p:txBody>
          <a:bodyPr wrap="square">
            <a:spAutoFit/>
          </a:bodyPr>
          <a:lstStyle/>
          <a:p>
            <a:pPr marL="2540" algn="ctr">
              <a:buSzPts val="1400"/>
            </a:pPr>
            <a:r>
              <a:rPr lang="fr-FR" sz="1100" dirty="0">
                <a:latin typeface="Palatino Linotype" panose="02040502050505030304" pitchFamily="18" charset="0"/>
                <a:ea typeface="Roboto"/>
                <a:cs typeface="Roboto"/>
              </a:rPr>
              <a:t>Interface de saisie de la description de poste</a:t>
            </a:r>
          </a:p>
        </p:txBody>
      </p:sp>
      <p:sp>
        <p:nvSpPr>
          <p:cNvPr id="14" name="ZoneTexte 13">
            <a:extLst>
              <a:ext uri="{FF2B5EF4-FFF2-40B4-BE49-F238E27FC236}">
                <a16:creationId xmlns:a16="http://schemas.microsoft.com/office/drawing/2014/main" id="{37C01BDA-3B6E-839B-5679-D2D20BAA32C3}"/>
              </a:ext>
            </a:extLst>
          </p:cNvPr>
          <p:cNvSpPr txBox="1"/>
          <p:nvPr/>
        </p:nvSpPr>
        <p:spPr>
          <a:xfrm>
            <a:off x="4528458" y="4075978"/>
            <a:ext cx="4615542" cy="261610"/>
          </a:xfrm>
          <a:prstGeom prst="rect">
            <a:avLst/>
          </a:prstGeom>
          <a:noFill/>
        </p:spPr>
        <p:txBody>
          <a:bodyPr wrap="square">
            <a:spAutoFit/>
          </a:bodyPr>
          <a:lstStyle/>
          <a:p>
            <a:pPr marL="2540" algn="ctr">
              <a:buSzPts val="1400"/>
            </a:pPr>
            <a:r>
              <a:rPr lang="fr-FR" sz="1100" dirty="0">
                <a:latin typeface="Palatino Linotype" panose="02040502050505030304" pitchFamily="18" charset="0"/>
                <a:ea typeface="Roboto"/>
                <a:cs typeface="Roboto"/>
              </a:rPr>
              <a:t>Sélection des candidats à évaluer</a:t>
            </a:r>
          </a:p>
        </p:txBody>
      </p:sp>
      <p:pic>
        <p:nvPicPr>
          <p:cNvPr id="6" name="Image 5">
            <a:extLst>
              <a:ext uri="{FF2B5EF4-FFF2-40B4-BE49-F238E27FC236}">
                <a16:creationId xmlns:a16="http://schemas.microsoft.com/office/drawing/2014/main" id="{1B8C6040-79C3-6F00-A2F3-5BECB8948B0F}"/>
              </a:ext>
            </a:extLst>
          </p:cNvPr>
          <p:cNvPicPr>
            <a:picLocks noChangeAspect="1"/>
          </p:cNvPicPr>
          <p:nvPr/>
        </p:nvPicPr>
        <p:blipFill>
          <a:blip r:embed="rId3"/>
          <a:stretch>
            <a:fillRect/>
          </a:stretch>
        </p:blipFill>
        <p:spPr>
          <a:xfrm>
            <a:off x="0" y="1083632"/>
            <a:ext cx="4252686" cy="2598864"/>
          </a:xfrm>
          <a:prstGeom prst="rect">
            <a:avLst/>
          </a:prstGeom>
        </p:spPr>
      </p:pic>
      <p:pic>
        <p:nvPicPr>
          <p:cNvPr id="10" name="Image 9">
            <a:extLst>
              <a:ext uri="{FF2B5EF4-FFF2-40B4-BE49-F238E27FC236}">
                <a16:creationId xmlns:a16="http://schemas.microsoft.com/office/drawing/2014/main" id="{9DCCAF03-4BA7-E26F-D02E-5B03B1E309D1}"/>
              </a:ext>
            </a:extLst>
          </p:cNvPr>
          <p:cNvPicPr>
            <a:picLocks noChangeAspect="1"/>
          </p:cNvPicPr>
          <p:nvPr/>
        </p:nvPicPr>
        <p:blipFill>
          <a:blip r:embed="rId4"/>
          <a:stretch>
            <a:fillRect/>
          </a:stretch>
        </p:blipFill>
        <p:spPr>
          <a:xfrm>
            <a:off x="4443860" y="1230715"/>
            <a:ext cx="4700140" cy="2451781"/>
          </a:xfrm>
          <a:prstGeom prst="rect">
            <a:avLst/>
          </a:prstGeom>
        </p:spPr>
      </p:pic>
      <p:sp>
        <p:nvSpPr>
          <p:cNvPr id="12" name="Google Shape;235;p16">
            <a:extLst>
              <a:ext uri="{FF2B5EF4-FFF2-40B4-BE49-F238E27FC236}">
                <a16:creationId xmlns:a16="http://schemas.microsoft.com/office/drawing/2014/main" id="{742FC670-5ACC-4CAE-BD17-0B62EBF22612}"/>
              </a:ext>
            </a:extLst>
          </p:cNvPr>
          <p:cNvSpPr txBox="1">
            <a:spLocks noGrp="1"/>
          </p:cNvSpPr>
          <p:nvPr>
            <p:ph type="title"/>
          </p:nvPr>
        </p:nvSpPr>
        <p:spPr>
          <a:xfrm>
            <a:off x="457200" y="266332"/>
            <a:ext cx="8229600" cy="371400"/>
          </a:xfrm>
          <a:prstGeom prst="rect">
            <a:avLst/>
          </a:prstGeom>
        </p:spPr>
        <p:txBody>
          <a:bodyPr spcFirstLastPara="1" wrap="square" lIns="91425" tIns="91425" rIns="91425" bIns="91425" anchor="ctr" anchorCtr="0">
            <a:noAutofit/>
          </a:bodyPr>
          <a:lstStyle/>
          <a:p>
            <a:pPr algn="l">
              <a:lnSpc>
                <a:spcPts val="3100"/>
              </a:lnSpc>
            </a:pPr>
            <a:r>
              <a:rPr lang="en-US" sz="2400" dirty="0" err="1">
                <a:solidFill>
                  <a:srgbClr val="1D1D1B"/>
                </a:solidFill>
                <a:latin typeface="Tomorrow Semi Bold" pitchFamily="34" charset="0"/>
                <a:ea typeface="Tomorrow Semi Bold" pitchFamily="34" charset="-122"/>
              </a:rPr>
              <a:t>Démonstration</a:t>
            </a:r>
            <a:r>
              <a:rPr lang="en-US" sz="2400" dirty="0">
                <a:solidFill>
                  <a:srgbClr val="1D1D1B"/>
                </a:solidFill>
                <a:latin typeface="Tomorrow Semi Bold" pitchFamily="34" charset="0"/>
                <a:ea typeface="Tomorrow Semi Bold" pitchFamily="34" charset="-122"/>
              </a:rPr>
              <a:t> du Système (Interface </a:t>
            </a:r>
            <a:r>
              <a:rPr lang="en-US" sz="2400" dirty="0" err="1">
                <a:solidFill>
                  <a:srgbClr val="1D1D1B"/>
                </a:solidFill>
                <a:latin typeface="Tomorrow Semi Bold" pitchFamily="34" charset="0"/>
                <a:ea typeface="Tomorrow Semi Bold" pitchFamily="34" charset="-122"/>
              </a:rPr>
              <a:t>Streamlit</a:t>
            </a:r>
            <a:r>
              <a:rPr lang="en-US" sz="2400" dirty="0">
                <a:solidFill>
                  <a:srgbClr val="1D1D1B"/>
                </a:solidFill>
                <a:latin typeface="Tomorrow Semi Bold" pitchFamily="34" charset="0"/>
                <a:ea typeface="Tomorrow Semi Bold" pitchFamily="34" charset="-122"/>
              </a:rPr>
              <a:t>)</a:t>
            </a:r>
          </a:p>
        </p:txBody>
      </p:sp>
    </p:spTree>
    <p:extLst>
      <p:ext uri="{BB962C8B-B14F-4D97-AF65-F5344CB8AC3E}">
        <p14:creationId xmlns:p14="http://schemas.microsoft.com/office/powerpoint/2010/main" val="10567848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B82200E-3646-5EFA-D8CB-B606A382CF27}"/>
              </a:ext>
            </a:extLst>
          </p:cNvPr>
          <p:cNvPicPr>
            <a:picLocks noChangeAspect="1"/>
          </p:cNvPicPr>
          <p:nvPr/>
        </p:nvPicPr>
        <p:blipFill>
          <a:blip r:embed="rId2"/>
          <a:stretch>
            <a:fillRect/>
          </a:stretch>
        </p:blipFill>
        <p:spPr>
          <a:xfrm>
            <a:off x="2221931" y="282365"/>
            <a:ext cx="4700139" cy="2872308"/>
          </a:xfrm>
          <a:prstGeom prst="rect">
            <a:avLst/>
          </a:prstGeom>
        </p:spPr>
      </p:pic>
      <p:pic>
        <p:nvPicPr>
          <p:cNvPr id="4" name="Image 3">
            <a:extLst>
              <a:ext uri="{FF2B5EF4-FFF2-40B4-BE49-F238E27FC236}">
                <a16:creationId xmlns:a16="http://schemas.microsoft.com/office/drawing/2014/main" id="{09F451CD-C153-C594-3ECE-5FB1FF1BCF8B}"/>
              </a:ext>
            </a:extLst>
          </p:cNvPr>
          <p:cNvPicPr>
            <a:picLocks noChangeAspect="1"/>
          </p:cNvPicPr>
          <p:nvPr/>
        </p:nvPicPr>
        <p:blipFill>
          <a:blip r:embed="rId3"/>
          <a:stretch>
            <a:fillRect/>
          </a:stretch>
        </p:blipFill>
        <p:spPr>
          <a:xfrm>
            <a:off x="2221930" y="2571750"/>
            <a:ext cx="4700140" cy="2451781"/>
          </a:xfrm>
          <a:prstGeom prst="rect">
            <a:avLst/>
          </a:prstGeom>
        </p:spPr>
      </p:pic>
    </p:spTree>
    <p:extLst>
      <p:ext uri="{BB962C8B-B14F-4D97-AF65-F5344CB8AC3E}">
        <p14:creationId xmlns:p14="http://schemas.microsoft.com/office/powerpoint/2010/main" val="696731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DAFB37AD-796F-65B6-B393-C8DF5B50C03B}"/>
            </a:ext>
          </a:extLst>
        </p:cNvPr>
        <p:cNvGrpSpPr/>
        <p:nvPr/>
      </p:nvGrpSpPr>
      <p:grpSpPr>
        <a:xfrm>
          <a:off x="0" y="0"/>
          <a:ext cx="0" cy="0"/>
          <a:chOff x="0" y="0"/>
          <a:chExt cx="0" cy="0"/>
        </a:xfrm>
      </p:grpSpPr>
      <p:sp>
        <p:nvSpPr>
          <p:cNvPr id="11" name="ZoneTexte 10">
            <a:extLst>
              <a:ext uri="{FF2B5EF4-FFF2-40B4-BE49-F238E27FC236}">
                <a16:creationId xmlns:a16="http://schemas.microsoft.com/office/drawing/2014/main" id="{787F1AFD-7806-9DF9-F95E-BB936319C3AE}"/>
              </a:ext>
            </a:extLst>
          </p:cNvPr>
          <p:cNvSpPr txBox="1"/>
          <p:nvPr/>
        </p:nvSpPr>
        <p:spPr>
          <a:xfrm>
            <a:off x="80670" y="4071257"/>
            <a:ext cx="9129485" cy="600164"/>
          </a:xfrm>
          <a:prstGeom prst="rect">
            <a:avLst/>
          </a:prstGeom>
          <a:noFill/>
        </p:spPr>
        <p:txBody>
          <a:bodyPr wrap="square">
            <a:spAutoFit/>
          </a:bodyPr>
          <a:lstStyle/>
          <a:p>
            <a:pPr marL="2540">
              <a:buSzPts val="1400"/>
            </a:pPr>
            <a:r>
              <a:rPr lang="fr-FR" sz="1100" dirty="0"/>
              <a:t>Le système classe automatiquement les candidats selon le poste ciblé à partir d’évaluations réalisées par plusieurs agents spécialisés. Chaque agent attribue un score relatif à l’adéquation au poste, aux compétences techniques et aux soft </a:t>
            </a:r>
            <a:r>
              <a:rPr lang="fr-FR" sz="1100" dirty="0" err="1"/>
              <a:t>skills</a:t>
            </a:r>
            <a:r>
              <a:rPr lang="fr-FR" sz="1100" dirty="0"/>
              <a:t>. Ces scores sont ensuite agrégés par l’agent décideur afin de produire un classement cohérent et traçable des profils.</a:t>
            </a:r>
            <a:endParaRPr lang="fr-FR" sz="1100" dirty="0">
              <a:latin typeface="Palatino Linotype" panose="02040502050505030304" pitchFamily="18" charset="0"/>
              <a:ea typeface="Roboto"/>
              <a:cs typeface="Roboto"/>
            </a:endParaRPr>
          </a:p>
        </p:txBody>
      </p:sp>
      <p:sp>
        <p:nvSpPr>
          <p:cNvPr id="12" name="Google Shape;235;p16">
            <a:extLst>
              <a:ext uri="{FF2B5EF4-FFF2-40B4-BE49-F238E27FC236}">
                <a16:creationId xmlns:a16="http://schemas.microsoft.com/office/drawing/2014/main" id="{69C1FDF7-0F05-DF77-FDAA-5518128D0216}"/>
              </a:ext>
            </a:extLst>
          </p:cNvPr>
          <p:cNvSpPr txBox="1">
            <a:spLocks noGrp="1"/>
          </p:cNvSpPr>
          <p:nvPr>
            <p:ph type="title"/>
          </p:nvPr>
        </p:nvSpPr>
        <p:spPr>
          <a:xfrm>
            <a:off x="833730" y="249287"/>
            <a:ext cx="8229600" cy="371400"/>
          </a:xfrm>
          <a:prstGeom prst="rect">
            <a:avLst/>
          </a:prstGeom>
        </p:spPr>
        <p:txBody>
          <a:bodyPr spcFirstLastPara="1" wrap="square" lIns="91425" tIns="91425" rIns="91425" bIns="91425" anchor="ctr" anchorCtr="0">
            <a:noAutofit/>
          </a:bodyPr>
          <a:lstStyle/>
          <a:p>
            <a:pPr algn="l">
              <a:lnSpc>
                <a:spcPts val="3100"/>
              </a:lnSpc>
            </a:pPr>
            <a:r>
              <a:rPr lang="fr-FR" sz="2400" dirty="0">
                <a:solidFill>
                  <a:srgbClr val="1D1D1B"/>
                </a:solidFill>
                <a:latin typeface="Tomorrow Semi Bold" pitchFamily="34" charset="0"/>
                <a:ea typeface="Tomorrow Semi Bold" pitchFamily="34" charset="-122"/>
              </a:rPr>
              <a:t>RÉSULTATS DE L’ÉVALUATION MULTI-AGENTS</a:t>
            </a:r>
            <a:endParaRPr lang="en-US" sz="2400" dirty="0">
              <a:solidFill>
                <a:srgbClr val="1D1D1B"/>
              </a:solidFill>
              <a:latin typeface="Tomorrow Semi Bold" pitchFamily="34" charset="0"/>
              <a:ea typeface="Tomorrow Semi Bold" pitchFamily="34" charset="-122"/>
            </a:endParaRPr>
          </a:p>
        </p:txBody>
      </p:sp>
      <p:pic>
        <p:nvPicPr>
          <p:cNvPr id="3" name="Image 2">
            <a:extLst>
              <a:ext uri="{FF2B5EF4-FFF2-40B4-BE49-F238E27FC236}">
                <a16:creationId xmlns:a16="http://schemas.microsoft.com/office/drawing/2014/main" id="{48BFF29F-82C1-7199-5FF9-3A67A8030B1D}"/>
              </a:ext>
            </a:extLst>
          </p:cNvPr>
          <p:cNvPicPr>
            <a:picLocks noChangeAspect="1"/>
          </p:cNvPicPr>
          <p:nvPr/>
        </p:nvPicPr>
        <p:blipFill>
          <a:blip r:embed="rId3"/>
          <a:stretch>
            <a:fillRect/>
          </a:stretch>
        </p:blipFill>
        <p:spPr>
          <a:xfrm>
            <a:off x="80670" y="804644"/>
            <a:ext cx="4300090" cy="2071505"/>
          </a:xfrm>
          <a:prstGeom prst="rect">
            <a:avLst/>
          </a:prstGeom>
        </p:spPr>
      </p:pic>
      <p:pic>
        <p:nvPicPr>
          <p:cNvPr id="5" name="Image 4">
            <a:extLst>
              <a:ext uri="{FF2B5EF4-FFF2-40B4-BE49-F238E27FC236}">
                <a16:creationId xmlns:a16="http://schemas.microsoft.com/office/drawing/2014/main" id="{ACD9C2CB-18AB-DB89-C2CD-B711934828E7}"/>
              </a:ext>
            </a:extLst>
          </p:cNvPr>
          <p:cNvPicPr>
            <a:picLocks noChangeAspect="1"/>
          </p:cNvPicPr>
          <p:nvPr/>
        </p:nvPicPr>
        <p:blipFill>
          <a:blip r:embed="rId4"/>
          <a:stretch>
            <a:fillRect/>
          </a:stretch>
        </p:blipFill>
        <p:spPr>
          <a:xfrm>
            <a:off x="4528458" y="805912"/>
            <a:ext cx="4534872" cy="2814194"/>
          </a:xfrm>
          <a:prstGeom prst="rect">
            <a:avLst/>
          </a:prstGeom>
        </p:spPr>
      </p:pic>
      <p:sp>
        <p:nvSpPr>
          <p:cNvPr id="16" name="Google Shape;2329;p45">
            <a:extLst>
              <a:ext uri="{FF2B5EF4-FFF2-40B4-BE49-F238E27FC236}">
                <a16:creationId xmlns:a16="http://schemas.microsoft.com/office/drawing/2014/main" id="{C665F555-D30B-8396-B930-7A1AD39BEA7B}"/>
              </a:ext>
            </a:extLst>
          </p:cNvPr>
          <p:cNvSpPr/>
          <p:nvPr/>
        </p:nvSpPr>
        <p:spPr>
          <a:xfrm>
            <a:off x="80670" y="3988020"/>
            <a:ext cx="8982660" cy="766639"/>
          </a:xfrm>
          <a:prstGeom prst="roundRect">
            <a:avLst>
              <a:gd name="adj" fmla="val 16667"/>
            </a:avLst>
          </a:prstGeom>
          <a:solidFill>
            <a:srgbClr val="8027EA">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465294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EC4953B2-02FE-54CE-E89B-1154A28914C1}"/>
            </a:ext>
          </a:extLst>
        </p:cNvPr>
        <p:cNvGrpSpPr/>
        <p:nvPr/>
      </p:nvGrpSpPr>
      <p:grpSpPr>
        <a:xfrm>
          <a:off x="0" y="0"/>
          <a:ext cx="0" cy="0"/>
          <a:chOff x="0" y="0"/>
          <a:chExt cx="0" cy="0"/>
        </a:xfrm>
      </p:grpSpPr>
      <p:sp>
        <p:nvSpPr>
          <p:cNvPr id="12" name="Google Shape;235;p16">
            <a:extLst>
              <a:ext uri="{FF2B5EF4-FFF2-40B4-BE49-F238E27FC236}">
                <a16:creationId xmlns:a16="http://schemas.microsoft.com/office/drawing/2014/main" id="{AA88027B-AB7D-7F35-0E5B-31A7C7E10534}"/>
              </a:ext>
            </a:extLst>
          </p:cNvPr>
          <p:cNvSpPr txBox="1">
            <a:spLocks noGrp="1"/>
          </p:cNvSpPr>
          <p:nvPr>
            <p:ph type="title"/>
          </p:nvPr>
        </p:nvSpPr>
        <p:spPr>
          <a:xfrm>
            <a:off x="493485" y="244055"/>
            <a:ext cx="8229600" cy="371400"/>
          </a:xfrm>
          <a:prstGeom prst="rect">
            <a:avLst/>
          </a:prstGeom>
        </p:spPr>
        <p:txBody>
          <a:bodyPr spcFirstLastPara="1" wrap="square" lIns="91425" tIns="91425" rIns="91425" bIns="91425" anchor="ctr" anchorCtr="0">
            <a:noAutofit/>
          </a:bodyPr>
          <a:lstStyle/>
          <a:p>
            <a:pPr algn="l">
              <a:lnSpc>
                <a:spcPts val="3100"/>
              </a:lnSpc>
            </a:pPr>
            <a:r>
              <a:rPr lang="fr-FR" sz="2400" dirty="0">
                <a:solidFill>
                  <a:srgbClr val="1D1D1B"/>
                </a:solidFill>
                <a:latin typeface="Tomorrow Semi Bold" pitchFamily="34" charset="0"/>
                <a:ea typeface="Tomorrow Semi Bold" pitchFamily="34" charset="-122"/>
              </a:rPr>
              <a:t>DÉCISION FINALE ET SORTIE DU SYSTÈME</a:t>
            </a:r>
            <a:endParaRPr lang="en-US" sz="2400" dirty="0">
              <a:solidFill>
                <a:srgbClr val="1D1D1B"/>
              </a:solidFill>
              <a:latin typeface="Tomorrow Semi Bold" pitchFamily="34" charset="0"/>
              <a:ea typeface="Tomorrow Semi Bold" pitchFamily="34" charset="-122"/>
            </a:endParaRPr>
          </a:p>
        </p:txBody>
      </p:sp>
      <p:pic>
        <p:nvPicPr>
          <p:cNvPr id="4" name="Image 3">
            <a:extLst>
              <a:ext uri="{FF2B5EF4-FFF2-40B4-BE49-F238E27FC236}">
                <a16:creationId xmlns:a16="http://schemas.microsoft.com/office/drawing/2014/main" id="{F6C7CDAC-6143-AA6E-263D-7403526031F5}"/>
              </a:ext>
            </a:extLst>
          </p:cNvPr>
          <p:cNvPicPr>
            <a:picLocks noChangeAspect="1"/>
          </p:cNvPicPr>
          <p:nvPr/>
        </p:nvPicPr>
        <p:blipFill>
          <a:blip r:embed="rId3"/>
          <a:stretch>
            <a:fillRect/>
          </a:stretch>
        </p:blipFill>
        <p:spPr>
          <a:xfrm>
            <a:off x="457200" y="620785"/>
            <a:ext cx="5089502" cy="3219636"/>
          </a:xfrm>
          <a:prstGeom prst="rect">
            <a:avLst/>
          </a:prstGeom>
        </p:spPr>
      </p:pic>
      <p:pic>
        <p:nvPicPr>
          <p:cNvPr id="7" name="Image 6">
            <a:extLst>
              <a:ext uri="{FF2B5EF4-FFF2-40B4-BE49-F238E27FC236}">
                <a16:creationId xmlns:a16="http://schemas.microsoft.com/office/drawing/2014/main" id="{AE38ED49-19D1-76D6-E36F-E81E43D8DDBD}"/>
              </a:ext>
            </a:extLst>
          </p:cNvPr>
          <p:cNvPicPr>
            <a:picLocks noChangeAspect="1"/>
          </p:cNvPicPr>
          <p:nvPr/>
        </p:nvPicPr>
        <p:blipFill>
          <a:blip r:embed="rId4"/>
          <a:stretch>
            <a:fillRect/>
          </a:stretch>
        </p:blipFill>
        <p:spPr>
          <a:xfrm>
            <a:off x="6086088" y="1646403"/>
            <a:ext cx="2356536" cy="584200"/>
          </a:xfrm>
          <a:prstGeom prst="rect">
            <a:avLst/>
          </a:prstGeom>
        </p:spPr>
      </p:pic>
      <p:sp>
        <p:nvSpPr>
          <p:cNvPr id="9" name="ZoneTexte 8">
            <a:extLst>
              <a:ext uri="{FF2B5EF4-FFF2-40B4-BE49-F238E27FC236}">
                <a16:creationId xmlns:a16="http://schemas.microsoft.com/office/drawing/2014/main" id="{C0FDB59B-4713-93F4-954C-0BF8016D14A9}"/>
              </a:ext>
            </a:extLst>
          </p:cNvPr>
          <p:cNvSpPr txBox="1"/>
          <p:nvPr/>
        </p:nvSpPr>
        <p:spPr>
          <a:xfrm>
            <a:off x="457200" y="4009698"/>
            <a:ext cx="8454571" cy="600164"/>
          </a:xfrm>
          <a:prstGeom prst="rect">
            <a:avLst/>
          </a:prstGeom>
          <a:noFill/>
        </p:spPr>
        <p:txBody>
          <a:bodyPr wrap="square">
            <a:spAutoFit/>
          </a:bodyPr>
          <a:lstStyle/>
          <a:p>
            <a:pPr marL="2540">
              <a:buSzPts val="1400"/>
            </a:pPr>
            <a:r>
              <a:rPr lang="fr-FR" sz="1100" dirty="0"/>
              <a:t>Le système génère une décision finale structurée pour chaque candidat, accompagnée de justifications textuelles mettant en évidence les points forts et les axes d’amélioration. Les résultats peuvent être exportés sous un format exploitable, garantissant la traçabilité du processus tout en laissant la décision finale au recruteur.</a:t>
            </a:r>
          </a:p>
        </p:txBody>
      </p:sp>
      <p:sp>
        <p:nvSpPr>
          <p:cNvPr id="10" name="Google Shape;2329;p45">
            <a:extLst>
              <a:ext uri="{FF2B5EF4-FFF2-40B4-BE49-F238E27FC236}">
                <a16:creationId xmlns:a16="http://schemas.microsoft.com/office/drawing/2014/main" id="{6060DA3D-8021-651A-FAE5-F57AD1968A58}"/>
              </a:ext>
            </a:extLst>
          </p:cNvPr>
          <p:cNvSpPr/>
          <p:nvPr/>
        </p:nvSpPr>
        <p:spPr>
          <a:xfrm>
            <a:off x="457200" y="4012500"/>
            <a:ext cx="8302171" cy="766639"/>
          </a:xfrm>
          <a:prstGeom prst="roundRect">
            <a:avLst>
              <a:gd name="adj" fmla="val 16667"/>
            </a:avLst>
          </a:prstGeom>
          <a:solidFill>
            <a:srgbClr val="8027EA">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104853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texte, capture d’écran, Police&#10;&#10;Le contenu généré par l’IA peut être incorrect.">
            <a:extLst>
              <a:ext uri="{FF2B5EF4-FFF2-40B4-BE49-F238E27FC236}">
                <a16:creationId xmlns:a16="http://schemas.microsoft.com/office/drawing/2014/main" id="{5287CBAD-2EAB-6123-AA1B-654EB0683D82}"/>
              </a:ext>
            </a:extLst>
          </p:cNvPr>
          <p:cNvPicPr>
            <a:picLocks noChangeAspect="1"/>
          </p:cNvPicPr>
          <p:nvPr/>
        </p:nvPicPr>
        <p:blipFill>
          <a:blip r:embed="rId2"/>
          <a:stretch>
            <a:fillRect/>
          </a:stretch>
        </p:blipFill>
        <p:spPr>
          <a:xfrm>
            <a:off x="0" y="1042"/>
            <a:ext cx="9144000" cy="5141415"/>
          </a:xfrm>
          <a:prstGeom prst="rect">
            <a:avLst/>
          </a:prstGeom>
        </p:spPr>
      </p:pic>
    </p:spTree>
    <p:extLst>
      <p:ext uri="{BB962C8B-B14F-4D97-AF65-F5344CB8AC3E}">
        <p14:creationId xmlns:p14="http://schemas.microsoft.com/office/powerpoint/2010/main" val="4545627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27"/>
          <p:cNvSpPr/>
          <p:nvPr/>
        </p:nvSpPr>
        <p:spPr>
          <a:xfrm>
            <a:off x="3602100" y="2206215"/>
            <a:ext cx="1939800" cy="1036500"/>
          </a:xfrm>
          <a:prstGeom prst="roundRect">
            <a:avLst>
              <a:gd name="adj" fmla="val 2080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7"/>
          <p:cNvSpPr/>
          <p:nvPr/>
        </p:nvSpPr>
        <p:spPr>
          <a:xfrm>
            <a:off x="2402700" y="1059992"/>
            <a:ext cx="671400" cy="671100"/>
          </a:xfrm>
          <a:prstGeom prst="ellipse">
            <a:avLst/>
          </a:prstGeom>
          <a:solidFill>
            <a:srgbClr val="E4EA27">
              <a:alpha val="125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sp>
        <p:nvSpPr>
          <p:cNvPr id="1008" name="Google Shape;1008;p27"/>
          <p:cNvSpPr/>
          <p:nvPr/>
        </p:nvSpPr>
        <p:spPr>
          <a:xfrm>
            <a:off x="2402612" y="3717502"/>
            <a:ext cx="671400" cy="671400"/>
          </a:xfrm>
          <a:prstGeom prst="ellipse">
            <a:avLst/>
          </a:prstGeom>
          <a:solidFill>
            <a:srgbClr val="2776EA">
              <a:alpha val="125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sp>
        <p:nvSpPr>
          <p:cNvPr id="1009" name="Google Shape;1009;p27"/>
          <p:cNvSpPr/>
          <p:nvPr/>
        </p:nvSpPr>
        <p:spPr>
          <a:xfrm>
            <a:off x="6103325" y="3750961"/>
            <a:ext cx="604500" cy="604500"/>
          </a:xfrm>
          <a:prstGeom prst="ellipse">
            <a:avLst/>
          </a:prstGeom>
          <a:solidFill>
            <a:srgbClr val="26EAB8">
              <a:alpha val="125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sp>
        <p:nvSpPr>
          <p:cNvPr id="1011" name="Google Shape;1011;p27"/>
          <p:cNvSpPr/>
          <p:nvPr/>
        </p:nvSpPr>
        <p:spPr>
          <a:xfrm>
            <a:off x="6103325" y="1093353"/>
            <a:ext cx="604500" cy="604500"/>
          </a:xfrm>
          <a:prstGeom prst="ellipse">
            <a:avLst/>
          </a:prstGeom>
          <a:solidFill>
            <a:srgbClr val="E99B27">
              <a:alpha val="125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lt1"/>
              </a:solidFill>
              <a:latin typeface="Fira Sans Extra Condensed"/>
              <a:ea typeface="Fira Sans Extra Condensed"/>
              <a:cs typeface="Fira Sans Extra Condensed"/>
              <a:sym typeface="Fira Sans Extra Condensed"/>
            </a:endParaRPr>
          </a:p>
        </p:txBody>
      </p:sp>
      <p:sp>
        <p:nvSpPr>
          <p:cNvPr id="1012" name="Google Shape;1012;p27"/>
          <p:cNvSpPr txBox="1"/>
          <p:nvPr/>
        </p:nvSpPr>
        <p:spPr>
          <a:xfrm>
            <a:off x="3686100" y="2422165"/>
            <a:ext cx="1771800" cy="604500"/>
          </a:xfrm>
          <a:prstGeom prst="rect">
            <a:avLst/>
          </a:prstGeom>
          <a:noFill/>
          <a:ln>
            <a:noFill/>
          </a:ln>
        </p:spPr>
        <p:txBody>
          <a:bodyPr spcFirstLastPara="1" wrap="square" lIns="91425" tIns="91425" rIns="91425" bIns="91425" anchor="ctr" anchorCtr="0">
            <a:noAutofit/>
          </a:bodyPr>
          <a:lstStyle/>
          <a:p>
            <a:pPr lvl="0">
              <a:lnSpc>
                <a:spcPts val="3100"/>
              </a:lnSpc>
              <a:buClr>
                <a:schemeClr val="dk1"/>
              </a:buClr>
              <a:buSzPts val="2800"/>
            </a:pPr>
            <a:r>
              <a:rPr lang="en-US" sz="2400" b="1" dirty="0">
                <a:solidFill>
                  <a:schemeClr val="dk1"/>
                </a:solidFill>
                <a:latin typeface="Fira Sans Extra Condensed"/>
                <a:sym typeface="Fira Sans Extra Condensed"/>
              </a:rPr>
              <a:t>Conclusion et Perspectives</a:t>
            </a:r>
            <a:endParaRPr sz="2400" b="1" dirty="0">
              <a:solidFill>
                <a:schemeClr val="dk1"/>
              </a:solidFill>
              <a:latin typeface="Fira Sans Extra Condensed"/>
              <a:sym typeface="Fira Sans Extra Condensed"/>
            </a:endParaRPr>
          </a:p>
        </p:txBody>
      </p:sp>
      <p:cxnSp>
        <p:nvCxnSpPr>
          <p:cNvPr id="1013" name="Google Shape;1013;p27"/>
          <p:cNvCxnSpPr>
            <a:stCxn id="1006" idx="6"/>
            <a:endCxn id="1004" idx="0"/>
          </p:cNvCxnSpPr>
          <p:nvPr/>
        </p:nvCxnSpPr>
        <p:spPr>
          <a:xfrm>
            <a:off x="3074100" y="1395542"/>
            <a:ext cx="1497900" cy="810600"/>
          </a:xfrm>
          <a:prstGeom prst="bentConnector2">
            <a:avLst/>
          </a:prstGeom>
          <a:noFill/>
          <a:ln w="9525" cap="flat" cmpd="sng">
            <a:solidFill>
              <a:schemeClr val="dk2"/>
            </a:solidFill>
            <a:prstDash val="solid"/>
            <a:round/>
            <a:headEnd type="none" w="med" len="med"/>
            <a:tailEnd type="none" w="med" len="med"/>
          </a:ln>
        </p:spPr>
      </p:cxnSp>
      <p:cxnSp>
        <p:nvCxnSpPr>
          <p:cNvPr id="1014" name="Google Shape;1014;p27"/>
          <p:cNvCxnSpPr>
            <a:stCxn id="1004" idx="0"/>
            <a:endCxn id="1011" idx="2"/>
          </p:cNvCxnSpPr>
          <p:nvPr/>
        </p:nvCxnSpPr>
        <p:spPr>
          <a:xfrm rot="-5400000">
            <a:off x="4932300" y="1035315"/>
            <a:ext cx="810600" cy="1531200"/>
          </a:xfrm>
          <a:prstGeom prst="bentConnector2">
            <a:avLst/>
          </a:prstGeom>
          <a:noFill/>
          <a:ln w="9525" cap="flat" cmpd="sng">
            <a:solidFill>
              <a:schemeClr val="dk2"/>
            </a:solidFill>
            <a:prstDash val="solid"/>
            <a:round/>
            <a:headEnd type="none" w="med" len="med"/>
            <a:tailEnd type="none" w="med" len="med"/>
          </a:ln>
        </p:spPr>
      </p:cxnSp>
      <p:cxnSp>
        <p:nvCxnSpPr>
          <p:cNvPr id="1015" name="Google Shape;1015;p27"/>
          <p:cNvCxnSpPr>
            <a:stCxn id="1004" idx="2"/>
            <a:endCxn id="1008" idx="6"/>
          </p:cNvCxnSpPr>
          <p:nvPr/>
        </p:nvCxnSpPr>
        <p:spPr>
          <a:xfrm rot="5400000">
            <a:off x="3417750" y="2899065"/>
            <a:ext cx="810600" cy="1497900"/>
          </a:xfrm>
          <a:prstGeom prst="bentConnector2">
            <a:avLst/>
          </a:prstGeom>
          <a:noFill/>
          <a:ln w="9525" cap="flat" cmpd="sng">
            <a:solidFill>
              <a:schemeClr val="dk2"/>
            </a:solidFill>
            <a:prstDash val="solid"/>
            <a:round/>
            <a:headEnd type="none" w="med" len="med"/>
            <a:tailEnd type="none" w="med" len="med"/>
          </a:ln>
        </p:spPr>
      </p:cxnSp>
      <p:cxnSp>
        <p:nvCxnSpPr>
          <p:cNvPr id="1016" name="Google Shape;1016;p27"/>
          <p:cNvCxnSpPr>
            <a:stCxn id="1004" idx="2"/>
            <a:endCxn id="1009" idx="2"/>
          </p:cNvCxnSpPr>
          <p:nvPr/>
        </p:nvCxnSpPr>
        <p:spPr>
          <a:xfrm rot="-5400000" flipH="1">
            <a:off x="4932300" y="2882415"/>
            <a:ext cx="810600" cy="1531200"/>
          </a:xfrm>
          <a:prstGeom prst="bentConnector2">
            <a:avLst/>
          </a:prstGeom>
          <a:noFill/>
          <a:ln w="9525" cap="flat" cmpd="sng">
            <a:solidFill>
              <a:schemeClr val="dk2"/>
            </a:solidFill>
            <a:prstDash val="solid"/>
            <a:round/>
            <a:headEnd type="none" w="med" len="med"/>
            <a:tailEnd type="none" w="med" len="med"/>
          </a:ln>
        </p:spPr>
      </p:cxnSp>
      <p:grpSp>
        <p:nvGrpSpPr>
          <p:cNvPr id="1026" name="Google Shape;1026;p27"/>
          <p:cNvGrpSpPr/>
          <p:nvPr/>
        </p:nvGrpSpPr>
        <p:grpSpPr>
          <a:xfrm>
            <a:off x="2641256" y="1212311"/>
            <a:ext cx="194135" cy="366593"/>
            <a:chOff x="1710518" y="2876101"/>
            <a:chExt cx="194135" cy="366593"/>
          </a:xfrm>
        </p:grpSpPr>
        <p:sp>
          <p:nvSpPr>
            <p:cNvPr id="1027" name="Google Shape;1027;p27"/>
            <p:cNvSpPr/>
            <p:nvPr/>
          </p:nvSpPr>
          <p:spPr>
            <a:xfrm>
              <a:off x="1736613" y="2941337"/>
              <a:ext cx="142733" cy="66915"/>
            </a:xfrm>
            <a:custGeom>
              <a:avLst/>
              <a:gdLst/>
              <a:ahLst/>
              <a:cxnLst/>
              <a:rect l="l" t="t" r="r" b="b"/>
              <a:pathLst>
                <a:path w="4168" h="1954" extrusionOk="0">
                  <a:moveTo>
                    <a:pt x="2105" y="665"/>
                  </a:moveTo>
                  <a:cubicBezTo>
                    <a:pt x="2260" y="665"/>
                    <a:pt x="2404" y="821"/>
                    <a:pt x="2382" y="977"/>
                  </a:cubicBezTo>
                  <a:cubicBezTo>
                    <a:pt x="2382" y="1167"/>
                    <a:pt x="2234" y="1294"/>
                    <a:pt x="2071" y="1294"/>
                  </a:cubicBezTo>
                  <a:cubicBezTo>
                    <a:pt x="1990" y="1294"/>
                    <a:pt x="1906" y="1263"/>
                    <a:pt x="1834" y="1191"/>
                  </a:cubicBezTo>
                  <a:cubicBezTo>
                    <a:pt x="1644" y="1001"/>
                    <a:pt x="1787" y="667"/>
                    <a:pt x="2072" y="667"/>
                  </a:cubicBezTo>
                  <a:cubicBezTo>
                    <a:pt x="2083" y="666"/>
                    <a:pt x="2094" y="665"/>
                    <a:pt x="2105" y="665"/>
                  </a:cubicBezTo>
                  <a:close/>
                  <a:moveTo>
                    <a:pt x="2072" y="1"/>
                  </a:moveTo>
                  <a:cubicBezTo>
                    <a:pt x="1191" y="1"/>
                    <a:pt x="381" y="620"/>
                    <a:pt x="0" y="977"/>
                  </a:cubicBezTo>
                  <a:cubicBezTo>
                    <a:pt x="381" y="1334"/>
                    <a:pt x="1191" y="1953"/>
                    <a:pt x="2072" y="1953"/>
                  </a:cubicBezTo>
                  <a:cubicBezTo>
                    <a:pt x="2668" y="1930"/>
                    <a:pt x="3215" y="1715"/>
                    <a:pt x="3692" y="1358"/>
                  </a:cubicBezTo>
                  <a:cubicBezTo>
                    <a:pt x="3858" y="1239"/>
                    <a:pt x="4001" y="1120"/>
                    <a:pt x="4168" y="977"/>
                  </a:cubicBezTo>
                  <a:cubicBezTo>
                    <a:pt x="3763" y="620"/>
                    <a:pt x="2977" y="1"/>
                    <a:pt x="20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27"/>
            <p:cNvSpPr/>
            <p:nvPr/>
          </p:nvSpPr>
          <p:spPr>
            <a:xfrm>
              <a:off x="1710518" y="2983733"/>
              <a:ext cx="194135" cy="258961"/>
            </a:xfrm>
            <a:custGeom>
              <a:avLst/>
              <a:gdLst/>
              <a:ahLst/>
              <a:cxnLst/>
              <a:rect l="l" t="t" r="r" b="b"/>
              <a:pathLst>
                <a:path w="5669" h="7562" extrusionOk="0">
                  <a:moveTo>
                    <a:pt x="0" y="1"/>
                  </a:moveTo>
                  <a:lnTo>
                    <a:pt x="0" y="1"/>
                  </a:lnTo>
                  <a:cubicBezTo>
                    <a:pt x="143" y="1335"/>
                    <a:pt x="1191" y="2406"/>
                    <a:pt x="2525" y="2573"/>
                  </a:cubicBezTo>
                  <a:lnTo>
                    <a:pt x="2525" y="3216"/>
                  </a:lnTo>
                  <a:lnTo>
                    <a:pt x="2215" y="3216"/>
                  </a:lnTo>
                  <a:cubicBezTo>
                    <a:pt x="2025" y="3216"/>
                    <a:pt x="1882" y="3359"/>
                    <a:pt x="1882" y="3525"/>
                  </a:cubicBezTo>
                  <a:lnTo>
                    <a:pt x="1882" y="6669"/>
                  </a:lnTo>
                  <a:cubicBezTo>
                    <a:pt x="1917" y="7264"/>
                    <a:pt x="2376" y="7562"/>
                    <a:pt x="2834" y="7562"/>
                  </a:cubicBezTo>
                  <a:cubicBezTo>
                    <a:pt x="3293" y="7562"/>
                    <a:pt x="3751" y="7264"/>
                    <a:pt x="3787" y="6669"/>
                  </a:cubicBezTo>
                  <a:lnTo>
                    <a:pt x="3787" y="3525"/>
                  </a:lnTo>
                  <a:cubicBezTo>
                    <a:pt x="3787" y="3359"/>
                    <a:pt x="3644" y="3216"/>
                    <a:pt x="3477" y="3216"/>
                  </a:cubicBezTo>
                  <a:lnTo>
                    <a:pt x="3168" y="3216"/>
                  </a:lnTo>
                  <a:lnTo>
                    <a:pt x="3168" y="2573"/>
                  </a:lnTo>
                  <a:cubicBezTo>
                    <a:pt x="4501" y="2406"/>
                    <a:pt x="5549" y="1335"/>
                    <a:pt x="5668" y="1"/>
                  </a:cubicBezTo>
                  <a:lnTo>
                    <a:pt x="5668" y="1"/>
                  </a:lnTo>
                  <a:cubicBezTo>
                    <a:pt x="5478" y="239"/>
                    <a:pt x="4311" y="1430"/>
                    <a:pt x="2858" y="1430"/>
                  </a:cubicBezTo>
                  <a:lnTo>
                    <a:pt x="2834" y="1430"/>
                  </a:lnTo>
                  <a:cubicBezTo>
                    <a:pt x="1382" y="1430"/>
                    <a:pt x="215" y="239"/>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7"/>
            <p:cNvSpPr/>
            <p:nvPr/>
          </p:nvSpPr>
          <p:spPr>
            <a:xfrm>
              <a:off x="1710518" y="2876101"/>
              <a:ext cx="194135" cy="89722"/>
            </a:xfrm>
            <a:custGeom>
              <a:avLst/>
              <a:gdLst/>
              <a:ahLst/>
              <a:cxnLst/>
              <a:rect l="l" t="t" r="r" b="b"/>
              <a:pathLst>
                <a:path w="5669" h="2620" extrusionOk="0">
                  <a:moveTo>
                    <a:pt x="2834" y="0"/>
                  </a:moveTo>
                  <a:cubicBezTo>
                    <a:pt x="1358" y="0"/>
                    <a:pt x="119" y="1143"/>
                    <a:pt x="0" y="2620"/>
                  </a:cubicBezTo>
                  <a:cubicBezTo>
                    <a:pt x="215" y="2382"/>
                    <a:pt x="1382" y="1191"/>
                    <a:pt x="2834" y="1191"/>
                  </a:cubicBezTo>
                  <a:cubicBezTo>
                    <a:pt x="4287" y="1191"/>
                    <a:pt x="5454" y="2382"/>
                    <a:pt x="5668" y="2620"/>
                  </a:cubicBezTo>
                  <a:cubicBezTo>
                    <a:pt x="5549" y="1143"/>
                    <a:pt x="4311" y="0"/>
                    <a:pt x="28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0" name="Google Shape;1030;p27"/>
          <p:cNvGrpSpPr/>
          <p:nvPr/>
        </p:nvGrpSpPr>
        <p:grpSpPr>
          <a:xfrm>
            <a:off x="2554658" y="3869917"/>
            <a:ext cx="367302" cy="365289"/>
            <a:chOff x="828892" y="4635792"/>
            <a:chExt cx="367302" cy="365289"/>
          </a:xfrm>
        </p:grpSpPr>
        <p:sp>
          <p:nvSpPr>
            <p:cNvPr id="1031" name="Google Shape;1031;p27"/>
            <p:cNvSpPr/>
            <p:nvPr/>
          </p:nvSpPr>
          <p:spPr>
            <a:xfrm>
              <a:off x="881368" y="4654626"/>
              <a:ext cx="69775" cy="101746"/>
            </a:xfrm>
            <a:custGeom>
              <a:avLst/>
              <a:gdLst/>
              <a:ahLst/>
              <a:cxnLst/>
              <a:rect l="l" t="t" r="r" b="b"/>
              <a:pathLst>
                <a:path w="2045" h="2982" extrusionOk="0">
                  <a:moveTo>
                    <a:pt x="423" y="0"/>
                  </a:moveTo>
                  <a:cubicBezTo>
                    <a:pt x="208" y="0"/>
                    <a:pt x="1" y="220"/>
                    <a:pt x="129" y="461"/>
                  </a:cubicBezTo>
                  <a:lnTo>
                    <a:pt x="1344" y="2819"/>
                  </a:lnTo>
                  <a:cubicBezTo>
                    <a:pt x="1413" y="2934"/>
                    <a:pt x="1516" y="2982"/>
                    <a:pt x="1619" y="2982"/>
                  </a:cubicBezTo>
                  <a:cubicBezTo>
                    <a:pt x="1834" y="2982"/>
                    <a:pt x="2044" y="2767"/>
                    <a:pt x="1915" y="2509"/>
                  </a:cubicBezTo>
                  <a:lnTo>
                    <a:pt x="701" y="175"/>
                  </a:lnTo>
                  <a:cubicBezTo>
                    <a:pt x="631" y="51"/>
                    <a:pt x="526" y="0"/>
                    <a:pt x="4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7"/>
            <p:cNvSpPr/>
            <p:nvPr/>
          </p:nvSpPr>
          <p:spPr>
            <a:xfrm>
              <a:off x="1001948" y="4635792"/>
              <a:ext cx="21154" cy="111777"/>
            </a:xfrm>
            <a:custGeom>
              <a:avLst/>
              <a:gdLst/>
              <a:ahLst/>
              <a:cxnLst/>
              <a:rect l="l" t="t" r="r" b="b"/>
              <a:pathLst>
                <a:path w="620" h="3276" extrusionOk="0">
                  <a:moveTo>
                    <a:pt x="310" y="1"/>
                  </a:moveTo>
                  <a:cubicBezTo>
                    <a:pt x="155" y="1"/>
                    <a:pt x="1" y="108"/>
                    <a:pt x="1" y="322"/>
                  </a:cubicBezTo>
                  <a:lnTo>
                    <a:pt x="1" y="2942"/>
                  </a:lnTo>
                  <a:cubicBezTo>
                    <a:pt x="1" y="3109"/>
                    <a:pt x="120" y="3251"/>
                    <a:pt x="286" y="3275"/>
                  </a:cubicBezTo>
                  <a:lnTo>
                    <a:pt x="310" y="3275"/>
                  </a:lnTo>
                  <a:cubicBezTo>
                    <a:pt x="477" y="3275"/>
                    <a:pt x="620" y="3132"/>
                    <a:pt x="620" y="2942"/>
                  </a:cubicBezTo>
                  <a:lnTo>
                    <a:pt x="620" y="322"/>
                  </a:lnTo>
                  <a:cubicBezTo>
                    <a:pt x="620" y="108"/>
                    <a:pt x="465" y="1"/>
                    <a:pt x="3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7"/>
            <p:cNvSpPr/>
            <p:nvPr/>
          </p:nvSpPr>
          <p:spPr>
            <a:xfrm>
              <a:off x="1076705" y="4654626"/>
              <a:ext cx="67523" cy="101712"/>
            </a:xfrm>
            <a:custGeom>
              <a:avLst/>
              <a:gdLst/>
              <a:ahLst/>
              <a:cxnLst/>
              <a:rect l="l" t="t" r="r" b="b"/>
              <a:pathLst>
                <a:path w="1979" h="2981" extrusionOk="0">
                  <a:moveTo>
                    <a:pt x="1553" y="0"/>
                  </a:moveTo>
                  <a:cubicBezTo>
                    <a:pt x="1451" y="0"/>
                    <a:pt x="1348" y="51"/>
                    <a:pt x="1287" y="175"/>
                  </a:cubicBezTo>
                  <a:lnTo>
                    <a:pt x="72" y="2509"/>
                  </a:lnTo>
                  <a:cubicBezTo>
                    <a:pt x="1" y="2676"/>
                    <a:pt x="48" y="2842"/>
                    <a:pt x="191" y="2938"/>
                  </a:cubicBezTo>
                  <a:lnTo>
                    <a:pt x="215" y="2938"/>
                  </a:lnTo>
                  <a:cubicBezTo>
                    <a:pt x="260" y="2968"/>
                    <a:pt x="309" y="2981"/>
                    <a:pt x="358" y="2981"/>
                  </a:cubicBezTo>
                  <a:cubicBezTo>
                    <a:pt x="466" y="2981"/>
                    <a:pt x="571" y="2917"/>
                    <a:pt x="620" y="2819"/>
                  </a:cubicBezTo>
                  <a:lnTo>
                    <a:pt x="1834" y="461"/>
                  </a:lnTo>
                  <a:cubicBezTo>
                    <a:pt x="1979" y="220"/>
                    <a:pt x="1766" y="0"/>
                    <a:pt x="15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7"/>
            <p:cNvSpPr/>
            <p:nvPr/>
          </p:nvSpPr>
          <p:spPr>
            <a:xfrm>
              <a:off x="957251" y="4843412"/>
              <a:ext cx="96730" cy="82639"/>
            </a:xfrm>
            <a:custGeom>
              <a:avLst/>
              <a:gdLst/>
              <a:ahLst/>
              <a:cxnLst/>
              <a:rect l="l" t="t" r="r" b="b"/>
              <a:pathLst>
                <a:path w="2835" h="2422" extrusionOk="0">
                  <a:moveTo>
                    <a:pt x="1620" y="0"/>
                  </a:moveTo>
                  <a:cubicBezTo>
                    <a:pt x="549" y="0"/>
                    <a:pt x="1" y="1310"/>
                    <a:pt x="763" y="2072"/>
                  </a:cubicBezTo>
                  <a:cubicBezTo>
                    <a:pt x="1012" y="2314"/>
                    <a:pt x="1312" y="2421"/>
                    <a:pt x="1604" y="2421"/>
                  </a:cubicBezTo>
                  <a:cubicBezTo>
                    <a:pt x="2235" y="2421"/>
                    <a:pt x="2835" y="1923"/>
                    <a:pt x="2835" y="1191"/>
                  </a:cubicBezTo>
                  <a:cubicBezTo>
                    <a:pt x="2811" y="524"/>
                    <a:pt x="2287" y="0"/>
                    <a:pt x="16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7"/>
            <p:cNvSpPr/>
            <p:nvPr/>
          </p:nvSpPr>
          <p:spPr>
            <a:xfrm>
              <a:off x="828892" y="4767836"/>
              <a:ext cx="367302" cy="233244"/>
            </a:xfrm>
            <a:custGeom>
              <a:avLst/>
              <a:gdLst/>
              <a:ahLst/>
              <a:cxnLst/>
              <a:rect l="l" t="t" r="r" b="b"/>
              <a:pathLst>
                <a:path w="10765" h="6836" extrusionOk="0">
                  <a:moveTo>
                    <a:pt x="5361" y="1575"/>
                  </a:moveTo>
                  <a:cubicBezTo>
                    <a:pt x="6309" y="1575"/>
                    <a:pt x="7216" y="2317"/>
                    <a:pt x="7216" y="3430"/>
                  </a:cubicBezTo>
                  <a:cubicBezTo>
                    <a:pt x="7216" y="4430"/>
                    <a:pt x="6406" y="5264"/>
                    <a:pt x="5382" y="5264"/>
                  </a:cubicBezTo>
                  <a:cubicBezTo>
                    <a:pt x="3739" y="5264"/>
                    <a:pt x="2929" y="3287"/>
                    <a:pt x="4072" y="2120"/>
                  </a:cubicBezTo>
                  <a:cubicBezTo>
                    <a:pt x="4449" y="1744"/>
                    <a:pt x="4910" y="1575"/>
                    <a:pt x="5361" y="1575"/>
                  </a:cubicBezTo>
                  <a:close/>
                  <a:moveTo>
                    <a:pt x="5382" y="1"/>
                  </a:moveTo>
                  <a:cubicBezTo>
                    <a:pt x="4001" y="1"/>
                    <a:pt x="2691" y="739"/>
                    <a:pt x="1619" y="1644"/>
                  </a:cubicBezTo>
                  <a:cubicBezTo>
                    <a:pt x="1048" y="2120"/>
                    <a:pt x="524" y="2644"/>
                    <a:pt x="95" y="3239"/>
                  </a:cubicBezTo>
                  <a:cubicBezTo>
                    <a:pt x="0" y="3335"/>
                    <a:pt x="0" y="3501"/>
                    <a:pt x="95" y="3597"/>
                  </a:cubicBezTo>
                  <a:cubicBezTo>
                    <a:pt x="524" y="4192"/>
                    <a:pt x="1048" y="4740"/>
                    <a:pt x="1619" y="5216"/>
                  </a:cubicBezTo>
                  <a:cubicBezTo>
                    <a:pt x="2691" y="6097"/>
                    <a:pt x="4001" y="6835"/>
                    <a:pt x="5382" y="6835"/>
                  </a:cubicBezTo>
                  <a:cubicBezTo>
                    <a:pt x="6763" y="6835"/>
                    <a:pt x="8097" y="6121"/>
                    <a:pt x="9145" y="5216"/>
                  </a:cubicBezTo>
                  <a:cubicBezTo>
                    <a:pt x="9716" y="4740"/>
                    <a:pt x="10240" y="4192"/>
                    <a:pt x="10693" y="3597"/>
                  </a:cubicBezTo>
                  <a:cubicBezTo>
                    <a:pt x="10764" y="3501"/>
                    <a:pt x="10764" y="3335"/>
                    <a:pt x="10693" y="3239"/>
                  </a:cubicBezTo>
                  <a:cubicBezTo>
                    <a:pt x="10240" y="2644"/>
                    <a:pt x="9716" y="2120"/>
                    <a:pt x="9145" y="1644"/>
                  </a:cubicBezTo>
                  <a:cubicBezTo>
                    <a:pt x="8097" y="739"/>
                    <a:pt x="6763" y="1"/>
                    <a:pt x="53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27"/>
          <p:cNvGrpSpPr/>
          <p:nvPr/>
        </p:nvGrpSpPr>
        <p:grpSpPr>
          <a:xfrm>
            <a:off x="6219843" y="3904481"/>
            <a:ext cx="366770" cy="297474"/>
            <a:chOff x="831093" y="2905635"/>
            <a:chExt cx="366770" cy="297474"/>
          </a:xfrm>
        </p:grpSpPr>
        <p:sp>
          <p:nvSpPr>
            <p:cNvPr id="1040" name="Google Shape;1040;p27"/>
            <p:cNvSpPr/>
            <p:nvPr/>
          </p:nvSpPr>
          <p:spPr>
            <a:xfrm>
              <a:off x="831093" y="3009116"/>
              <a:ext cx="286079" cy="193993"/>
            </a:xfrm>
            <a:custGeom>
              <a:avLst/>
              <a:gdLst/>
              <a:ahLst/>
              <a:cxnLst/>
              <a:rect l="l" t="t" r="r" b="b"/>
              <a:pathLst>
                <a:path w="8360" h="5669" extrusionOk="0">
                  <a:moveTo>
                    <a:pt x="4177" y="1339"/>
                  </a:moveTo>
                  <a:cubicBezTo>
                    <a:pt x="4942" y="1339"/>
                    <a:pt x="5669" y="1935"/>
                    <a:pt x="5669" y="2835"/>
                  </a:cubicBezTo>
                  <a:cubicBezTo>
                    <a:pt x="5669" y="3644"/>
                    <a:pt x="5002" y="4311"/>
                    <a:pt x="4192" y="4311"/>
                  </a:cubicBezTo>
                  <a:cubicBezTo>
                    <a:pt x="2859" y="4311"/>
                    <a:pt x="2192" y="2716"/>
                    <a:pt x="3121" y="1787"/>
                  </a:cubicBezTo>
                  <a:cubicBezTo>
                    <a:pt x="3430" y="1477"/>
                    <a:pt x="3808" y="1339"/>
                    <a:pt x="4177" y="1339"/>
                  </a:cubicBezTo>
                  <a:close/>
                  <a:moveTo>
                    <a:pt x="1346" y="1305"/>
                  </a:moveTo>
                  <a:cubicBezTo>
                    <a:pt x="1519" y="1305"/>
                    <a:pt x="1692" y="1418"/>
                    <a:pt x="1668" y="1644"/>
                  </a:cubicBezTo>
                  <a:lnTo>
                    <a:pt x="1668" y="4002"/>
                  </a:lnTo>
                  <a:cubicBezTo>
                    <a:pt x="1692" y="4228"/>
                    <a:pt x="1519" y="4341"/>
                    <a:pt x="1346" y="4341"/>
                  </a:cubicBezTo>
                  <a:cubicBezTo>
                    <a:pt x="1174" y="4341"/>
                    <a:pt x="1001" y="4228"/>
                    <a:pt x="1025" y="4002"/>
                  </a:cubicBezTo>
                  <a:lnTo>
                    <a:pt x="1025" y="1644"/>
                  </a:lnTo>
                  <a:cubicBezTo>
                    <a:pt x="1001" y="1418"/>
                    <a:pt x="1174" y="1305"/>
                    <a:pt x="1346" y="1305"/>
                  </a:cubicBezTo>
                  <a:close/>
                  <a:moveTo>
                    <a:pt x="1293" y="0"/>
                  </a:moveTo>
                  <a:cubicBezTo>
                    <a:pt x="574" y="0"/>
                    <a:pt x="1" y="610"/>
                    <a:pt x="1" y="1334"/>
                  </a:cubicBezTo>
                  <a:lnTo>
                    <a:pt x="1" y="4359"/>
                  </a:lnTo>
                  <a:cubicBezTo>
                    <a:pt x="1" y="5073"/>
                    <a:pt x="596" y="5669"/>
                    <a:pt x="1335" y="5669"/>
                  </a:cubicBezTo>
                  <a:lnTo>
                    <a:pt x="7050" y="5669"/>
                  </a:lnTo>
                  <a:cubicBezTo>
                    <a:pt x="7764" y="5669"/>
                    <a:pt x="8360" y="5073"/>
                    <a:pt x="8360" y="4359"/>
                  </a:cubicBezTo>
                  <a:lnTo>
                    <a:pt x="8360" y="2620"/>
                  </a:lnTo>
                  <a:lnTo>
                    <a:pt x="8217" y="2620"/>
                  </a:lnTo>
                  <a:cubicBezTo>
                    <a:pt x="7907" y="2620"/>
                    <a:pt x="7622" y="2573"/>
                    <a:pt x="7336" y="2501"/>
                  </a:cubicBezTo>
                  <a:lnTo>
                    <a:pt x="7336" y="4002"/>
                  </a:lnTo>
                  <a:cubicBezTo>
                    <a:pt x="7360" y="4228"/>
                    <a:pt x="7193" y="4341"/>
                    <a:pt x="7023" y="4341"/>
                  </a:cubicBezTo>
                  <a:cubicBezTo>
                    <a:pt x="6854" y="4341"/>
                    <a:pt x="6681" y="4228"/>
                    <a:pt x="6693" y="4002"/>
                  </a:cubicBezTo>
                  <a:lnTo>
                    <a:pt x="6693" y="2239"/>
                  </a:lnTo>
                  <a:cubicBezTo>
                    <a:pt x="5859" y="1763"/>
                    <a:pt x="5264" y="930"/>
                    <a:pt x="5097" y="1"/>
                  </a:cubicBezTo>
                  <a:lnTo>
                    <a:pt x="1335" y="1"/>
                  </a:lnTo>
                  <a:cubicBezTo>
                    <a:pt x="1321" y="0"/>
                    <a:pt x="1307" y="0"/>
                    <a:pt x="12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7"/>
            <p:cNvSpPr/>
            <p:nvPr/>
          </p:nvSpPr>
          <p:spPr>
            <a:xfrm>
              <a:off x="996547" y="2905635"/>
              <a:ext cx="201316" cy="171819"/>
            </a:xfrm>
            <a:custGeom>
              <a:avLst/>
              <a:gdLst/>
              <a:ahLst/>
              <a:cxnLst/>
              <a:rect l="l" t="t" r="r" b="b"/>
              <a:pathLst>
                <a:path w="5883" h="5021" extrusionOk="0">
                  <a:moveTo>
                    <a:pt x="3370" y="882"/>
                  </a:moveTo>
                  <a:cubicBezTo>
                    <a:pt x="3519" y="882"/>
                    <a:pt x="3668" y="977"/>
                    <a:pt x="3692" y="1167"/>
                  </a:cubicBezTo>
                  <a:lnTo>
                    <a:pt x="3692" y="2191"/>
                  </a:lnTo>
                  <a:lnTo>
                    <a:pt x="4406" y="2191"/>
                  </a:lnTo>
                  <a:cubicBezTo>
                    <a:pt x="4421" y="2190"/>
                    <a:pt x="4435" y="2189"/>
                    <a:pt x="4448" y="2189"/>
                  </a:cubicBezTo>
                  <a:cubicBezTo>
                    <a:pt x="4844" y="2189"/>
                    <a:pt x="4844" y="2813"/>
                    <a:pt x="4448" y="2813"/>
                  </a:cubicBezTo>
                  <a:cubicBezTo>
                    <a:pt x="4435" y="2813"/>
                    <a:pt x="4421" y="2812"/>
                    <a:pt x="4406" y="2811"/>
                  </a:cubicBezTo>
                  <a:lnTo>
                    <a:pt x="3382" y="2811"/>
                  </a:lnTo>
                  <a:cubicBezTo>
                    <a:pt x="3191" y="2811"/>
                    <a:pt x="3049" y="2668"/>
                    <a:pt x="3049" y="2501"/>
                  </a:cubicBezTo>
                  <a:lnTo>
                    <a:pt x="3049" y="1167"/>
                  </a:lnTo>
                  <a:cubicBezTo>
                    <a:pt x="3072" y="977"/>
                    <a:pt x="3221" y="882"/>
                    <a:pt x="3370" y="882"/>
                  </a:cubicBezTo>
                  <a:close/>
                  <a:moveTo>
                    <a:pt x="3382" y="0"/>
                  </a:moveTo>
                  <a:cubicBezTo>
                    <a:pt x="1120" y="0"/>
                    <a:pt x="0" y="2691"/>
                    <a:pt x="1596" y="4287"/>
                  </a:cubicBezTo>
                  <a:cubicBezTo>
                    <a:pt x="2103" y="4794"/>
                    <a:pt x="2728" y="5021"/>
                    <a:pt x="3343" y="5021"/>
                  </a:cubicBezTo>
                  <a:cubicBezTo>
                    <a:pt x="4636" y="5021"/>
                    <a:pt x="5882" y="4018"/>
                    <a:pt x="5882" y="2501"/>
                  </a:cubicBezTo>
                  <a:cubicBezTo>
                    <a:pt x="5882" y="1120"/>
                    <a:pt x="4763" y="0"/>
                    <a:pt x="33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7"/>
            <p:cNvSpPr/>
            <p:nvPr/>
          </p:nvSpPr>
          <p:spPr>
            <a:xfrm>
              <a:off x="935430" y="3076769"/>
              <a:ext cx="69295" cy="58858"/>
            </a:xfrm>
            <a:custGeom>
              <a:avLst/>
              <a:gdLst/>
              <a:ahLst/>
              <a:cxnLst/>
              <a:rect l="l" t="t" r="r" b="b"/>
              <a:pathLst>
                <a:path w="2025" h="1720" extrusionOk="0">
                  <a:moveTo>
                    <a:pt x="1143" y="0"/>
                  </a:moveTo>
                  <a:cubicBezTo>
                    <a:pt x="381" y="0"/>
                    <a:pt x="0" y="929"/>
                    <a:pt x="548" y="1477"/>
                  </a:cubicBezTo>
                  <a:cubicBezTo>
                    <a:pt x="715" y="1644"/>
                    <a:pt x="926" y="1719"/>
                    <a:pt x="1135" y="1719"/>
                  </a:cubicBezTo>
                  <a:cubicBezTo>
                    <a:pt x="1583" y="1719"/>
                    <a:pt x="2024" y="1377"/>
                    <a:pt x="2024" y="858"/>
                  </a:cubicBezTo>
                  <a:cubicBezTo>
                    <a:pt x="2024" y="382"/>
                    <a:pt x="1620" y="0"/>
                    <a:pt x="11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1043;p27"/>
          <p:cNvGrpSpPr/>
          <p:nvPr/>
        </p:nvGrpSpPr>
        <p:grpSpPr>
          <a:xfrm>
            <a:off x="6265893" y="1212234"/>
            <a:ext cx="274684" cy="366770"/>
            <a:chOff x="876743" y="4633266"/>
            <a:chExt cx="274684" cy="366770"/>
          </a:xfrm>
        </p:grpSpPr>
        <p:sp>
          <p:nvSpPr>
            <p:cNvPr id="1044" name="Google Shape;1044;p27"/>
            <p:cNvSpPr/>
            <p:nvPr/>
          </p:nvSpPr>
          <p:spPr>
            <a:xfrm>
              <a:off x="985117" y="4826574"/>
              <a:ext cx="68508" cy="59372"/>
            </a:xfrm>
            <a:custGeom>
              <a:avLst/>
              <a:gdLst/>
              <a:ahLst/>
              <a:cxnLst/>
              <a:rect l="l" t="t" r="r" b="b"/>
              <a:pathLst>
                <a:path w="2002" h="1735" extrusionOk="0">
                  <a:moveTo>
                    <a:pt x="868" y="0"/>
                  </a:moveTo>
                  <a:cubicBezTo>
                    <a:pt x="425" y="0"/>
                    <a:pt x="1" y="346"/>
                    <a:pt x="1" y="877"/>
                  </a:cubicBezTo>
                  <a:cubicBezTo>
                    <a:pt x="1" y="1353"/>
                    <a:pt x="382" y="1734"/>
                    <a:pt x="858" y="1734"/>
                  </a:cubicBezTo>
                  <a:cubicBezTo>
                    <a:pt x="1620" y="1734"/>
                    <a:pt x="2001" y="806"/>
                    <a:pt x="1477" y="258"/>
                  </a:cubicBezTo>
                  <a:cubicBezTo>
                    <a:pt x="1300" y="80"/>
                    <a:pt x="1082" y="0"/>
                    <a:pt x="86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7"/>
            <p:cNvSpPr/>
            <p:nvPr/>
          </p:nvSpPr>
          <p:spPr>
            <a:xfrm>
              <a:off x="979437" y="4907094"/>
              <a:ext cx="70117" cy="44862"/>
            </a:xfrm>
            <a:custGeom>
              <a:avLst/>
              <a:gdLst/>
              <a:ahLst/>
              <a:cxnLst/>
              <a:rect l="l" t="t" r="r" b="b"/>
              <a:pathLst>
                <a:path w="2049" h="1311" extrusionOk="0">
                  <a:moveTo>
                    <a:pt x="1024" y="1"/>
                  </a:moveTo>
                  <a:cubicBezTo>
                    <a:pt x="453" y="1"/>
                    <a:pt x="0" y="477"/>
                    <a:pt x="0" y="1048"/>
                  </a:cubicBezTo>
                  <a:lnTo>
                    <a:pt x="0" y="1310"/>
                  </a:lnTo>
                  <a:lnTo>
                    <a:pt x="2048" y="1310"/>
                  </a:lnTo>
                  <a:lnTo>
                    <a:pt x="2048" y="1048"/>
                  </a:lnTo>
                  <a:cubicBezTo>
                    <a:pt x="2048" y="477"/>
                    <a:pt x="1596" y="1"/>
                    <a:pt x="10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7"/>
            <p:cNvSpPr/>
            <p:nvPr/>
          </p:nvSpPr>
          <p:spPr>
            <a:xfrm>
              <a:off x="876743" y="4725146"/>
              <a:ext cx="274684" cy="274889"/>
            </a:xfrm>
            <a:custGeom>
              <a:avLst/>
              <a:gdLst/>
              <a:ahLst/>
              <a:cxnLst/>
              <a:rect l="l" t="t" r="r" b="b"/>
              <a:pathLst>
                <a:path w="8027" h="8033" extrusionOk="0">
                  <a:moveTo>
                    <a:pt x="4025" y="698"/>
                  </a:moveTo>
                  <a:lnTo>
                    <a:pt x="5002" y="1364"/>
                  </a:lnTo>
                  <a:lnTo>
                    <a:pt x="3049" y="1364"/>
                  </a:lnTo>
                  <a:lnTo>
                    <a:pt x="4025" y="698"/>
                  </a:lnTo>
                  <a:close/>
                  <a:moveTo>
                    <a:pt x="4049" y="2341"/>
                  </a:moveTo>
                  <a:cubicBezTo>
                    <a:pt x="5454" y="2341"/>
                    <a:pt x="6073" y="4103"/>
                    <a:pt x="5002" y="4984"/>
                  </a:cubicBezTo>
                  <a:cubicBezTo>
                    <a:pt x="5454" y="5294"/>
                    <a:pt x="5716" y="5818"/>
                    <a:pt x="5716" y="6365"/>
                  </a:cubicBezTo>
                  <a:lnTo>
                    <a:pt x="5716" y="6937"/>
                  </a:lnTo>
                  <a:lnTo>
                    <a:pt x="5692" y="6937"/>
                  </a:lnTo>
                  <a:cubicBezTo>
                    <a:pt x="5692" y="7104"/>
                    <a:pt x="5549" y="7246"/>
                    <a:pt x="5359" y="7246"/>
                  </a:cubicBezTo>
                  <a:lnTo>
                    <a:pt x="2692" y="7246"/>
                  </a:lnTo>
                  <a:cubicBezTo>
                    <a:pt x="2525" y="7246"/>
                    <a:pt x="2382" y="7104"/>
                    <a:pt x="2382" y="6937"/>
                  </a:cubicBezTo>
                  <a:lnTo>
                    <a:pt x="2382" y="6365"/>
                  </a:lnTo>
                  <a:cubicBezTo>
                    <a:pt x="2406" y="5818"/>
                    <a:pt x="2668" y="5294"/>
                    <a:pt x="3120" y="4984"/>
                  </a:cubicBezTo>
                  <a:cubicBezTo>
                    <a:pt x="2025" y="4103"/>
                    <a:pt x="2644" y="2341"/>
                    <a:pt x="4049" y="2341"/>
                  </a:cubicBezTo>
                  <a:close/>
                  <a:moveTo>
                    <a:pt x="4025" y="1"/>
                  </a:moveTo>
                  <a:cubicBezTo>
                    <a:pt x="3966" y="1"/>
                    <a:pt x="3906" y="19"/>
                    <a:pt x="3858" y="55"/>
                  </a:cubicBezTo>
                  <a:lnTo>
                    <a:pt x="1906" y="1364"/>
                  </a:lnTo>
                  <a:lnTo>
                    <a:pt x="1001" y="1364"/>
                  </a:lnTo>
                  <a:cubicBezTo>
                    <a:pt x="453" y="1364"/>
                    <a:pt x="1" y="1793"/>
                    <a:pt x="1" y="2341"/>
                  </a:cubicBezTo>
                  <a:lnTo>
                    <a:pt x="1" y="7056"/>
                  </a:lnTo>
                  <a:cubicBezTo>
                    <a:pt x="1" y="7580"/>
                    <a:pt x="453" y="8032"/>
                    <a:pt x="1001" y="8032"/>
                  </a:cubicBezTo>
                  <a:lnTo>
                    <a:pt x="7050" y="8032"/>
                  </a:lnTo>
                  <a:cubicBezTo>
                    <a:pt x="7597" y="8032"/>
                    <a:pt x="8026" y="7580"/>
                    <a:pt x="8026" y="7056"/>
                  </a:cubicBezTo>
                  <a:lnTo>
                    <a:pt x="8026" y="2341"/>
                  </a:lnTo>
                  <a:cubicBezTo>
                    <a:pt x="8026" y="1793"/>
                    <a:pt x="7597" y="1364"/>
                    <a:pt x="7050" y="1364"/>
                  </a:cubicBezTo>
                  <a:lnTo>
                    <a:pt x="6145" y="1364"/>
                  </a:lnTo>
                  <a:lnTo>
                    <a:pt x="4192" y="55"/>
                  </a:lnTo>
                  <a:cubicBezTo>
                    <a:pt x="4144" y="19"/>
                    <a:pt x="4085" y="1"/>
                    <a:pt x="40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7"/>
            <p:cNvSpPr/>
            <p:nvPr/>
          </p:nvSpPr>
          <p:spPr>
            <a:xfrm>
              <a:off x="897925" y="4633266"/>
              <a:ext cx="244536" cy="21251"/>
            </a:xfrm>
            <a:custGeom>
              <a:avLst/>
              <a:gdLst/>
              <a:ahLst/>
              <a:cxnLst/>
              <a:rect l="l" t="t" r="r" b="b"/>
              <a:pathLst>
                <a:path w="7146" h="621" extrusionOk="0">
                  <a:moveTo>
                    <a:pt x="382" y="1"/>
                  </a:moveTo>
                  <a:cubicBezTo>
                    <a:pt x="1" y="49"/>
                    <a:pt x="1" y="596"/>
                    <a:pt x="382" y="620"/>
                  </a:cubicBezTo>
                  <a:lnTo>
                    <a:pt x="6764" y="620"/>
                  </a:lnTo>
                  <a:cubicBezTo>
                    <a:pt x="7145" y="596"/>
                    <a:pt x="7145" y="49"/>
                    <a:pt x="67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7"/>
            <p:cNvSpPr/>
            <p:nvPr/>
          </p:nvSpPr>
          <p:spPr>
            <a:xfrm>
              <a:off x="932145" y="4679736"/>
              <a:ext cx="163845" cy="21216"/>
            </a:xfrm>
            <a:custGeom>
              <a:avLst/>
              <a:gdLst/>
              <a:ahLst/>
              <a:cxnLst/>
              <a:rect l="l" t="t" r="r" b="b"/>
              <a:pathLst>
                <a:path w="4788" h="620" extrusionOk="0">
                  <a:moveTo>
                    <a:pt x="382" y="0"/>
                  </a:moveTo>
                  <a:cubicBezTo>
                    <a:pt x="1" y="24"/>
                    <a:pt x="1" y="572"/>
                    <a:pt x="382" y="620"/>
                  </a:cubicBezTo>
                  <a:lnTo>
                    <a:pt x="4430" y="620"/>
                  </a:lnTo>
                  <a:cubicBezTo>
                    <a:pt x="4788" y="572"/>
                    <a:pt x="4788" y="24"/>
                    <a:pt x="443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9" name="Google Shape;1049;p27"/>
          <p:cNvGrpSpPr/>
          <p:nvPr/>
        </p:nvGrpSpPr>
        <p:grpSpPr>
          <a:xfrm>
            <a:off x="85728" y="735077"/>
            <a:ext cx="3230047" cy="844770"/>
            <a:chOff x="88053" y="923762"/>
            <a:chExt cx="3230047" cy="844770"/>
          </a:xfrm>
        </p:grpSpPr>
        <p:grpSp>
          <p:nvGrpSpPr>
            <p:cNvPr id="1050" name="Google Shape;1050;p27"/>
            <p:cNvGrpSpPr/>
            <p:nvPr/>
          </p:nvGrpSpPr>
          <p:grpSpPr>
            <a:xfrm>
              <a:off x="88053" y="929017"/>
              <a:ext cx="2942908" cy="839515"/>
              <a:chOff x="5683903" y="380725"/>
              <a:chExt cx="2942908" cy="839515"/>
            </a:xfrm>
          </p:grpSpPr>
          <p:sp>
            <p:nvSpPr>
              <p:cNvPr id="1051" name="Google Shape;1051;p27"/>
              <p:cNvSpPr txBox="1"/>
              <p:nvPr/>
            </p:nvSpPr>
            <p:spPr>
              <a:xfrm>
                <a:off x="6645611" y="380725"/>
                <a:ext cx="1981200" cy="331800"/>
              </a:xfrm>
              <a:prstGeom prst="rect">
                <a:avLst/>
              </a:prstGeom>
              <a:noFill/>
              <a:ln>
                <a:noFill/>
              </a:ln>
            </p:spPr>
            <p:txBody>
              <a:bodyPr spcFirstLastPara="1" wrap="square" lIns="91425" tIns="91425" rIns="91425" bIns="91425" anchor="ctr" anchorCtr="0">
                <a:noAutofit/>
              </a:bodyPr>
              <a:lstStyle/>
              <a:p>
                <a:pPr>
                  <a:lnSpc>
                    <a:spcPts val="2300"/>
                  </a:lnSpc>
                </a:pPr>
                <a:r>
                  <a:rPr lang="en-US" sz="1600" b="1" dirty="0">
                    <a:latin typeface="Fira Sans Extra Condensed"/>
                  </a:rPr>
                  <a:t>Apports du </a:t>
                </a:r>
                <a:r>
                  <a:rPr lang="en-US" sz="1600" b="1" dirty="0" err="1">
                    <a:latin typeface="Fira Sans Extra Condensed"/>
                  </a:rPr>
                  <a:t>Projet</a:t>
                </a:r>
                <a:endParaRPr lang="en-US" sz="1600" b="1" dirty="0">
                  <a:latin typeface="Fira Sans Extra Condensed"/>
                </a:endParaRPr>
              </a:p>
            </p:txBody>
          </p:sp>
          <p:sp>
            <p:nvSpPr>
              <p:cNvPr id="1052" name="Google Shape;1052;p27"/>
              <p:cNvSpPr txBox="1"/>
              <p:nvPr/>
            </p:nvSpPr>
            <p:spPr>
              <a:xfrm>
                <a:off x="5683903" y="888440"/>
                <a:ext cx="2652563" cy="331800"/>
              </a:xfrm>
              <a:prstGeom prst="rect">
                <a:avLst/>
              </a:prstGeom>
              <a:noFill/>
              <a:ln>
                <a:noFill/>
              </a:ln>
            </p:spPr>
            <p:txBody>
              <a:bodyPr spcFirstLastPara="1" wrap="square" lIns="91425" tIns="91425" rIns="91425" bIns="91425" anchor="ctr" anchorCtr="0">
                <a:noAutofit/>
              </a:bodyPr>
              <a:lstStyle/>
              <a:p>
                <a:r>
                  <a:rPr lang="en-US" sz="1200" dirty="0" err="1">
                    <a:latin typeface="+mn-lt"/>
                    <a:ea typeface="Roboto"/>
                    <a:cs typeface="Roboto"/>
                  </a:rPr>
                  <a:t>Automatisation</a:t>
                </a:r>
                <a:r>
                  <a:rPr lang="en-US" sz="1200" dirty="0">
                    <a:latin typeface="+mn-lt"/>
                    <a:ea typeface="Roboto"/>
                    <a:cs typeface="Roboto"/>
                  </a:rPr>
                  <a:t> des </a:t>
                </a:r>
                <a:r>
                  <a:rPr lang="en-US" sz="1200" dirty="0" err="1">
                    <a:latin typeface="+mn-lt"/>
                    <a:ea typeface="Roboto"/>
                    <a:cs typeface="Roboto"/>
                  </a:rPr>
                  <a:t>tâches</a:t>
                </a:r>
                <a:r>
                  <a:rPr lang="en-US" sz="1200" dirty="0">
                    <a:latin typeface="+mn-lt"/>
                    <a:ea typeface="Roboto"/>
                    <a:cs typeface="Roboto"/>
                  </a:rPr>
                  <a:t> </a:t>
                </a:r>
                <a:r>
                  <a:rPr lang="en-US" sz="1200" dirty="0" err="1">
                    <a:latin typeface="+mn-lt"/>
                    <a:ea typeface="Roboto"/>
                    <a:cs typeface="Roboto"/>
                  </a:rPr>
                  <a:t>répétitives</a:t>
                </a:r>
                <a:r>
                  <a:rPr lang="en-US" sz="1200" dirty="0">
                    <a:latin typeface="+mn-lt"/>
                    <a:ea typeface="Roboto"/>
                    <a:cs typeface="Roboto"/>
                  </a:rPr>
                  <a:t>, </a:t>
                </a:r>
                <a:r>
                  <a:rPr lang="en-US" sz="1200" dirty="0" err="1">
                    <a:latin typeface="+mn-lt"/>
                    <a:ea typeface="Roboto"/>
                    <a:cs typeface="Roboto"/>
                  </a:rPr>
                  <a:t>objectivité</a:t>
                </a:r>
                <a:r>
                  <a:rPr lang="en-US" sz="1200" dirty="0">
                    <a:latin typeface="+mn-lt"/>
                    <a:ea typeface="Roboto"/>
                    <a:cs typeface="Roboto"/>
                  </a:rPr>
                  <a:t> accrue et </a:t>
                </a:r>
                <a:r>
                  <a:rPr lang="en-US" sz="1200" dirty="0" err="1">
                    <a:latin typeface="+mn-lt"/>
                    <a:ea typeface="Roboto"/>
                    <a:cs typeface="Roboto"/>
                  </a:rPr>
                  <a:t>meilleure</a:t>
                </a:r>
                <a:r>
                  <a:rPr lang="en-US" sz="1200" dirty="0">
                    <a:latin typeface="+mn-lt"/>
                    <a:ea typeface="Roboto"/>
                    <a:cs typeface="Roboto"/>
                  </a:rPr>
                  <a:t> </a:t>
                </a:r>
                <a:r>
                  <a:rPr lang="en-US" sz="1200" dirty="0" err="1">
                    <a:latin typeface="+mn-lt"/>
                    <a:ea typeface="Roboto"/>
                    <a:cs typeface="Roboto"/>
                  </a:rPr>
                  <a:t>explicabilité</a:t>
                </a:r>
                <a:r>
                  <a:rPr lang="en-US" sz="1200" dirty="0">
                    <a:latin typeface="+mn-lt"/>
                    <a:ea typeface="Roboto"/>
                    <a:cs typeface="Roboto"/>
                  </a:rPr>
                  <a:t> des choix.</a:t>
                </a:r>
              </a:p>
            </p:txBody>
          </p:sp>
        </p:grpSp>
        <p:sp>
          <p:nvSpPr>
            <p:cNvPr id="1053" name="Google Shape;1053;p27"/>
            <p:cNvSpPr/>
            <p:nvPr/>
          </p:nvSpPr>
          <p:spPr>
            <a:xfrm>
              <a:off x="2798500" y="923762"/>
              <a:ext cx="519600" cy="519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1" dirty="0">
                <a:solidFill>
                  <a:schemeClr val="lt1"/>
                </a:solidFill>
                <a:latin typeface="Fira Sans Extra Condensed"/>
                <a:ea typeface="Fira Sans Extra Condensed"/>
                <a:cs typeface="Fira Sans Extra Condensed"/>
                <a:sym typeface="Fira Sans Extra Condensed"/>
              </a:endParaRPr>
            </a:p>
          </p:txBody>
        </p:sp>
      </p:grpSp>
      <p:grpSp>
        <p:nvGrpSpPr>
          <p:cNvPr id="1059" name="Google Shape;1059;p27"/>
          <p:cNvGrpSpPr/>
          <p:nvPr/>
        </p:nvGrpSpPr>
        <p:grpSpPr>
          <a:xfrm>
            <a:off x="85728" y="3405074"/>
            <a:ext cx="3230047" cy="983762"/>
            <a:chOff x="88053" y="3593759"/>
            <a:chExt cx="3230047" cy="983762"/>
          </a:xfrm>
        </p:grpSpPr>
        <p:grpSp>
          <p:nvGrpSpPr>
            <p:cNvPr id="1060" name="Google Shape;1060;p27"/>
            <p:cNvGrpSpPr/>
            <p:nvPr/>
          </p:nvGrpSpPr>
          <p:grpSpPr>
            <a:xfrm>
              <a:off x="88053" y="3593759"/>
              <a:ext cx="2952097" cy="983762"/>
              <a:chOff x="5683911" y="387859"/>
              <a:chExt cx="2952097" cy="983762"/>
            </a:xfrm>
          </p:grpSpPr>
          <p:sp>
            <p:nvSpPr>
              <p:cNvPr id="1061" name="Google Shape;1061;p27"/>
              <p:cNvSpPr txBox="1"/>
              <p:nvPr/>
            </p:nvSpPr>
            <p:spPr>
              <a:xfrm>
                <a:off x="6654808" y="387859"/>
                <a:ext cx="1981200" cy="331800"/>
              </a:xfrm>
              <a:prstGeom prst="rect">
                <a:avLst/>
              </a:prstGeom>
              <a:noFill/>
              <a:ln>
                <a:noFill/>
              </a:ln>
            </p:spPr>
            <p:txBody>
              <a:bodyPr spcFirstLastPara="1" wrap="square" lIns="91425" tIns="91425" rIns="91425" bIns="91425" anchor="ctr" anchorCtr="0">
                <a:noAutofit/>
              </a:bodyPr>
              <a:lstStyle/>
              <a:p>
                <a:pPr>
                  <a:lnSpc>
                    <a:spcPts val="2300"/>
                  </a:lnSpc>
                </a:pPr>
                <a:r>
                  <a:rPr lang="en-US" sz="1600" b="1" dirty="0" err="1">
                    <a:latin typeface="Fira Sans Extra Condensed"/>
                  </a:rPr>
                  <a:t>Limites</a:t>
                </a:r>
                <a:r>
                  <a:rPr lang="en-US" sz="1600" b="1" dirty="0">
                    <a:latin typeface="Fira Sans Extra Condensed"/>
                  </a:rPr>
                  <a:t> </a:t>
                </a:r>
                <a:r>
                  <a:rPr lang="en-US" sz="1600" b="1" dirty="0" err="1">
                    <a:latin typeface="Fira Sans Extra Condensed"/>
                  </a:rPr>
                  <a:t>Actuelles</a:t>
                </a:r>
                <a:endParaRPr lang="en-US" sz="1600" b="1" dirty="0">
                  <a:latin typeface="Fira Sans Extra Condensed"/>
                </a:endParaRPr>
              </a:p>
            </p:txBody>
          </p:sp>
          <p:sp>
            <p:nvSpPr>
              <p:cNvPr id="1062" name="Google Shape;1062;p27"/>
              <p:cNvSpPr txBox="1"/>
              <p:nvPr/>
            </p:nvSpPr>
            <p:spPr>
              <a:xfrm>
                <a:off x="5683911" y="1039821"/>
                <a:ext cx="2350337" cy="331800"/>
              </a:xfrm>
              <a:prstGeom prst="rect">
                <a:avLst/>
              </a:prstGeom>
              <a:noFill/>
              <a:ln>
                <a:noFill/>
              </a:ln>
            </p:spPr>
            <p:txBody>
              <a:bodyPr spcFirstLastPara="1" wrap="square" lIns="91425" tIns="91425" rIns="91425" bIns="91425" anchor="ctr" anchorCtr="0">
                <a:noAutofit/>
              </a:bodyPr>
              <a:lstStyle/>
              <a:p>
                <a:r>
                  <a:rPr lang="en-US" sz="1200" dirty="0" err="1">
                    <a:latin typeface="+mn-lt"/>
                    <a:ea typeface="Roboto"/>
                    <a:cs typeface="Roboto"/>
                  </a:rPr>
                  <a:t>Dépendance</a:t>
                </a:r>
                <a:r>
                  <a:rPr lang="en-US" sz="1200" dirty="0">
                    <a:latin typeface="+mn-lt"/>
                    <a:ea typeface="Roboto"/>
                    <a:cs typeface="Roboto"/>
                  </a:rPr>
                  <a:t> à la </a:t>
                </a:r>
                <a:r>
                  <a:rPr lang="en-US" sz="1200" dirty="0" err="1">
                    <a:latin typeface="+mn-lt"/>
                    <a:ea typeface="Roboto"/>
                    <a:cs typeface="Roboto"/>
                  </a:rPr>
                  <a:t>qualité</a:t>
                </a:r>
                <a:r>
                  <a:rPr lang="en-US" sz="1200" dirty="0">
                    <a:latin typeface="+mn-lt"/>
                    <a:ea typeface="Roboto"/>
                    <a:cs typeface="Roboto"/>
                  </a:rPr>
                  <a:t> des données </a:t>
                </a:r>
                <a:r>
                  <a:rPr lang="en-US" sz="1200" dirty="0" err="1">
                    <a:latin typeface="+mn-lt"/>
                    <a:ea typeface="Roboto"/>
                    <a:cs typeface="Roboto"/>
                  </a:rPr>
                  <a:t>d'entraînement</a:t>
                </a:r>
                <a:r>
                  <a:rPr lang="en-US" sz="1200" dirty="0">
                    <a:latin typeface="+mn-lt"/>
                    <a:ea typeface="Roboto"/>
                    <a:cs typeface="Roboto"/>
                  </a:rPr>
                  <a:t>, </a:t>
                </a:r>
                <a:r>
                  <a:rPr lang="en-US" sz="1200" dirty="0" err="1">
                    <a:latin typeface="+mn-lt"/>
                    <a:ea typeface="Roboto"/>
                    <a:cs typeface="Roboto"/>
                  </a:rPr>
                  <a:t>nécessité</a:t>
                </a:r>
                <a:r>
                  <a:rPr lang="en-US" sz="1200" dirty="0">
                    <a:latin typeface="+mn-lt"/>
                    <a:ea typeface="Roboto"/>
                    <a:cs typeface="Roboto"/>
                  </a:rPr>
                  <a:t> d'un </a:t>
                </a:r>
                <a:r>
                  <a:rPr lang="en-US" sz="1200" dirty="0" err="1">
                    <a:latin typeface="+mn-lt"/>
                    <a:ea typeface="Roboto"/>
                    <a:cs typeface="Roboto"/>
                  </a:rPr>
                  <a:t>ajustement</a:t>
                </a:r>
                <a:r>
                  <a:rPr lang="en-US" sz="1200" dirty="0">
                    <a:latin typeface="+mn-lt"/>
                    <a:ea typeface="Roboto"/>
                    <a:cs typeface="Roboto"/>
                  </a:rPr>
                  <a:t> </a:t>
                </a:r>
                <a:r>
                  <a:rPr lang="en-US" sz="1200" dirty="0" err="1">
                    <a:latin typeface="+mn-lt"/>
                    <a:ea typeface="Roboto"/>
                    <a:cs typeface="Roboto"/>
                  </a:rPr>
                  <a:t>continu</a:t>
                </a:r>
                <a:r>
                  <a:rPr lang="en-US" sz="1200" dirty="0">
                    <a:latin typeface="+mn-lt"/>
                    <a:ea typeface="Roboto"/>
                    <a:cs typeface="Roboto"/>
                  </a:rPr>
                  <a:t> des </a:t>
                </a:r>
                <a:r>
                  <a:rPr lang="en-US" sz="1200" dirty="0" err="1">
                    <a:latin typeface="+mn-lt"/>
                    <a:ea typeface="Roboto"/>
                    <a:cs typeface="Roboto"/>
                  </a:rPr>
                  <a:t>modèles</a:t>
                </a:r>
                <a:r>
                  <a:rPr lang="en-US" sz="1200" dirty="0">
                    <a:latin typeface="+mn-lt"/>
                    <a:ea typeface="Roboto"/>
                    <a:cs typeface="Roboto"/>
                  </a:rPr>
                  <a:t>.</a:t>
                </a:r>
              </a:p>
            </p:txBody>
          </p:sp>
        </p:grpSp>
        <p:sp>
          <p:nvSpPr>
            <p:cNvPr id="1063" name="Google Shape;1063;p27"/>
            <p:cNvSpPr/>
            <p:nvPr/>
          </p:nvSpPr>
          <p:spPr>
            <a:xfrm>
              <a:off x="2798500" y="3593825"/>
              <a:ext cx="519600" cy="519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1" dirty="0">
                <a:solidFill>
                  <a:schemeClr val="lt1"/>
                </a:solidFill>
                <a:latin typeface="Fira Sans Extra Condensed"/>
                <a:ea typeface="Fira Sans Extra Condensed"/>
                <a:cs typeface="Fira Sans Extra Condensed"/>
                <a:sym typeface="Fira Sans Extra Condensed"/>
              </a:endParaRPr>
            </a:p>
          </p:txBody>
        </p:sp>
      </p:grpSp>
      <p:grpSp>
        <p:nvGrpSpPr>
          <p:cNvPr id="1064" name="Google Shape;1064;p27"/>
          <p:cNvGrpSpPr/>
          <p:nvPr/>
        </p:nvGrpSpPr>
        <p:grpSpPr>
          <a:xfrm>
            <a:off x="5823562" y="735077"/>
            <a:ext cx="3623786" cy="840229"/>
            <a:chOff x="5825888" y="923762"/>
            <a:chExt cx="3623792" cy="840229"/>
          </a:xfrm>
        </p:grpSpPr>
        <p:grpSp>
          <p:nvGrpSpPr>
            <p:cNvPr id="1065" name="Google Shape;1065;p27"/>
            <p:cNvGrpSpPr/>
            <p:nvPr/>
          </p:nvGrpSpPr>
          <p:grpSpPr>
            <a:xfrm>
              <a:off x="6448561" y="959638"/>
              <a:ext cx="3001119" cy="804353"/>
              <a:chOff x="5796011" y="411346"/>
              <a:chExt cx="3001119" cy="804353"/>
            </a:xfrm>
          </p:grpSpPr>
          <p:sp>
            <p:nvSpPr>
              <p:cNvPr id="1066" name="Google Shape;1066;p27"/>
              <p:cNvSpPr txBox="1"/>
              <p:nvPr/>
            </p:nvSpPr>
            <p:spPr>
              <a:xfrm>
                <a:off x="5796011" y="411346"/>
                <a:ext cx="2697771" cy="331800"/>
              </a:xfrm>
              <a:prstGeom prst="rect">
                <a:avLst/>
              </a:prstGeom>
              <a:noFill/>
              <a:ln>
                <a:noFill/>
              </a:ln>
            </p:spPr>
            <p:txBody>
              <a:bodyPr spcFirstLastPara="1" wrap="square" lIns="91425" tIns="91425" rIns="91425" bIns="91425" anchor="ctr" anchorCtr="0">
                <a:noAutofit/>
              </a:bodyPr>
              <a:lstStyle/>
              <a:p>
                <a:r>
                  <a:rPr lang="en-US" sz="1600" b="1" dirty="0" err="1">
                    <a:latin typeface="Fira Sans Extra Condensed"/>
                  </a:rPr>
                  <a:t>Bénéfices</a:t>
                </a:r>
                <a:r>
                  <a:rPr lang="en-US" sz="1600" b="1" dirty="0">
                    <a:latin typeface="Fira Sans Extra Condensed"/>
                  </a:rPr>
                  <a:t> pour les </a:t>
                </a:r>
                <a:r>
                  <a:rPr lang="en-US" sz="1600" b="1" dirty="0" err="1">
                    <a:latin typeface="Fira Sans Extra Condensed"/>
                  </a:rPr>
                  <a:t>Recruteurs</a:t>
                </a:r>
                <a:endParaRPr lang="en-US" sz="1600" b="1" dirty="0">
                  <a:latin typeface="Fira Sans Extra Condensed"/>
                </a:endParaRPr>
              </a:p>
            </p:txBody>
          </p:sp>
          <p:sp>
            <p:nvSpPr>
              <p:cNvPr id="1067" name="Google Shape;1067;p27"/>
              <p:cNvSpPr txBox="1"/>
              <p:nvPr/>
            </p:nvSpPr>
            <p:spPr>
              <a:xfrm>
                <a:off x="6099359" y="883899"/>
                <a:ext cx="2697771" cy="331800"/>
              </a:xfrm>
              <a:prstGeom prst="rect">
                <a:avLst/>
              </a:prstGeom>
              <a:noFill/>
              <a:ln>
                <a:noFill/>
              </a:ln>
            </p:spPr>
            <p:txBody>
              <a:bodyPr spcFirstLastPara="1" wrap="square" lIns="91425" tIns="91425" rIns="91425" bIns="91425" anchor="ctr" anchorCtr="0">
                <a:noAutofit/>
              </a:bodyPr>
              <a:lstStyle/>
              <a:p>
                <a:r>
                  <a:rPr lang="en-US" sz="1200" dirty="0">
                    <a:latin typeface="+mn-lt"/>
                    <a:ea typeface="Roboto"/>
                    <a:cs typeface="Roboto"/>
                  </a:rPr>
                  <a:t>Gain de temps </a:t>
                </a:r>
                <a:r>
                  <a:rPr lang="en-US" sz="1200" dirty="0" err="1">
                    <a:latin typeface="+mn-lt"/>
                    <a:ea typeface="Roboto"/>
                    <a:cs typeface="Roboto"/>
                  </a:rPr>
                  <a:t>significatif</a:t>
                </a:r>
                <a:r>
                  <a:rPr lang="en-US" sz="1200" dirty="0">
                    <a:latin typeface="+mn-lt"/>
                    <a:ea typeface="Roboto"/>
                    <a:cs typeface="Roboto"/>
                  </a:rPr>
                  <a:t>, </a:t>
                </a:r>
                <a:r>
                  <a:rPr lang="en-US" sz="1200" dirty="0" err="1">
                    <a:latin typeface="+mn-lt"/>
                    <a:ea typeface="Roboto"/>
                    <a:cs typeface="Roboto"/>
                  </a:rPr>
                  <a:t>focalisation</a:t>
                </a:r>
                <a:r>
                  <a:rPr lang="en-US" sz="1200" dirty="0">
                    <a:latin typeface="+mn-lt"/>
                    <a:ea typeface="Roboto"/>
                    <a:cs typeface="Roboto"/>
                  </a:rPr>
                  <a:t> sur les </a:t>
                </a:r>
                <a:r>
                  <a:rPr lang="en-US" sz="1200" dirty="0" err="1">
                    <a:latin typeface="+mn-lt"/>
                    <a:ea typeface="Roboto"/>
                    <a:cs typeface="Roboto"/>
                  </a:rPr>
                  <a:t>entretiens</a:t>
                </a:r>
                <a:r>
                  <a:rPr lang="en-US" sz="1200" dirty="0">
                    <a:latin typeface="+mn-lt"/>
                    <a:ea typeface="Roboto"/>
                    <a:cs typeface="Roboto"/>
                  </a:rPr>
                  <a:t>, et identification de </a:t>
                </a:r>
                <a:r>
                  <a:rPr lang="en-US" sz="1200" dirty="0" err="1">
                    <a:latin typeface="+mn-lt"/>
                    <a:ea typeface="Roboto"/>
                    <a:cs typeface="Roboto"/>
                  </a:rPr>
                  <a:t>meilleurs</a:t>
                </a:r>
                <a:r>
                  <a:rPr lang="en-US" sz="1200" dirty="0">
                    <a:latin typeface="+mn-lt"/>
                    <a:ea typeface="Roboto"/>
                    <a:cs typeface="Roboto"/>
                  </a:rPr>
                  <a:t> talents</a:t>
                </a:r>
                <a:r>
                  <a:rPr lang="en-US" dirty="0">
                    <a:solidFill>
                      <a:srgbClr val="E5E0DF"/>
                    </a:solidFill>
                    <a:latin typeface="Roboto" pitchFamily="34" charset="0"/>
                    <a:ea typeface="Roboto" pitchFamily="34" charset="-122"/>
                    <a:cs typeface="Roboto" pitchFamily="34" charset="-120"/>
                  </a:rPr>
                  <a:t>.</a:t>
                </a:r>
                <a:endParaRPr lang="en-US" dirty="0"/>
              </a:p>
            </p:txBody>
          </p:sp>
        </p:grpSp>
        <p:sp>
          <p:nvSpPr>
            <p:cNvPr id="1068" name="Google Shape;1068;p27"/>
            <p:cNvSpPr/>
            <p:nvPr/>
          </p:nvSpPr>
          <p:spPr>
            <a:xfrm>
              <a:off x="5825888" y="923762"/>
              <a:ext cx="519600" cy="519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1" dirty="0">
                <a:solidFill>
                  <a:schemeClr val="lt1"/>
                </a:solidFill>
                <a:latin typeface="Fira Sans Extra Condensed"/>
                <a:ea typeface="Fira Sans Extra Condensed"/>
                <a:cs typeface="Fira Sans Extra Condensed"/>
                <a:sym typeface="Fira Sans Extra Condensed"/>
              </a:endParaRPr>
            </a:p>
          </p:txBody>
        </p:sp>
      </p:grpSp>
      <p:grpSp>
        <p:nvGrpSpPr>
          <p:cNvPr id="1074" name="Google Shape;1074;p27"/>
          <p:cNvGrpSpPr/>
          <p:nvPr/>
        </p:nvGrpSpPr>
        <p:grpSpPr>
          <a:xfrm>
            <a:off x="5823562" y="3424727"/>
            <a:ext cx="3411912" cy="982688"/>
            <a:chOff x="5825888" y="3593825"/>
            <a:chExt cx="3411912" cy="982688"/>
          </a:xfrm>
        </p:grpSpPr>
        <p:grpSp>
          <p:nvGrpSpPr>
            <p:cNvPr id="1075" name="Google Shape;1075;p27"/>
            <p:cNvGrpSpPr/>
            <p:nvPr/>
          </p:nvGrpSpPr>
          <p:grpSpPr>
            <a:xfrm>
              <a:off x="6441029" y="3593825"/>
              <a:ext cx="2796771" cy="982688"/>
              <a:chOff x="5788479" y="387925"/>
              <a:chExt cx="2796771" cy="982688"/>
            </a:xfrm>
          </p:grpSpPr>
          <p:sp>
            <p:nvSpPr>
              <p:cNvPr id="1076" name="Google Shape;1076;p27"/>
              <p:cNvSpPr txBox="1"/>
              <p:nvPr/>
            </p:nvSpPr>
            <p:spPr>
              <a:xfrm>
                <a:off x="5788479" y="387925"/>
                <a:ext cx="2259294" cy="331800"/>
              </a:xfrm>
              <a:prstGeom prst="rect">
                <a:avLst/>
              </a:prstGeom>
              <a:noFill/>
              <a:ln>
                <a:noFill/>
              </a:ln>
            </p:spPr>
            <p:txBody>
              <a:bodyPr spcFirstLastPara="1" wrap="square" lIns="91425" tIns="91425" rIns="91425" bIns="91425" anchor="ctr" anchorCtr="0">
                <a:noAutofit/>
              </a:bodyPr>
              <a:lstStyle/>
              <a:p>
                <a:pPr>
                  <a:lnSpc>
                    <a:spcPts val="2300"/>
                  </a:lnSpc>
                </a:pPr>
                <a:r>
                  <a:rPr lang="en-US" sz="1600" b="1" dirty="0">
                    <a:latin typeface="Fira Sans Extra Condensed"/>
                  </a:rPr>
                  <a:t>Perspectives Futures</a:t>
                </a:r>
              </a:p>
            </p:txBody>
          </p:sp>
          <p:sp>
            <p:nvSpPr>
              <p:cNvPr id="1077" name="Google Shape;1077;p27"/>
              <p:cNvSpPr txBox="1"/>
              <p:nvPr/>
            </p:nvSpPr>
            <p:spPr>
              <a:xfrm>
                <a:off x="6021152" y="1038813"/>
                <a:ext cx="2564098" cy="331800"/>
              </a:xfrm>
              <a:prstGeom prst="rect">
                <a:avLst/>
              </a:prstGeom>
              <a:noFill/>
              <a:ln>
                <a:noFill/>
              </a:ln>
            </p:spPr>
            <p:txBody>
              <a:bodyPr spcFirstLastPara="1" wrap="square" lIns="91425" tIns="91425" rIns="91425" bIns="91425" anchor="ctr" anchorCtr="0">
                <a:noAutofit/>
              </a:bodyPr>
              <a:lstStyle/>
              <a:p>
                <a:r>
                  <a:rPr lang="en-US" sz="1200" dirty="0" err="1">
                    <a:latin typeface="+mn-lt"/>
                    <a:ea typeface="Roboto"/>
                    <a:cs typeface="Roboto"/>
                  </a:rPr>
                  <a:t>Intégration</a:t>
                </a:r>
                <a:r>
                  <a:rPr lang="en-US" sz="1200" dirty="0">
                    <a:latin typeface="+mn-lt"/>
                    <a:ea typeface="Roboto"/>
                    <a:cs typeface="Roboto"/>
                  </a:rPr>
                  <a:t> de données </a:t>
                </a:r>
                <a:r>
                  <a:rPr lang="en-US" sz="1200" dirty="0" err="1">
                    <a:latin typeface="+mn-lt"/>
                    <a:ea typeface="Roboto"/>
                    <a:cs typeface="Roboto"/>
                  </a:rPr>
                  <a:t>comportementales</a:t>
                </a:r>
                <a:r>
                  <a:rPr lang="en-US" sz="1200" dirty="0">
                    <a:latin typeface="+mn-lt"/>
                    <a:ea typeface="Roboto"/>
                    <a:cs typeface="Roboto"/>
                  </a:rPr>
                  <a:t>, </a:t>
                </a:r>
                <a:r>
                  <a:rPr lang="en-US" sz="1200" dirty="0" err="1">
                    <a:latin typeface="+mn-lt"/>
                    <a:ea typeface="Roboto"/>
                    <a:cs typeface="Roboto"/>
                  </a:rPr>
                  <a:t>réduction</a:t>
                </a:r>
                <a:r>
                  <a:rPr lang="en-US" sz="1200" dirty="0">
                    <a:latin typeface="+mn-lt"/>
                    <a:ea typeface="Roboto"/>
                    <a:cs typeface="Roboto"/>
                  </a:rPr>
                  <a:t> proactive des </a:t>
                </a:r>
                <a:r>
                  <a:rPr lang="en-US" sz="1200" dirty="0" err="1">
                    <a:latin typeface="+mn-lt"/>
                    <a:ea typeface="Roboto"/>
                    <a:cs typeface="Roboto"/>
                  </a:rPr>
                  <a:t>biais</a:t>
                </a:r>
                <a:r>
                  <a:rPr lang="en-US" sz="1200" dirty="0">
                    <a:latin typeface="+mn-lt"/>
                    <a:ea typeface="Roboto"/>
                    <a:cs typeface="Roboto"/>
                  </a:rPr>
                  <a:t>, et </a:t>
                </a:r>
                <a:r>
                  <a:rPr lang="en-US" sz="1200" dirty="0" err="1">
                    <a:latin typeface="+mn-lt"/>
                    <a:ea typeface="Roboto"/>
                    <a:cs typeface="Roboto"/>
                  </a:rPr>
                  <a:t>déploiement</a:t>
                </a:r>
                <a:r>
                  <a:rPr lang="en-US" sz="1200" dirty="0">
                    <a:latin typeface="+mn-lt"/>
                    <a:ea typeface="Roboto"/>
                    <a:cs typeface="Roboto"/>
                  </a:rPr>
                  <a:t> à </a:t>
                </a:r>
                <a:r>
                  <a:rPr lang="en-US" sz="1200" dirty="0" err="1">
                    <a:latin typeface="+mn-lt"/>
                    <a:ea typeface="Roboto"/>
                    <a:cs typeface="Roboto"/>
                  </a:rPr>
                  <a:t>grande</a:t>
                </a:r>
                <a:r>
                  <a:rPr lang="en-US" sz="1200" dirty="0">
                    <a:latin typeface="+mn-lt"/>
                    <a:ea typeface="Roboto"/>
                    <a:cs typeface="Roboto"/>
                  </a:rPr>
                  <a:t> </a:t>
                </a:r>
                <a:r>
                  <a:rPr lang="en-US" sz="1200" dirty="0" err="1">
                    <a:latin typeface="+mn-lt"/>
                    <a:ea typeface="Roboto"/>
                    <a:cs typeface="Roboto"/>
                  </a:rPr>
                  <a:t>échelle</a:t>
                </a:r>
                <a:r>
                  <a:rPr lang="en-US" sz="1200" dirty="0">
                    <a:latin typeface="+mn-lt"/>
                    <a:ea typeface="Roboto"/>
                    <a:cs typeface="Roboto"/>
                  </a:rPr>
                  <a:t> pour un impact maximal.</a:t>
                </a:r>
              </a:p>
            </p:txBody>
          </p:sp>
        </p:grpSp>
        <p:sp>
          <p:nvSpPr>
            <p:cNvPr id="1078" name="Google Shape;1078;p27"/>
            <p:cNvSpPr/>
            <p:nvPr/>
          </p:nvSpPr>
          <p:spPr>
            <a:xfrm>
              <a:off x="5825888" y="3593825"/>
              <a:ext cx="519600" cy="519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1" dirty="0">
                <a:solidFill>
                  <a:schemeClr val="lt1"/>
                </a:solidFill>
                <a:latin typeface="Fira Sans Extra Condensed"/>
                <a:ea typeface="Fira Sans Extra Condensed"/>
                <a:cs typeface="Fira Sans Extra Condensed"/>
                <a:sym typeface="Fira Sans Extra Condensed"/>
              </a:endParaRPr>
            </a:p>
          </p:txBody>
        </p:sp>
      </p:grpSp>
      <p:sp>
        <p:nvSpPr>
          <p:cNvPr id="5" name="ZoneTexte 4">
            <a:extLst>
              <a:ext uri="{FF2B5EF4-FFF2-40B4-BE49-F238E27FC236}">
                <a16:creationId xmlns:a16="http://schemas.microsoft.com/office/drawing/2014/main" id="{B2A249B4-8C9D-86A7-4131-545C37D5019B}"/>
              </a:ext>
            </a:extLst>
          </p:cNvPr>
          <p:cNvSpPr txBox="1"/>
          <p:nvPr/>
        </p:nvSpPr>
        <p:spPr>
          <a:xfrm>
            <a:off x="691248" y="324794"/>
            <a:ext cx="8452752" cy="261610"/>
          </a:xfrm>
          <a:prstGeom prst="rect">
            <a:avLst/>
          </a:prstGeom>
          <a:noFill/>
        </p:spPr>
        <p:txBody>
          <a:bodyPr wrap="square">
            <a:spAutoFit/>
          </a:bodyPr>
          <a:lstStyle/>
          <a:p>
            <a:pPr marL="2540">
              <a:buSzPts val="1400"/>
            </a:pPr>
            <a:r>
              <a:rPr lang="en-US" sz="1100" dirty="0">
                <a:latin typeface="Roboto"/>
                <a:ea typeface="Roboto"/>
                <a:cs typeface="Roboto"/>
              </a:rPr>
              <a:t>Ce </a:t>
            </a:r>
            <a:r>
              <a:rPr lang="en-US" sz="1100" dirty="0" err="1">
                <a:latin typeface="Roboto"/>
                <a:ea typeface="Roboto"/>
                <a:cs typeface="Roboto"/>
              </a:rPr>
              <a:t>projet</a:t>
            </a:r>
            <a:r>
              <a:rPr lang="en-US" sz="1100" dirty="0">
                <a:latin typeface="Roboto"/>
                <a:ea typeface="Roboto"/>
                <a:cs typeface="Roboto"/>
              </a:rPr>
              <a:t> </a:t>
            </a:r>
            <a:r>
              <a:rPr lang="en-US" sz="1100" dirty="0" err="1">
                <a:latin typeface="Roboto"/>
                <a:ea typeface="Roboto"/>
                <a:cs typeface="Roboto"/>
              </a:rPr>
              <a:t>démontre</a:t>
            </a:r>
            <a:r>
              <a:rPr lang="en-US" sz="1100" dirty="0">
                <a:latin typeface="Roboto"/>
                <a:ea typeface="Roboto"/>
                <a:cs typeface="Roboto"/>
              </a:rPr>
              <a:t> le </a:t>
            </a:r>
            <a:r>
              <a:rPr lang="en-US" sz="1100" dirty="0" err="1">
                <a:latin typeface="Roboto"/>
                <a:ea typeface="Roboto"/>
                <a:cs typeface="Roboto"/>
              </a:rPr>
              <a:t>potentiel</a:t>
            </a:r>
            <a:r>
              <a:rPr lang="en-US" sz="1100" dirty="0">
                <a:latin typeface="Roboto"/>
                <a:ea typeface="Roboto"/>
                <a:cs typeface="Roboto"/>
              </a:rPr>
              <a:t> de </a:t>
            </a:r>
            <a:r>
              <a:rPr lang="en-US" sz="1100" dirty="0" err="1">
                <a:latin typeface="Roboto"/>
                <a:ea typeface="Roboto"/>
                <a:cs typeface="Roboto"/>
              </a:rPr>
              <a:t>l'IA</a:t>
            </a:r>
            <a:r>
              <a:rPr lang="en-US" sz="1100" dirty="0">
                <a:latin typeface="Roboto"/>
                <a:ea typeface="Roboto"/>
                <a:cs typeface="Roboto"/>
              </a:rPr>
              <a:t> pour transformer le </a:t>
            </a:r>
            <a:r>
              <a:rPr lang="en-US" sz="1100" dirty="0" err="1">
                <a:latin typeface="Roboto"/>
                <a:ea typeface="Roboto"/>
                <a:cs typeface="Roboto"/>
              </a:rPr>
              <a:t>recrutement</a:t>
            </a:r>
            <a:r>
              <a:rPr lang="en-US" sz="1100" dirty="0">
                <a:latin typeface="Roboto"/>
                <a:ea typeface="Roboto"/>
                <a:cs typeface="Roboto"/>
              </a:rPr>
              <a:t> </a:t>
            </a:r>
            <a:r>
              <a:rPr lang="en-US" sz="1100" dirty="0" err="1">
                <a:latin typeface="Roboto"/>
                <a:ea typeface="Roboto"/>
                <a:cs typeface="Roboto"/>
              </a:rPr>
              <a:t>en</a:t>
            </a:r>
            <a:r>
              <a:rPr lang="en-US" sz="1100" dirty="0">
                <a:latin typeface="Roboto"/>
                <a:ea typeface="Roboto"/>
                <a:cs typeface="Roboto"/>
              </a:rPr>
              <a:t> le </a:t>
            </a:r>
            <a:r>
              <a:rPr lang="en-US" sz="1100" dirty="0" err="1">
                <a:latin typeface="Roboto"/>
                <a:ea typeface="Roboto"/>
                <a:cs typeface="Roboto"/>
              </a:rPr>
              <a:t>rendant</a:t>
            </a:r>
            <a:r>
              <a:rPr lang="en-US" sz="1100" dirty="0">
                <a:latin typeface="Roboto"/>
                <a:ea typeface="Roboto"/>
                <a:cs typeface="Roboto"/>
              </a:rPr>
              <a:t> plus efficient, </a:t>
            </a:r>
            <a:r>
              <a:rPr lang="en-US" sz="1100" dirty="0" err="1">
                <a:latin typeface="Roboto"/>
                <a:ea typeface="Roboto"/>
                <a:cs typeface="Roboto"/>
              </a:rPr>
              <a:t>équitable</a:t>
            </a:r>
            <a:r>
              <a:rPr lang="en-US" sz="1100" dirty="0">
                <a:latin typeface="Roboto"/>
                <a:ea typeface="Roboto"/>
                <a:cs typeface="Roboto"/>
              </a:rPr>
              <a:t> et explicable.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5ECF4B-05EA-A2FE-16D1-8D6AEBF783D3}"/>
              </a:ext>
            </a:extLst>
          </p:cNvPr>
          <p:cNvSpPr>
            <a:spLocks noGrp="1"/>
          </p:cNvSpPr>
          <p:nvPr>
            <p:ph type="title"/>
          </p:nvPr>
        </p:nvSpPr>
        <p:spPr/>
        <p:txBody>
          <a:bodyPr>
            <a:normAutofit fontScale="90000"/>
          </a:bodyPr>
          <a:lstStyle/>
          <a:p>
            <a:endParaRPr lang="fr-FR"/>
          </a:p>
        </p:txBody>
      </p:sp>
      <p:pic>
        <p:nvPicPr>
          <p:cNvPr id="4" name="Image 3" descr="Une image contenant texte, capture d’écran, Police, logo&#10;&#10;Le contenu généré par l’IA peut être incorrect.">
            <a:extLst>
              <a:ext uri="{FF2B5EF4-FFF2-40B4-BE49-F238E27FC236}">
                <a16:creationId xmlns:a16="http://schemas.microsoft.com/office/drawing/2014/main" id="{5DCCC644-F32F-50D9-51A6-59566C4BB3D7}"/>
              </a:ext>
            </a:extLst>
          </p:cNvPr>
          <p:cNvPicPr>
            <a:picLocks noChangeAspect="1"/>
          </p:cNvPicPr>
          <p:nvPr/>
        </p:nvPicPr>
        <p:blipFill>
          <a:blip r:embed="rId2"/>
          <a:stretch>
            <a:fillRect/>
          </a:stretch>
        </p:blipFill>
        <p:spPr>
          <a:xfrm>
            <a:off x="0" y="1042"/>
            <a:ext cx="9144000" cy="5141415"/>
          </a:xfrm>
          <a:prstGeom prst="rect">
            <a:avLst/>
          </a:prstGeom>
        </p:spPr>
      </p:pic>
    </p:spTree>
    <p:extLst>
      <p:ext uri="{BB962C8B-B14F-4D97-AF65-F5344CB8AC3E}">
        <p14:creationId xmlns:p14="http://schemas.microsoft.com/office/powerpoint/2010/main" val="13349695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Machine Learning Infographics by Slidesgo">
  <a:themeElements>
    <a:clrScheme name="Simple Light">
      <a:dk1>
        <a:srgbClr val="000000"/>
      </a:dk1>
      <a:lt1>
        <a:srgbClr val="FFFFFF"/>
      </a:lt1>
      <a:dk2>
        <a:srgbClr val="666666"/>
      </a:dk2>
      <a:lt2>
        <a:srgbClr val="D9D9D9"/>
      </a:lt2>
      <a:accent1>
        <a:srgbClr val="E4EA27"/>
      </a:accent1>
      <a:accent2>
        <a:srgbClr val="26EAB8"/>
      </a:accent2>
      <a:accent3>
        <a:srgbClr val="2776EA"/>
      </a:accent3>
      <a:accent4>
        <a:srgbClr val="E99B27"/>
      </a:accent4>
      <a:accent5>
        <a:srgbClr val="EA4827"/>
      </a:accent5>
      <a:accent6>
        <a:srgbClr val="8027E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4862</TotalTime>
  <Words>1032</Words>
  <Application>Microsoft Office PowerPoint</Application>
  <PresentationFormat>Affichage à l'écran (16:9)</PresentationFormat>
  <Paragraphs>103</Paragraphs>
  <Slides>19</Slides>
  <Notes>16</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19</vt:i4>
      </vt:variant>
    </vt:vector>
  </HeadingPairs>
  <TitlesOfParts>
    <vt:vector size="29" baseType="lpstr">
      <vt:lpstr>Arial Black</vt:lpstr>
      <vt:lpstr>Tomorrow</vt:lpstr>
      <vt:lpstr>Tomorrow Semi Bold</vt:lpstr>
      <vt:lpstr>Palatino Linotype</vt:lpstr>
      <vt:lpstr>Fira Sans Extra Condensed</vt:lpstr>
      <vt:lpstr>Aptos</vt:lpstr>
      <vt:lpstr>Arial</vt:lpstr>
      <vt:lpstr>Fira Sans Extra Condensed SemiBold</vt:lpstr>
      <vt:lpstr>Roboto</vt:lpstr>
      <vt:lpstr>Machine Learning Infographics by Slidesgo</vt:lpstr>
      <vt:lpstr>Système Multi-Agents Intelligent pour la Sélection Automatisée des Candidats</vt:lpstr>
      <vt:lpstr>Contexte et Motivations : Les Défis du Recrutement Traditionnel</vt:lpstr>
      <vt:lpstr>Objectifs du Projet : Vers un Recrutement Équitable et Efficace</vt:lpstr>
      <vt:lpstr>Pourquoi l'Intelligence Artificielle ? Levier de Transformation</vt:lpstr>
      <vt:lpstr>Concepts Clés : Les Piliers de Notre Système</vt:lpstr>
      <vt:lpstr>Concept de Système Multi-Agents : La Collaboration au Cœur de la Décision</vt:lpstr>
      <vt:lpstr>Retrieval-Augmented Generation (RAG) : Fiabilité et Pertinence</vt:lpstr>
      <vt:lpstr>Explicabilité et Confiance : La Transparence au Service de l'IA</vt:lpstr>
      <vt:lpstr>Architecture Globale du Système : Du CV à la Décision Justifiée</vt:lpstr>
      <vt:lpstr>Données Utilisées et Prétraitement</vt:lpstr>
      <vt:lpstr>Analyse Exploratoire des Données (EDA)</vt:lpstr>
      <vt:lpstr>Démonstration du Système (Interface Streamlit)</vt:lpstr>
      <vt:lpstr>Démonstration du Système (Interface Streamlit)</vt:lpstr>
      <vt:lpstr>Présentation PowerPoint</vt:lpstr>
      <vt:lpstr>RÉSULTATS DE L’ÉVALUATION MULTI-AGENTS</vt:lpstr>
      <vt:lpstr>DÉCISION FINALE ET SORTIE DU SYSTÈME</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Chaima Al Ayachi</cp:lastModifiedBy>
  <cp:revision>8</cp:revision>
  <dcterms:modified xsi:type="dcterms:W3CDTF">2025-12-31T09:15:58Z</dcterms:modified>
</cp:coreProperties>
</file>